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15"/>
  </p:notesMasterIdLst>
  <p:handoutMasterIdLst>
    <p:handoutMasterId r:id="rId16"/>
  </p:handoutMasterIdLst>
  <p:sldIdLst>
    <p:sldId id="1003" r:id="rId2"/>
    <p:sldId id="973" r:id="rId3"/>
    <p:sldId id="1027" r:id="rId4"/>
    <p:sldId id="1028" r:id="rId5"/>
    <p:sldId id="1029" r:id="rId6"/>
    <p:sldId id="1030" r:id="rId7"/>
    <p:sldId id="1032" r:id="rId8"/>
    <p:sldId id="1034" r:id="rId9"/>
    <p:sldId id="1014" r:id="rId10"/>
    <p:sldId id="1007" r:id="rId11"/>
    <p:sldId id="1008" r:id="rId12"/>
    <p:sldId id="1009" r:id="rId13"/>
    <p:sldId id="986" r:id="rId1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BASE2" initials="A" lastIdx="3" clrIdx="0">
    <p:extLst>
      <p:ext uri="{19B8F6BF-5375-455C-9EA6-DF929625EA0E}">
        <p15:presenceInfo xmlns:p15="http://schemas.microsoft.com/office/powerpoint/2012/main" userId="ANABASE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8523"/>
    <a:srgbClr val="0056B8"/>
    <a:srgbClr val="004FEE"/>
    <a:srgbClr val="007EEE"/>
    <a:srgbClr val="00339A"/>
    <a:srgbClr val="005993"/>
    <a:srgbClr val="EFFBF7"/>
    <a:srgbClr val="F7E827"/>
    <a:srgbClr val="DACA00"/>
    <a:srgbClr val="FFB8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928" autoAdjust="0"/>
    <p:restoredTop sz="96405"/>
  </p:normalViewPr>
  <p:slideViewPr>
    <p:cSldViewPr snapToGrid="0">
      <p:cViewPr varScale="1">
        <p:scale>
          <a:sx n="114" d="100"/>
          <a:sy n="114" d="100"/>
        </p:scale>
        <p:origin x="176" y="18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4288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59" y="0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70608-D9FC-4272-B79F-3AF6A0C1771B}" type="datetimeFigureOut">
              <a:rPr lang="en-US" smtClean="0"/>
              <a:t>7/14/26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1059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59" y="8831059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0817E-F7CA-4563-93AB-05D24219BB6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8782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59" y="0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B25131-BAF0-4236-BB77-35884A65E791}" type="datetimeFigureOut">
              <a:rPr lang="en-US" smtClean="0"/>
              <a:t>7/14/26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713" y="4473512"/>
            <a:ext cx="5608975" cy="366028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059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483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anabeeb.com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17285" y="6510339"/>
            <a:ext cx="464457" cy="365125"/>
          </a:xfrm>
        </p:spPr>
        <p:txBody>
          <a:bodyPr/>
          <a:lstStyle/>
          <a:p>
            <a:fld id="{5037CCFB-8CBF-422D-97B2-3E4D2CDC6F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30A74903-5C17-7719-784F-594E48F9254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25220" y="1601606"/>
            <a:ext cx="11071222" cy="468638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  <a:p>
            <a:pPr lvl="0"/>
            <a:r>
              <a:rPr lang="en-US" dirty="0"/>
              <a:t>Arial – Size 12 –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CA0417-B1E1-85FD-3BAA-CAA455D9D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6B17CA-DF92-49D6-178E-79C7249A2D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8831" y="1144406"/>
            <a:ext cx="11152779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SUB</a:t>
            </a:r>
          </a:p>
        </p:txBody>
      </p:sp>
    </p:spTree>
    <p:extLst>
      <p:ext uri="{BB962C8B-B14F-4D97-AF65-F5344CB8AC3E}">
        <p14:creationId xmlns:p14="http://schemas.microsoft.com/office/powerpoint/2010/main" val="363870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17285" y="6510339"/>
            <a:ext cx="464457" cy="365125"/>
          </a:xfrm>
        </p:spPr>
        <p:txBody>
          <a:bodyPr/>
          <a:lstStyle/>
          <a:p>
            <a:fld id="{5037CCFB-8CBF-422D-97B2-3E4D2CDC6F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Placeholder 26">
            <a:extLst>
              <a:ext uri="{FF2B5EF4-FFF2-40B4-BE49-F238E27FC236}">
                <a16:creationId xmlns:a16="http://schemas.microsoft.com/office/drawing/2014/main" id="{EB5A2E97-6180-E210-B4F7-BA1799791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2834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17285" y="6510339"/>
            <a:ext cx="464457" cy="365125"/>
          </a:xfrm>
        </p:spPr>
        <p:txBody>
          <a:bodyPr/>
          <a:lstStyle/>
          <a:p>
            <a:fld id="{5037CCFB-8CBF-422D-97B2-3E4D2CDC6F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Placeholder 26">
            <a:extLst>
              <a:ext uri="{FF2B5EF4-FFF2-40B4-BE49-F238E27FC236}">
                <a16:creationId xmlns:a16="http://schemas.microsoft.com/office/drawing/2014/main" id="{EB5A2E97-6180-E210-B4F7-BA1799791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3B1D187B-F68C-DF18-FA58-9246A6F7B4B7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520861" y="1250067"/>
            <a:ext cx="11134844" cy="49192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77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17285" y="6510339"/>
            <a:ext cx="464457" cy="365125"/>
          </a:xfrm>
        </p:spPr>
        <p:txBody>
          <a:bodyPr/>
          <a:lstStyle/>
          <a:p>
            <a:fld id="{5037CCFB-8CBF-422D-97B2-3E4D2CDC6F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 hasCustomPrompt="1"/>
          </p:nvPr>
        </p:nvSpPr>
        <p:spPr>
          <a:xfrm>
            <a:off x="525220" y="1601606"/>
            <a:ext cx="3457136" cy="20716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  <a:p>
            <a:pPr lvl="0"/>
            <a:r>
              <a:rPr lang="en-US" dirty="0"/>
              <a:t>Arial – Size 12 – 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1488EA1-A95C-6644-B118-5BCD133E02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99963" y="1601319"/>
            <a:ext cx="3744811" cy="44212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 dirty="0"/>
              <a:t>Click the Icon to add Image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7E4F3B82-44E0-B847-8C1D-DFA4F8AF41B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278574" y="1598903"/>
            <a:ext cx="3744811" cy="44212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 dirty="0"/>
              <a:t>Click the Icon to add Image</a:t>
            </a:r>
          </a:p>
        </p:txBody>
      </p:sp>
      <p:sp>
        <p:nvSpPr>
          <p:cNvPr id="13" name="Title Placeholder 26">
            <a:extLst>
              <a:ext uri="{FF2B5EF4-FFF2-40B4-BE49-F238E27FC236}">
                <a16:creationId xmlns:a16="http://schemas.microsoft.com/office/drawing/2014/main" id="{6D36625A-709D-24F3-4FBA-7D569D6D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61DB9C3C-FB95-1064-3329-F4C62B9E5B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831" y="1144406"/>
            <a:ext cx="11152779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SUB</a:t>
            </a:r>
          </a:p>
        </p:txBody>
      </p:sp>
    </p:spTree>
    <p:extLst>
      <p:ext uri="{BB962C8B-B14F-4D97-AF65-F5344CB8AC3E}">
        <p14:creationId xmlns:p14="http://schemas.microsoft.com/office/powerpoint/2010/main" val="2055328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17285" y="6510339"/>
            <a:ext cx="464457" cy="365125"/>
          </a:xfrm>
        </p:spPr>
        <p:txBody>
          <a:bodyPr/>
          <a:lstStyle/>
          <a:p>
            <a:fld id="{5037CCFB-8CBF-422D-97B2-3E4D2CDC6F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1488EA1-A95C-6644-B118-5BCD133E02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2966" y="3393272"/>
            <a:ext cx="2766476" cy="22460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 dirty="0"/>
              <a:t>Click the Icon to add Image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7E4F3B82-44E0-B847-8C1D-DFA4F8AF41B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417887" y="3390856"/>
            <a:ext cx="2766476" cy="22460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 dirty="0"/>
              <a:t>Click the Icon to add Image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3A2AA1D-9494-C046-BF2D-DBFBB54672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22808" y="3413526"/>
            <a:ext cx="2766476" cy="22460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 dirty="0"/>
              <a:t>Click the Icon to add Image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C0427E1C-2052-4E4A-847B-16FCA2DAB5B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227729" y="3390856"/>
            <a:ext cx="2766476" cy="22460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 dirty="0"/>
              <a:t>Click the Icon to add Image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AC7F21DA-D2B8-F2AF-3635-0158DE81DAB4}"/>
              </a:ext>
            </a:extLst>
          </p:cNvPr>
          <p:cNvSpPr txBox="1">
            <a:spLocks/>
          </p:cNvSpPr>
          <p:nvPr userDrawn="1"/>
        </p:nvSpPr>
        <p:spPr>
          <a:xfrm>
            <a:off x="560391" y="1162215"/>
            <a:ext cx="9144000" cy="32582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4" name="Title Placeholder 26">
            <a:extLst>
              <a:ext uri="{FF2B5EF4-FFF2-40B4-BE49-F238E27FC236}">
                <a16:creationId xmlns:a16="http://schemas.microsoft.com/office/drawing/2014/main" id="{5DCE1F4B-6D9E-33F7-6D44-7BE0D2EF6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9712C6C7-8461-C4A5-8BC1-04BCE660FB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8831" y="1144406"/>
            <a:ext cx="11152779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SUB</a:t>
            </a:r>
          </a:p>
        </p:txBody>
      </p:sp>
    </p:spTree>
    <p:extLst>
      <p:ext uri="{BB962C8B-B14F-4D97-AF65-F5344CB8AC3E}">
        <p14:creationId xmlns:p14="http://schemas.microsoft.com/office/powerpoint/2010/main" val="2202825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2D6148-42E8-A04A-ABF9-06CCA2B1B683}"/>
              </a:ext>
            </a:extLst>
          </p:cNvPr>
          <p:cNvSpPr/>
          <p:nvPr userDrawn="1"/>
        </p:nvSpPr>
        <p:spPr>
          <a:xfrm>
            <a:off x="0" y="0"/>
            <a:ext cx="12293600" cy="6949440"/>
          </a:xfrm>
          <a:prstGeom prst="rect">
            <a:avLst/>
          </a:prstGeom>
          <a:gradFill>
            <a:gsLst>
              <a:gs pos="0">
                <a:srgbClr val="007EEE"/>
              </a:gs>
              <a:gs pos="23000">
                <a:srgbClr val="0056B8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3C08157-3290-014B-A0DE-DB18D8E8C9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391" y="2370140"/>
            <a:ext cx="9144000" cy="39715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000">
                <a:solidFill>
                  <a:srgbClr val="F28523"/>
                </a:solidFill>
              </a:defRPr>
            </a:lvl1pPr>
          </a:lstStyle>
          <a:p>
            <a:r>
              <a:rPr lang="en-US" dirty="0"/>
              <a:t>SLIDE DIVIDER TITLE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B5E5D5-9D41-3648-893F-4D30495E69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387" y="2695575"/>
            <a:ext cx="9144000" cy="33639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DESCRIPTION TEXT</a:t>
            </a:r>
          </a:p>
        </p:txBody>
      </p:sp>
    </p:spTree>
    <p:extLst>
      <p:ext uri="{BB962C8B-B14F-4D97-AF65-F5344CB8AC3E}">
        <p14:creationId xmlns:p14="http://schemas.microsoft.com/office/powerpoint/2010/main" val="169885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17285" y="6510339"/>
            <a:ext cx="464457" cy="365125"/>
          </a:xfrm>
          <a:prstGeom prst="rect">
            <a:avLst/>
          </a:prstGeom>
        </p:spPr>
        <p:txBody>
          <a:bodyPr/>
          <a:lstStyle/>
          <a:p>
            <a:fld id="{5037CCFB-8CBF-422D-97B2-3E4D2CDC6F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Placeholder 26">
            <a:extLst>
              <a:ext uri="{FF2B5EF4-FFF2-40B4-BE49-F238E27FC236}">
                <a16:creationId xmlns:a16="http://schemas.microsoft.com/office/drawing/2014/main" id="{98AE9043-443C-063D-A3E6-61CE09A98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9" name="Group 15">
            <a:extLst>
              <a:ext uri="{FF2B5EF4-FFF2-40B4-BE49-F238E27FC236}">
                <a16:creationId xmlns:a16="http://schemas.microsoft.com/office/drawing/2014/main" id="{4BA6E20B-AA01-AC1F-1731-B58F84184320}"/>
              </a:ext>
            </a:extLst>
          </p:cNvPr>
          <p:cNvGrpSpPr/>
          <p:nvPr/>
        </p:nvGrpSpPr>
        <p:grpSpPr>
          <a:xfrm rot="18900000">
            <a:off x="2261211" y="2484169"/>
            <a:ext cx="1442668" cy="1788135"/>
            <a:chOff x="4800600" y="1504950"/>
            <a:chExt cx="1371600" cy="1700048"/>
          </a:xfrm>
          <a:solidFill>
            <a:srgbClr val="F28523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6692E6F-9DBA-5F1E-4762-03B078CBFCEC}"/>
                </a:ext>
              </a:extLst>
            </p:cNvPr>
            <p:cNvSpPr/>
            <p:nvPr/>
          </p:nvSpPr>
          <p:spPr bwMode="auto">
            <a:xfrm>
              <a:off x="4800600" y="1504950"/>
              <a:ext cx="1371600" cy="1371600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Isosceles Triangle 62">
              <a:extLst>
                <a:ext uri="{FF2B5EF4-FFF2-40B4-BE49-F238E27FC236}">
                  <a16:creationId xmlns:a16="http://schemas.microsoft.com/office/drawing/2014/main" id="{D9522A27-1739-5AE1-3A92-2F1848449B4B}"/>
                </a:ext>
              </a:extLst>
            </p:cNvPr>
            <p:cNvSpPr/>
            <p:nvPr/>
          </p:nvSpPr>
          <p:spPr bwMode="auto">
            <a:xfrm rot="10800000">
              <a:off x="5295900" y="2876550"/>
              <a:ext cx="381000" cy="328448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24" name="Group 16">
            <a:extLst>
              <a:ext uri="{FF2B5EF4-FFF2-40B4-BE49-F238E27FC236}">
                <a16:creationId xmlns:a16="http://schemas.microsoft.com/office/drawing/2014/main" id="{A7090894-D7B1-DC4E-2B2E-2BC589C2E356}"/>
              </a:ext>
            </a:extLst>
          </p:cNvPr>
          <p:cNvGrpSpPr/>
          <p:nvPr/>
        </p:nvGrpSpPr>
        <p:grpSpPr>
          <a:xfrm rot="13500000">
            <a:off x="3281334" y="3260008"/>
            <a:ext cx="1442668" cy="1788135"/>
            <a:chOff x="4800600" y="1504950"/>
            <a:chExt cx="1371600" cy="1700048"/>
          </a:xfrm>
          <a:solidFill>
            <a:srgbClr val="0056B8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F5A0EF2-7F17-AEC8-8314-01833D633983}"/>
                </a:ext>
              </a:extLst>
            </p:cNvPr>
            <p:cNvSpPr/>
            <p:nvPr/>
          </p:nvSpPr>
          <p:spPr bwMode="auto">
            <a:xfrm>
              <a:off x="4800600" y="1504950"/>
              <a:ext cx="1371600" cy="1371600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Isosceles Triangle 53">
              <a:extLst>
                <a:ext uri="{FF2B5EF4-FFF2-40B4-BE49-F238E27FC236}">
                  <a16:creationId xmlns:a16="http://schemas.microsoft.com/office/drawing/2014/main" id="{C72898C1-52AC-2511-2374-FFE8A676FA4F}"/>
                </a:ext>
              </a:extLst>
            </p:cNvPr>
            <p:cNvSpPr/>
            <p:nvPr/>
          </p:nvSpPr>
          <p:spPr bwMode="auto">
            <a:xfrm rot="10800000">
              <a:off x="5295900" y="2876550"/>
              <a:ext cx="381000" cy="328448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19">
            <a:extLst>
              <a:ext uri="{FF2B5EF4-FFF2-40B4-BE49-F238E27FC236}">
                <a16:creationId xmlns:a16="http://schemas.microsoft.com/office/drawing/2014/main" id="{A9CD3496-9724-D6AD-F27C-C17A47DC9052}"/>
              </a:ext>
            </a:extLst>
          </p:cNvPr>
          <p:cNvGrpSpPr/>
          <p:nvPr/>
        </p:nvGrpSpPr>
        <p:grpSpPr>
          <a:xfrm rot="18900000">
            <a:off x="4301453" y="2484166"/>
            <a:ext cx="1442668" cy="1788136"/>
            <a:chOff x="4800601" y="1504949"/>
            <a:chExt cx="1371600" cy="1700049"/>
          </a:xfrm>
          <a:solidFill>
            <a:srgbClr val="F28523"/>
          </a:solidFill>
        </p:grpSpPr>
        <p:sp>
          <p:nvSpPr>
            <p:cNvPr id="31" name="Isosceles Triangle 50">
              <a:extLst>
                <a:ext uri="{FF2B5EF4-FFF2-40B4-BE49-F238E27FC236}">
                  <a16:creationId xmlns:a16="http://schemas.microsoft.com/office/drawing/2014/main" id="{67F54F60-1818-2E32-582E-4A67513B68BD}"/>
                </a:ext>
              </a:extLst>
            </p:cNvPr>
            <p:cNvSpPr/>
            <p:nvPr/>
          </p:nvSpPr>
          <p:spPr bwMode="auto">
            <a:xfrm rot="10800000">
              <a:off x="5295900" y="2876550"/>
              <a:ext cx="381000" cy="328448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E762AF8-FBED-7BE3-1121-64FC38A37DCE}"/>
                </a:ext>
              </a:extLst>
            </p:cNvPr>
            <p:cNvSpPr/>
            <p:nvPr/>
          </p:nvSpPr>
          <p:spPr bwMode="auto">
            <a:xfrm>
              <a:off x="4800601" y="1504949"/>
              <a:ext cx="1371600" cy="1371600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4" name="Group 22">
            <a:extLst>
              <a:ext uri="{FF2B5EF4-FFF2-40B4-BE49-F238E27FC236}">
                <a16:creationId xmlns:a16="http://schemas.microsoft.com/office/drawing/2014/main" id="{F232C0B8-5E94-B057-9A2A-895C68904CCB}"/>
              </a:ext>
            </a:extLst>
          </p:cNvPr>
          <p:cNvGrpSpPr/>
          <p:nvPr/>
        </p:nvGrpSpPr>
        <p:grpSpPr>
          <a:xfrm rot="13500000">
            <a:off x="5321572" y="3260008"/>
            <a:ext cx="1442668" cy="1788135"/>
            <a:chOff x="4800600" y="1504950"/>
            <a:chExt cx="1371600" cy="1700048"/>
          </a:xfrm>
          <a:solidFill>
            <a:srgbClr val="0056B8"/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7F4557C-DA58-313A-C243-7B9D140C395E}"/>
                </a:ext>
              </a:extLst>
            </p:cNvPr>
            <p:cNvSpPr/>
            <p:nvPr/>
          </p:nvSpPr>
          <p:spPr bwMode="auto">
            <a:xfrm>
              <a:off x="4800600" y="1504950"/>
              <a:ext cx="1371600" cy="1371600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37" name="Isosceles Triangle 47">
              <a:extLst>
                <a:ext uri="{FF2B5EF4-FFF2-40B4-BE49-F238E27FC236}">
                  <a16:creationId xmlns:a16="http://schemas.microsoft.com/office/drawing/2014/main" id="{3538C2AE-338B-15BE-1F48-2F6C49A44DE6}"/>
                </a:ext>
              </a:extLst>
            </p:cNvPr>
            <p:cNvSpPr/>
            <p:nvPr/>
          </p:nvSpPr>
          <p:spPr bwMode="auto">
            <a:xfrm rot="10800000">
              <a:off x="5295900" y="2876550"/>
              <a:ext cx="381000" cy="328448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9" name="Group 25">
            <a:extLst>
              <a:ext uri="{FF2B5EF4-FFF2-40B4-BE49-F238E27FC236}">
                <a16:creationId xmlns:a16="http://schemas.microsoft.com/office/drawing/2014/main" id="{A8E1737F-9CF4-35F8-CBDB-5F8FDE10A7EC}"/>
              </a:ext>
            </a:extLst>
          </p:cNvPr>
          <p:cNvGrpSpPr/>
          <p:nvPr/>
        </p:nvGrpSpPr>
        <p:grpSpPr>
          <a:xfrm rot="18900000">
            <a:off x="6341692" y="2484169"/>
            <a:ext cx="1442668" cy="1788135"/>
            <a:chOff x="4800600" y="1504950"/>
            <a:chExt cx="1371600" cy="1700048"/>
          </a:xfrm>
          <a:solidFill>
            <a:srgbClr val="F28523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63979E6-4BE8-EA00-68F2-06F818D58B46}"/>
                </a:ext>
              </a:extLst>
            </p:cNvPr>
            <p:cNvSpPr/>
            <p:nvPr/>
          </p:nvSpPr>
          <p:spPr bwMode="auto">
            <a:xfrm>
              <a:off x="4800600" y="1504950"/>
              <a:ext cx="1371600" cy="1371600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42" name="Isosceles Triangle 44">
              <a:extLst>
                <a:ext uri="{FF2B5EF4-FFF2-40B4-BE49-F238E27FC236}">
                  <a16:creationId xmlns:a16="http://schemas.microsoft.com/office/drawing/2014/main" id="{4AD6BBD8-8254-9B35-C57E-8D717DC2ABD6}"/>
                </a:ext>
              </a:extLst>
            </p:cNvPr>
            <p:cNvSpPr/>
            <p:nvPr/>
          </p:nvSpPr>
          <p:spPr bwMode="auto">
            <a:xfrm rot="10800000">
              <a:off x="5295900" y="2876550"/>
              <a:ext cx="381000" cy="328448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A7F8ABB-F3BF-7294-BCB8-0AAEF19861BD}"/>
              </a:ext>
            </a:extLst>
          </p:cNvPr>
          <p:cNvGrpSpPr/>
          <p:nvPr/>
        </p:nvGrpSpPr>
        <p:grpSpPr>
          <a:xfrm>
            <a:off x="7050488" y="1200546"/>
            <a:ext cx="3273583" cy="3340279"/>
            <a:chOff x="5144977" y="929194"/>
            <a:chExt cx="2475022" cy="2525446"/>
          </a:xfrm>
          <a:solidFill>
            <a:srgbClr val="0056B8"/>
          </a:solidFill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ED582A6-CC9C-BEDE-0F9C-A15EC6542056}"/>
                </a:ext>
              </a:extLst>
            </p:cNvPr>
            <p:cNvSpPr/>
            <p:nvPr/>
          </p:nvSpPr>
          <p:spPr bwMode="auto">
            <a:xfrm rot="13500000">
              <a:off x="5633321" y="1875554"/>
              <a:ext cx="1090742" cy="2067430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49" name="Isosceles Triangle 41">
              <a:extLst>
                <a:ext uri="{FF2B5EF4-FFF2-40B4-BE49-F238E27FC236}">
                  <a16:creationId xmlns:a16="http://schemas.microsoft.com/office/drawing/2014/main" id="{15C70C55-2B4E-7B7A-2D67-20DB7E096675}"/>
                </a:ext>
              </a:extLst>
            </p:cNvPr>
            <p:cNvSpPr/>
            <p:nvPr/>
          </p:nvSpPr>
          <p:spPr bwMode="auto">
            <a:xfrm rot="2700000">
              <a:off x="6247517" y="1454261"/>
              <a:ext cx="1897550" cy="847415"/>
            </a:xfrm>
            <a:prstGeom prst="triangle">
              <a:avLst>
                <a:gd name="adj" fmla="val 47444"/>
              </a:avLst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3FBD24A5-D3AC-65EC-0FE3-8B53D97671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88650" y="3040193"/>
            <a:ext cx="360090" cy="4318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55" name="Text Placeholder 53">
            <a:extLst>
              <a:ext uri="{FF2B5EF4-FFF2-40B4-BE49-F238E27FC236}">
                <a16:creationId xmlns:a16="http://schemas.microsoft.com/office/drawing/2014/main" id="{0A6F56E8-6CA4-F5B9-D34C-B4173EC7CC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3260" y="4060317"/>
            <a:ext cx="360090" cy="4318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6" name="Text Placeholder 53">
            <a:extLst>
              <a:ext uri="{FF2B5EF4-FFF2-40B4-BE49-F238E27FC236}">
                <a16:creationId xmlns:a16="http://schemas.microsoft.com/office/drawing/2014/main" id="{C227323E-EFE8-C86F-45C8-3882F0D1CA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60519" y="3040193"/>
            <a:ext cx="360090" cy="4318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7" name="Text Placeholder 53">
            <a:extLst>
              <a:ext uri="{FF2B5EF4-FFF2-40B4-BE49-F238E27FC236}">
                <a16:creationId xmlns:a16="http://schemas.microsoft.com/office/drawing/2014/main" id="{AB33703D-2820-AA85-D38C-E7C7965D21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55129" y="4060317"/>
            <a:ext cx="360090" cy="4318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8" name="Text Placeholder 53">
            <a:extLst>
              <a:ext uri="{FF2B5EF4-FFF2-40B4-BE49-F238E27FC236}">
                <a16:creationId xmlns:a16="http://schemas.microsoft.com/office/drawing/2014/main" id="{D4BF0C42-0962-18D7-79C1-2A230D4D54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0813" y="3040193"/>
            <a:ext cx="360090" cy="4318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9" name="Text Placeholder 53">
            <a:extLst>
              <a:ext uri="{FF2B5EF4-FFF2-40B4-BE49-F238E27FC236}">
                <a16:creationId xmlns:a16="http://schemas.microsoft.com/office/drawing/2014/main" id="{2CB1EDB3-6F32-A71F-BC7C-B9C8780C7A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5423" y="4060317"/>
            <a:ext cx="360090" cy="4318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4D4E548C-BABE-4198-5AA0-7DACACE93F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49313" y="1459558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3" name="Text Placeholder 60">
            <a:extLst>
              <a:ext uri="{FF2B5EF4-FFF2-40B4-BE49-F238E27FC236}">
                <a16:creationId xmlns:a16="http://schemas.microsoft.com/office/drawing/2014/main" id="{37ACA4B4-89F2-2607-09DE-50B5168BC2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49313" y="1810655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2AB9F40D-CD2A-1276-EA94-4A372811D1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6458" y="1459558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5" name="Text Placeholder 60">
            <a:extLst>
              <a:ext uri="{FF2B5EF4-FFF2-40B4-BE49-F238E27FC236}">
                <a16:creationId xmlns:a16="http://schemas.microsoft.com/office/drawing/2014/main" id="{C0EC0157-4EF4-3F6C-C370-704141B9A2D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86458" y="1810655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D1A5B84F-87E8-C16B-18EE-2FA03AF277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12028" y="1459558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60">
            <a:extLst>
              <a:ext uri="{FF2B5EF4-FFF2-40B4-BE49-F238E27FC236}">
                <a16:creationId xmlns:a16="http://schemas.microsoft.com/office/drawing/2014/main" id="{A136323B-4A9C-D7E1-1184-8511B63E25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12028" y="1810655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420F8C5A-8E72-C305-B719-03BAAB22DF1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53080" y="5406525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9" name="Text Placeholder 60">
            <a:extLst>
              <a:ext uri="{FF2B5EF4-FFF2-40B4-BE49-F238E27FC236}">
                <a16:creationId xmlns:a16="http://schemas.microsoft.com/office/drawing/2014/main" id="{56492350-B0A1-35C6-F320-8A8B919BD97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53080" y="5757622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B0A3670B-EA54-14CA-D35B-69A22FCF88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90225" y="5406525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1" name="Text Placeholder 60">
            <a:extLst>
              <a:ext uri="{FF2B5EF4-FFF2-40B4-BE49-F238E27FC236}">
                <a16:creationId xmlns:a16="http://schemas.microsoft.com/office/drawing/2014/main" id="{FE113F80-3B82-C561-BC57-CABCE4E295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90225" y="5757622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72" name="Text Placeholder 60">
            <a:extLst>
              <a:ext uri="{FF2B5EF4-FFF2-40B4-BE49-F238E27FC236}">
                <a16:creationId xmlns:a16="http://schemas.microsoft.com/office/drawing/2014/main" id="{EE475CDA-4A8B-E797-F6F4-001A4A7A082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15795" y="5406525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3" name="Text Placeholder 60">
            <a:extLst>
              <a:ext uri="{FF2B5EF4-FFF2-40B4-BE49-F238E27FC236}">
                <a16:creationId xmlns:a16="http://schemas.microsoft.com/office/drawing/2014/main" id="{40A9B852-784F-EE1A-7DB9-B683A55BF8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15795" y="5757622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en-US" dirty="0"/>
              <a:t>Description Here</a:t>
            </a:r>
          </a:p>
        </p:txBody>
      </p:sp>
    </p:spTree>
    <p:extLst>
      <p:ext uri="{BB962C8B-B14F-4D97-AF65-F5344CB8AC3E}">
        <p14:creationId xmlns:p14="http://schemas.microsoft.com/office/powerpoint/2010/main" val="215275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4583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943CA4-1DCB-8430-AE76-6918F16D81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244" b="18214"/>
          <a:stretch/>
        </p:blipFill>
        <p:spPr>
          <a:xfrm>
            <a:off x="4029260" y="1007256"/>
            <a:ext cx="4133479" cy="40654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D5118FF-2F71-0B33-A8D7-7DE16C6732CE}"/>
              </a:ext>
            </a:extLst>
          </p:cNvPr>
          <p:cNvSpPr/>
          <p:nvPr userDrawn="1"/>
        </p:nvSpPr>
        <p:spPr>
          <a:xfrm>
            <a:off x="0" y="5542723"/>
            <a:ext cx="12758057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673100" indent="-914400" algn="ctr" defTabSz="457200">
              <a:defRPr sz="1800" b="1">
                <a:solidFill>
                  <a:srgbClr val="1270B8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lang="de-DE" sz="1400" b="1" dirty="0">
                <a:solidFill>
                  <a:srgbClr val="1270B8"/>
                </a:solidFill>
                <a:latin typeface="Arial"/>
                <a:cs typeface="Arial"/>
                <a:sym typeface="Arial"/>
              </a:rPr>
              <a:t>Arabian Pipeline &amp; Services Co. Ltd. </a:t>
            </a:r>
            <a:r>
              <a:rPr lang="de-DE" sz="1400" b="1" dirty="0">
                <a:solidFill>
                  <a:srgbClr val="F28523"/>
                </a:solidFill>
                <a:latin typeface="Arial"/>
                <a:cs typeface="Arial"/>
                <a:sym typeface="Arial"/>
              </a:rPr>
              <a:t>(ANABEEB)</a:t>
            </a:r>
          </a:p>
          <a:p>
            <a:pPr marR="673100" indent="-914400" algn="ctr" defTabSz="457200">
              <a:defRPr sz="1800" b="1">
                <a:solidFill>
                  <a:srgbClr val="1270B8"/>
                </a:solidFill>
                <a:latin typeface="+mj-lt"/>
                <a:ea typeface="+mj-ea"/>
                <a:cs typeface="+mj-cs"/>
                <a:sym typeface="Arial"/>
              </a:defRPr>
            </a:pPr>
            <a:endParaRPr lang="de-DE" sz="1200" b="1" dirty="0">
              <a:solidFill>
                <a:srgbClr val="1270B8"/>
              </a:solidFill>
              <a:latin typeface="Arial"/>
              <a:cs typeface="Arial"/>
              <a:sym typeface="Arial"/>
            </a:endParaRPr>
          </a:p>
          <a:p>
            <a:pPr marR="673100" indent="-914400" algn="ctr" defTabSz="457200">
              <a:defRPr sz="1300">
                <a:solidFill>
                  <a:srgbClr val="929292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lang="de-DE" dirty="0">
                <a:solidFill>
                  <a:srgbClr val="929292"/>
                </a:solidFill>
                <a:latin typeface="Arial"/>
                <a:cs typeface="Arial"/>
                <a:sym typeface="Arial"/>
              </a:rPr>
              <a:t>P.O. Box 234 Al Jubail      |     Tel:  +966 13 362 0556 	|    Fax: +966 13 361 4990    |     Email: </a:t>
            </a:r>
            <a:r>
              <a:rPr lang="de-DE" dirty="0">
                <a:solidFill>
                  <a:srgbClr val="929292"/>
                </a:solidFill>
                <a:latin typeface="Arial"/>
                <a:cs typeface="Arial"/>
                <a:sym typeface="Arial"/>
                <a:hlinkClick r:id="rId3"/>
              </a:rPr>
              <a:t>info@anabeeb.com</a:t>
            </a:r>
            <a:r>
              <a:rPr lang="de-DE" dirty="0">
                <a:solidFill>
                  <a:srgbClr val="929292"/>
                </a:solidFill>
                <a:latin typeface="Arial"/>
                <a:cs typeface="Arial"/>
                <a:sym typeface="Arial"/>
              </a:rPr>
              <a:t>	|    Website: www.anabeeb.com</a:t>
            </a:r>
            <a:endParaRPr lang="de-DE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1273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17285" y="6510339"/>
            <a:ext cx="464457" cy="365125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fld id="{5037CCFB-8CBF-422D-97B2-3E4D2CDC6F7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25863" y="108772"/>
            <a:ext cx="820017" cy="820017"/>
          </a:xfrm>
          <a:prstGeom prst="rect">
            <a:avLst/>
          </a:prstGeom>
        </p:spPr>
      </p:pic>
      <p:sp>
        <p:nvSpPr>
          <p:cNvPr id="27" name="Title Placeholder 26">
            <a:extLst>
              <a:ext uri="{FF2B5EF4-FFF2-40B4-BE49-F238E27FC236}">
                <a16:creationId xmlns:a16="http://schemas.microsoft.com/office/drawing/2014/main" id="{8200032C-7E8B-0AB5-A949-CF2BE339C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6777BA-ED8E-7B0D-E313-DA672AFCD8B4}"/>
              </a:ext>
            </a:extLst>
          </p:cNvPr>
          <p:cNvSpPr txBox="1"/>
          <p:nvPr userDrawn="1"/>
        </p:nvSpPr>
        <p:spPr>
          <a:xfrm>
            <a:off x="8865309" y="6082899"/>
            <a:ext cx="3013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b="1" dirty="0">
                <a:solidFill>
                  <a:srgbClr val="0056B8"/>
                </a:solidFill>
                <a:latin typeface="Arial"/>
                <a:cs typeface="Arial"/>
                <a:sym typeface="Arial"/>
              </a:rPr>
              <a:t>END-TO-END SOLUTIONS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4F9FC9-64D9-0F04-E021-21F7D2B40B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77" b="-130026"/>
          <a:stretch/>
        </p:blipFill>
        <p:spPr>
          <a:xfrm>
            <a:off x="483691" y="6220378"/>
            <a:ext cx="8292916" cy="26512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C115D1A-933E-CE7C-E81D-D8678D60E0D9}"/>
              </a:ext>
            </a:extLst>
          </p:cNvPr>
          <p:cNvSpPr/>
          <p:nvPr userDrawn="1"/>
        </p:nvSpPr>
        <p:spPr>
          <a:xfrm>
            <a:off x="519763" y="956970"/>
            <a:ext cx="11165116" cy="74080"/>
          </a:xfrm>
          <a:prstGeom prst="rect">
            <a:avLst/>
          </a:prstGeom>
          <a:solidFill>
            <a:srgbClr val="F285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15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98" r:id="rId2"/>
    <p:sldLayoutId id="2147483713" r:id="rId3"/>
    <p:sldLayoutId id="2147483706" r:id="rId4"/>
    <p:sldLayoutId id="2147483707" r:id="rId5"/>
    <p:sldLayoutId id="2147483712" r:id="rId6"/>
    <p:sldLayoutId id="2147483704" r:id="rId7"/>
    <p:sldLayoutId id="2147483708" r:id="rId8"/>
    <p:sldLayoutId id="2147483711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56B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1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info@anabeeb.com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Dark Overlay"/>
          <p:cNvSpPr/>
          <p:nvPr/>
        </p:nvSpPr>
        <p:spPr>
          <a:xfrm>
            <a:off x="0" y="0"/>
            <a:ext cx="6604000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08000" y="1651000"/>
            <a:ext cx="5969000" cy="6985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High Pressure Water Jetting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8000" y="2349500"/>
            <a:ext cx="5969000" cy="4445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</a:rPr>
              <a:t>Basic Operator Training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8000" y="2794000"/>
            <a:ext cx="5969000" cy="381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</a:rPr>
              <a:t>(Awareness &amp; Field Verification)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8000" y="3302000"/>
            <a:ext cx="5969000" cy="508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400" dirty="0">
                <a:solidFill>
                  <a:srgbClr val="FFFFFF"/>
                </a:solidFill>
              </a:rPr>
              <a:t>Day 1 – Safety Foundation, Hazards, Medical Response &amp; Controls</a:t>
            </a:r>
          </a:p>
        </p:txBody>
      </p:sp>
      <p:pic>
        <p:nvPicPr>
          <p:cNvPr id="6" name="Imagin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5900" y="88900"/>
            <a:ext cx="1371600" cy="1371600"/>
          </a:xfrm>
          <a:prstGeom prst="rect">
            <a:avLst/>
          </a:prstGeom>
        </p:spPr>
      </p:pic>
      <p:sp>
        <p:nvSpPr>
          <p:cNvPr id="17" name="Rectangle 17"/>
          <p:cNvSpPr/>
          <p:nvPr/>
        </p:nvSpPr>
        <p:spPr>
          <a:xfrm>
            <a:off x="0" y="6604000"/>
            <a:ext cx="3048000" cy="76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8"/>
          <p:cNvSpPr/>
          <p:nvPr/>
        </p:nvSpPr>
        <p:spPr>
          <a:xfrm>
            <a:off x="3048000" y="6604000"/>
            <a:ext cx="30480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9"/>
          <p:cNvSpPr/>
          <p:nvPr/>
        </p:nvSpPr>
        <p:spPr>
          <a:xfrm>
            <a:off x="6096000" y="6604000"/>
            <a:ext cx="6096000" cy="762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6223000" y="6578600"/>
            <a:ext cx="3556000" cy="127000"/>
          </a:xfrm>
          <a:prstGeom prst="rect">
            <a:avLst/>
          </a:prstGeom>
        </p:spPr>
        <p:txBody>
          <a:bodyPr wrap="square" rtlCol="0" anchor="ctr">
            <a:normAutofit fontScale="25000" lnSpcReduction="20000"/>
          </a:bodyPr>
          <a:lstStyle/>
          <a:p>
            <a:pPr algn="l"/>
            <a:r>
              <a:rPr lang="en-US" sz="800" b="1" dirty="0">
                <a:solidFill>
                  <a:srgbClr val="0056B8"/>
                </a:solidFill>
              </a:rPr>
              <a:t>END-TO-END SOLUTIONS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8000" y="6578600"/>
            <a:ext cx="5080000" cy="127000"/>
          </a:xfrm>
          <a:prstGeom prst="rect">
            <a:avLst/>
          </a:prstGeom>
        </p:spPr>
        <p:txBody>
          <a:bodyPr wrap="square" rtlCol="0" anchor="ctr">
            <a:normAutofit fontScale="25000" lnSpcReduction="20000"/>
          </a:bodyPr>
          <a:lstStyle/>
          <a:p>
            <a:pPr algn="l"/>
            <a:r>
              <a:rPr lang="en-US" sz="800" dirty="0">
                <a:solidFill>
                  <a:srgbClr val="FFFFFF"/>
                </a:solidFill>
              </a:rPr>
              <a:t>Anabeeb HSE &amp; Training  |  NEBOSH Verified Programme</a:t>
            </a:r>
          </a:p>
        </p:txBody>
      </p:sp>
    </p:spTree>
    <p:extLst>
      <p:ext uri="{BB962C8B-B14F-4D97-AF65-F5344CB8AC3E}">
        <p14:creationId xmlns:p14="http://schemas.microsoft.com/office/powerpoint/2010/main" val="1345031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52BC19-69C6-C3DC-E0E5-BF4DA675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4872B9-1510-3C14-53A8-F2887A20B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815" y="214233"/>
            <a:ext cx="10515600" cy="820017"/>
          </a:xfrm>
        </p:spPr>
        <p:txBody>
          <a:bodyPr>
            <a:normAutofit/>
          </a:bodyPr>
          <a:lstStyle/>
          <a:p>
            <a:r>
              <a:rPr lang="en-US" dirty="0"/>
              <a:t>NEBOSH Verified Program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121B65-9CAB-094F-8F8D-090817B236C0}"/>
              </a:ext>
            </a:extLst>
          </p:cNvPr>
          <p:cNvSpPr txBox="1"/>
          <p:nvPr/>
        </p:nvSpPr>
        <p:spPr>
          <a:xfrm>
            <a:off x="649512" y="1351508"/>
            <a:ext cx="111961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NEBOSH, formed in 1979, is a globally recognized awarding organization.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provides high-quality health, safety, and environmental qualifications.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Anabeeb partners with NEBOSH to ensure high-quality Work Permit Receiver Training.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NEBOSH Verified logo signifies training quality.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Successful completion earns an e-certificate.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training enhances safety in oil and gas plants.</a:t>
            </a:r>
          </a:p>
        </p:txBody>
      </p:sp>
      <p:pic>
        <p:nvPicPr>
          <p:cNvPr id="6" name="Picture 5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88163D51-B394-6347-E6E9-09B48999AC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150" y="3686474"/>
            <a:ext cx="1727735" cy="172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583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52BC19-69C6-C3DC-E0E5-BF4DA675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4872B9-1510-3C14-53A8-F2887A20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High Pressure Water Jetting?</a:t>
            </a:r>
          </a:p>
        </p:txBody>
      </p:sp>
      <p:sp>
        <p:nvSpPr>
          <p:cNvPr id="7" name="Rectangle 7"/>
          <p:cNvSpPr/>
          <p:nvPr/>
        </p:nvSpPr>
        <p:spPr>
          <a:xfrm>
            <a:off x="419100" y="863600"/>
            <a:ext cx="11353800" cy="635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10"/>
          <p:cNvSpPr/>
          <p:nvPr/>
        </p:nvSpPr>
        <p:spPr>
          <a:xfrm>
            <a:off x="647700" y="5080000"/>
            <a:ext cx="5715000" cy="1016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0" y="1143000"/>
            <a:ext cx="4953000" cy="4953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482600" y="1016000"/>
            <a:ext cx="11150600" cy="355600"/>
          </a:xfrm>
          <a:prstGeom prst="rect">
            <a:avLst/>
          </a:prstGeom>
        </p:spPr>
        <p:txBody>
          <a:bodyPr wrap="square" rtlCol="0" anchor="t">
            <a:normAutofit fontScale="92500" lnSpcReduction="20000"/>
          </a:bodyPr>
          <a:lstStyle/>
          <a:p>
            <a:pPr algn="l"/>
            <a:r>
              <a:rPr lang="en-US" sz="2200" b="1" dirty="0">
                <a:solidFill>
                  <a:srgbClr val="ED7D31"/>
                </a:solidFill>
              </a:rPr>
              <a:t>WHAT IS HIGH PRESSURE WATER JETTING?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7700" y="1460500"/>
            <a:ext cx="5715000" cy="3556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600" dirty="0">
                <a:solidFill>
                  <a:srgbClr val="1A1A1A"/>
                </a:solidFill>
              </a:rPr>
              <a:t>• High pressure water jetting uses a pump to move large volumes of water through a small nozzle.</a:t>
            </a:r>
          </a:p>
          <a:p>
            <a:pPr algn="l"/>
            <a:endParaRPr lang="en-US" sz="1600" dirty="0">
              <a:solidFill>
                <a:srgbClr val="1A1A1A"/>
              </a:solidFill>
            </a:endParaRPr>
          </a:p>
          <a:p>
            <a:pPr algn="l"/>
            <a:r>
              <a:rPr lang="en-US" sz="1600" dirty="0">
                <a:solidFill>
                  <a:srgbClr val="1A1A1A"/>
                </a:solidFill>
              </a:rPr>
              <a:t>• The nozzle creates the cutting or cleaning force.</a:t>
            </a:r>
          </a:p>
          <a:p>
            <a:pPr algn="l"/>
            <a:endParaRPr lang="en-US" sz="1600" dirty="0">
              <a:solidFill>
                <a:srgbClr val="1A1A1A"/>
              </a:solidFill>
            </a:endParaRPr>
          </a:p>
          <a:p>
            <a:pPr algn="l"/>
            <a:r>
              <a:rPr lang="en-US" sz="1600" dirty="0">
                <a:solidFill>
                  <a:srgbClr val="1A1A1A"/>
                </a:solidFill>
              </a:rPr>
              <a:t>• Pressures commonly reach 10,000 to 20,000 psi on Anabeeb work.</a:t>
            </a:r>
          </a:p>
          <a:p>
            <a:pPr algn="l"/>
            <a:endParaRPr lang="en-US" sz="1600" dirty="0">
              <a:solidFill>
                <a:srgbClr val="1A1A1A"/>
              </a:solidFill>
            </a:endParaRPr>
          </a:p>
          <a:p>
            <a:pPr algn="l"/>
            <a:r>
              <a:rPr lang="en-US" sz="1600" dirty="0">
                <a:solidFill>
                  <a:srgbClr val="1A1A1A"/>
                </a:solidFill>
              </a:rPr>
              <a:t>• It is used for surface cleaning, tube cleaning, pipe cleaning and more during shutdowns and maintenance.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2000" y="5143500"/>
            <a:ext cx="5461000" cy="889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1A1A1A"/>
                </a:solidFill>
              </a:rPr>
              <a:t>Key Principle</a:t>
            </a:r>
          </a:p>
          <a:p>
            <a:pPr algn="l"/>
            <a:r>
              <a:rPr lang="en-US" sz="1200" b="1" dirty="0">
                <a:solidFill>
                  <a:srgbClr val="1A1A1A"/>
                </a:solidFill>
              </a:rPr>
              <a:t>The pump moves the water. The nozzle turns that flow into extreme force. This is a controlled cutting tool – not just cleaning equipment.</a:t>
            </a:r>
          </a:p>
        </p:txBody>
      </p:sp>
    </p:spTree>
    <p:extLst>
      <p:ext uri="{BB962C8B-B14F-4D97-AF65-F5344CB8AC3E}">
        <p14:creationId xmlns:p14="http://schemas.microsoft.com/office/powerpoint/2010/main" val="3690020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52BC19-69C6-C3DC-E0E5-BF4DA675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4872B9-1510-3C14-53A8-F2887A20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Where HPWJ is Used on Our Sites</a:t>
            </a:r>
          </a:p>
        </p:txBody>
      </p:sp>
      <p:sp>
        <p:nvSpPr>
          <p:cNvPr id="7" name="Rectangle 7"/>
          <p:cNvSpPr/>
          <p:nvPr/>
        </p:nvSpPr>
        <p:spPr>
          <a:xfrm>
            <a:off x="419100" y="863600"/>
            <a:ext cx="11353800" cy="635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0" y="1143000"/>
            <a:ext cx="4953000" cy="4953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482600" y="1016000"/>
            <a:ext cx="11150600" cy="355600"/>
          </a:xfrm>
          <a:prstGeom prst="rect">
            <a:avLst/>
          </a:prstGeom>
        </p:spPr>
        <p:txBody>
          <a:bodyPr wrap="square" rtlCol="0" anchor="t">
            <a:normAutofit fontScale="92500" lnSpcReduction="20000"/>
          </a:bodyPr>
          <a:lstStyle/>
          <a:p>
            <a:pPr algn="l"/>
            <a:r>
              <a:rPr lang="en-US" sz="2200" b="1" dirty="0">
                <a:solidFill>
                  <a:srgbClr val="ED7D31"/>
                </a:solidFill>
              </a:rPr>
              <a:t>WHERE HPWJ IS USED ON OUR SITES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7700" y="1460500"/>
            <a:ext cx="5715000" cy="4064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600" dirty="0">
                <a:solidFill>
                  <a:srgbClr val="1A1A1A"/>
                </a:solidFill>
              </a:rPr>
              <a:t>Common applications on Anabeeb and client sites:</a:t>
            </a:r>
          </a:p>
          <a:p>
            <a:pPr algn="l"/>
            <a:endParaRPr lang="en-US" sz="1600" dirty="0">
              <a:solidFill>
                <a:srgbClr val="1A1A1A"/>
              </a:solidFill>
            </a:endParaRPr>
          </a:p>
          <a:p>
            <a:pPr algn="l"/>
            <a:r>
              <a:rPr lang="en-US" sz="1600" dirty="0">
                <a:solidFill>
                  <a:srgbClr val="1A1A1A"/>
                </a:solidFill>
              </a:rPr>
              <a:t>• Heat exchanger and bundle cleaning</a:t>
            </a:r>
          </a:p>
          <a:p>
            <a:pPr algn="l"/>
            <a:endParaRPr lang="en-US" sz="1600" dirty="0">
              <a:solidFill>
                <a:srgbClr val="1A1A1A"/>
              </a:solidFill>
            </a:endParaRPr>
          </a:p>
          <a:p>
            <a:pPr algn="l"/>
            <a:r>
              <a:rPr lang="en-US" sz="1600" dirty="0">
                <a:solidFill>
                  <a:srgbClr val="1A1A1A"/>
                </a:solidFill>
              </a:rPr>
              <a:t>• Pipe and line cleaning</a:t>
            </a:r>
          </a:p>
          <a:p>
            <a:pPr algn="l"/>
            <a:endParaRPr lang="en-US" sz="1600" dirty="0">
              <a:solidFill>
                <a:srgbClr val="1A1A1A"/>
              </a:solidFill>
            </a:endParaRPr>
          </a:p>
          <a:p>
            <a:pPr algn="l"/>
            <a:r>
              <a:rPr lang="en-US" sz="1600" dirty="0">
                <a:solidFill>
                  <a:srgbClr val="1A1A1A"/>
                </a:solidFill>
              </a:rPr>
              <a:t>• Surface preparation before coating</a:t>
            </a:r>
          </a:p>
          <a:p>
            <a:pPr algn="l"/>
            <a:endParaRPr lang="en-US" sz="1600" dirty="0">
              <a:solidFill>
                <a:srgbClr val="1A1A1A"/>
              </a:solidFill>
            </a:endParaRPr>
          </a:p>
          <a:p>
            <a:pPr algn="l"/>
            <a:r>
              <a:rPr lang="en-US" sz="1600" dirty="0">
                <a:solidFill>
                  <a:srgbClr val="1A1A1A"/>
                </a:solidFill>
              </a:rPr>
              <a:t>• Vessel and tank cleaning</a:t>
            </a:r>
          </a:p>
          <a:p>
            <a:pPr algn="l"/>
            <a:endParaRPr lang="en-US" sz="1600" dirty="0">
              <a:solidFill>
                <a:srgbClr val="1A1A1A"/>
              </a:solidFill>
            </a:endParaRPr>
          </a:p>
          <a:p>
            <a:pPr algn="l"/>
            <a:r>
              <a:rPr lang="en-US" sz="1600" dirty="0">
                <a:solidFill>
                  <a:srgbClr val="1A1A1A"/>
                </a:solidFill>
              </a:rPr>
              <a:t>This work is always part of shutdown and turnaround activities. Strict controls are required every time.</a:t>
            </a:r>
          </a:p>
        </p:txBody>
      </p:sp>
    </p:spTree>
    <p:extLst>
      <p:ext uri="{BB962C8B-B14F-4D97-AF65-F5344CB8AC3E}">
        <p14:creationId xmlns:p14="http://schemas.microsoft.com/office/powerpoint/2010/main" val="1489395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52BC19-69C6-C3DC-E0E5-BF4DA675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4872B9-1510-3C14-53A8-F2887A20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Waterjet Injuries Are Different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419100" y="863600"/>
            <a:ext cx="11353800" cy="635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0" y="1143000"/>
            <a:ext cx="4953000" cy="4953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482600" y="1016000"/>
            <a:ext cx="11150600" cy="355600"/>
          </a:xfrm>
          <a:prstGeom prst="rect">
            <a:avLst/>
          </a:prstGeom>
        </p:spPr>
        <p:txBody>
          <a:bodyPr wrap="square" rtlCol="0" anchor="t">
            <a:normAutofit fontScale="92500" lnSpcReduction="20000"/>
          </a:bodyPr>
          <a:lstStyle/>
          <a:p>
            <a:pPr algn="l"/>
            <a:r>
              <a:rPr lang="en-US" sz="2200" b="1" dirty="0">
                <a:solidFill>
                  <a:srgbClr val="ED7D31"/>
                </a:solidFill>
              </a:rPr>
              <a:t>WHY WATERJET INJURIES ARE DIFFERENT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7700" y="1460500"/>
            <a:ext cx="5715000" cy="4064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600" dirty="0">
                <a:solidFill>
                  <a:srgbClr val="1A1A1A"/>
                </a:solidFill>
              </a:rPr>
              <a:t>• Waterjet injuries are different from normal cuts or bruises.</a:t>
            </a:r>
          </a:p>
          <a:p>
            <a:pPr algn="l"/>
            <a:endParaRPr lang="en-US" sz="1600" dirty="0">
              <a:solidFill>
                <a:srgbClr val="1A1A1A"/>
              </a:solidFill>
            </a:endParaRPr>
          </a:p>
          <a:p>
            <a:pPr algn="l"/>
            <a:r>
              <a:rPr lang="en-US" sz="1600" dirty="0">
                <a:solidFill>
                  <a:srgbClr val="1A1A1A"/>
                </a:solidFill>
              </a:rPr>
              <a:t>• Even a small external wound can hide severe internal damage.</a:t>
            </a:r>
          </a:p>
          <a:p>
            <a:pPr algn="l"/>
            <a:endParaRPr lang="en-US" sz="1600" dirty="0">
              <a:solidFill>
                <a:srgbClr val="1A1A1A"/>
              </a:solidFill>
            </a:endParaRPr>
          </a:p>
          <a:p>
            <a:pPr algn="l"/>
            <a:r>
              <a:rPr lang="en-US" sz="1600" dirty="0">
                <a:solidFill>
                  <a:srgbClr val="1A1A1A"/>
                </a:solidFill>
              </a:rPr>
              <a:t>• Medical attention is required for ALL suspected waterjet injuries – no exceptions.</a:t>
            </a:r>
          </a:p>
          <a:p>
            <a:pPr algn="l"/>
            <a:endParaRPr lang="en-US" sz="1600" dirty="0">
              <a:solidFill>
                <a:srgbClr val="1A1A1A"/>
              </a:solidFill>
            </a:endParaRPr>
          </a:p>
          <a:p>
            <a:pPr algn="l"/>
            <a:r>
              <a:rPr lang="en-US" sz="1600" dirty="0">
                <a:solidFill>
                  <a:srgbClr val="1A1A1A"/>
                </a:solidFill>
              </a:rPr>
              <a:t>• The Medical Alert Card tells medical staff exactly what to look for and what treatment is needed.</a:t>
            </a:r>
          </a:p>
          <a:p>
            <a:pPr algn="l"/>
            <a:endParaRPr lang="en-US" sz="1600" dirty="0">
              <a:solidFill>
                <a:srgbClr val="1A1A1A"/>
              </a:solidFill>
            </a:endParaRPr>
          </a:p>
          <a:p>
            <a:pPr algn="l"/>
            <a:r>
              <a:rPr lang="en-US" sz="1600" dirty="0">
                <a:solidFill>
                  <a:srgbClr val="1A1A1A"/>
                </a:solidFill>
              </a:rPr>
              <a:t>• It can save your life.</a:t>
            </a:r>
          </a:p>
        </p:txBody>
      </p:sp>
    </p:spTree>
    <p:extLst>
      <p:ext uri="{BB962C8B-B14F-4D97-AF65-F5344CB8AC3E}">
        <p14:creationId xmlns:p14="http://schemas.microsoft.com/office/powerpoint/2010/main" val="2569546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52BC19-69C6-C3DC-E0E5-BF4DA675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4872B9-1510-3C14-53A8-F2887A20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Waterjet Injury</a:t>
            </a:r>
          </a:p>
        </p:txBody>
      </p:sp>
      <p:sp>
        <p:nvSpPr>
          <p:cNvPr id="7" name="Rectangle 7"/>
          <p:cNvSpPr/>
          <p:nvPr/>
        </p:nvSpPr>
        <p:spPr>
          <a:xfrm>
            <a:off x="419100" y="863600"/>
            <a:ext cx="11353800" cy="635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0" y="1143000"/>
            <a:ext cx="4953000" cy="4953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482600" y="1016000"/>
            <a:ext cx="11150600" cy="355600"/>
          </a:xfrm>
          <a:prstGeom prst="rect">
            <a:avLst/>
          </a:prstGeom>
        </p:spPr>
        <p:txBody>
          <a:bodyPr wrap="square" rtlCol="0" anchor="t">
            <a:normAutofit fontScale="92500" lnSpcReduction="20000"/>
          </a:bodyPr>
          <a:lstStyle/>
          <a:p>
            <a:pPr algn="l"/>
            <a:r>
              <a:rPr lang="en-US" sz="2200" b="1" dirty="0">
                <a:solidFill>
                  <a:srgbClr val="ED7D31"/>
                </a:solidFill>
              </a:rPr>
              <a:t>TYPES OF WATERJET INJURY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7700" y="1460500"/>
            <a:ext cx="5715000" cy="3556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600" dirty="0">
                <a:solidFill>
                  <a:srgbClr val="1A1A1A"/>
                </a:solidFill>
              </a:rPr>
              <a:t>1. Water-Cut – direct injection of water into the body</a:t>
            </a:r>
          </a:p>
          <a:p>
            <a:pPr algn="l"/>
            <a:endParaRPr lang="en-US" sz="1600" dirty="0">
              <a:solidFill>
                <a:srgbClr val="1A1A1A"/>
              </a:solidFill>
            </a:endParaRPr>
          </a:p>
          <a:p>
            <a:pPr algn="l"/>
            <a:r>
              <a:rPr lang="en-US" sz="1600" dirty="0">
                <a:solidFill>
                  <a:srgbClr val="1A1A1A"/>
                </a:solidFill>
              </a:rPr>
              <a:t>2. Water-Burst – sudden high-velocity burst penetrating tissue</a:t>
            </a:r>
          </a:p>
          <a:p>
            <a:pPr algn="l"/>
            <a:endParaRPr lang="en-US" sz="1600" dirty="0">
              <a:solidFill>
                <a:srgbClr val="1A1A1A"/>
              </a:solidFill>
            </a:endParaRPr>
          </a:p>
          <a:p>
            <a:pPr algn="l"/>
            <a:r>
              <a:rPr lang="en-US" sz="1600" dirty="0">
                <a:solidFill>
                  <a:srgbClr val="1A1A1A"/>
                </a:solidFill>
              </a:rPr>
              <a:t>3. Struck-By – hose, tool or debris hitting the body</a:t>
            </a:r>
          </a:p>
          <a:p>
            <a:pPr algn="l"/>
            <a:endParaRPr lang="en-US" sz="1600" dirty="0">
              <a:solidFill>
                <a:srgbClr val="1A1A1A"/>
              </a:solidFill>
            </a:endParaRPr>
          </a:p>
          <a:p>
            <a:pPr algn="l"/>
            <a:r>
              <a:rPr lang="en-US" sz="1600" dirty="0">
                <a:solidFill>
                  <a:srgbClr val="1A1A1A"/>
                </a:solidFill>
              </a:rPr>
              <a:t>All three must be treated seriously. The Medical Alert Card covers all types. Never assume an injury is minor.</a:t>
            </a:r>
          </a:p>
        </p:txBody>
      </p:sp>
    </p:spTree>
    <p:extLst>
      <p:ext uri="{BB962C8B-B14F-4D97-AF65-F5344CB8AC3E}">
        <p14:creationId xmlns:p14="http://schemas.microsoft.com/office/powerpoint/2010/main" val="641188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52BC19-69C6-C3DC-E0E5-BF4DA675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4872B9-1510-3C14-53A8-F2887A20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 Incident Examples – Never Again</a:t>
            </a:r>
          </a:p>
        </p:txBody>
      </p:sp>
      <p:sp>
        <p:nvSpPr>
          <p:cNvPr id="8" name="Rectangle 8"/>
          <p:cNvSpPr/>
          <p:nvPr/>
        </p:nvSpPr>
        <p:spPr>
          <a:xfrm>
            <a:off x="419100" y="863600"/>
            <a:ext cx="11353800" cy="635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1"/>
          <p:cNvSpPr/>
          <p:nvPr/>
        </p:nvSpPr>
        <p:spPr>
          <a:xfrm>
            <a:off x="647700" y="5080000"/>
            <a:ext cx="5715000" cy="101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0" y="1143000"/>
            <a:ext cx="4953000" cy="4953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82600" y="1016000"/>
            <a:ext cx="11150600" cy="355600"/>
          </a:xfrm>
          <a:prstGeom prst="rect">
            <a:avLst/>
          </a:prstGeom>
        </p:spPr>
        <p:txBody>
          <a:bodyPr wrap="square" rtlCol="0" anchor="t">
            <a:normAutofit fontScale="92500" lnSpcReduction="20000"/>
          </a:bodyPr>
          <a:lstStyle/>
          <a:p>
            <a:pPr algn="l"/>
            <a:r>
              <a:rPr lang="en-US" sz="2200" b="1" dirty="0">
                <a:solidFill>
                  <a:srgbClr val="ED7D31"/>
                </a:solidFill>
              </a:rPr>
              <a:t>REAL INCIDENT EXAMPLES – NEVER AGAIN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7700" y="1460500"/>
            <a:ext cx="5715000" cy="3556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800" dirty="0">
                <a:solidFill>
                  <a:srgbClr val="1A1A1A"/>
                </a:solidFill>
              </a:rPr>
              <a:t>Real incidents have happened in the industry:</a:t>
            </a:r>
          </a:p>
          <a:p>
            <a:pPr algn="l"/>
            <a:endParaRPr lang="en-US" sz="1800" dirty="0">
              <a:solidFill>
                <a:srgbClr val="1A1A1A"/>
              </a:solidFill>
            </a:endParaRPr>
          </a:p>
          <a:p>
            <a:pPr algn="l"/>
            <a:r>
              <a:rPr lang="en-US" sz="1800" dirty="0">
                <a:solidFill>
                  <a:srgbClr val="1A1A1A"/>
                </a:solidFill>
              </a:rPr>
              <a:t>• Hose failure causing struck-by injury</a:t>
            </a:r>
          </a:p>
          <a:p>
            <a:pPr algn="l"/>
            <a:endParaRPr lang="en-US" sz="1800" dirty="0">
              <a:solidFill>
                <a:srgbClr val="1A1A1A"/>
              </a:solidFill>
            </a:endParaRPr>
          </a:p>
          <a:p>
            <a:pPr algn="l"/>
            <a:r>
              <a:rPr lang="en-US" sz="1800" dirty="0">
                <a:solidFill>
                  <a:srgbClr val="1A1A1A"/>
                </a:solidFill>
              </a:rPr>
              <a:t>• Jet cutting through PPE and causing internal damage</a:t>
            </a:r>
          </a:p>
          <a:p>
            <a:pPr algn="l"/>
            <a:endParaRPr lang="en-US" sz="1800" dirty="0">
              <a:solidFill>
                <a:srgbClr val="1A1A1A"/>
              </a:solidFill>
            </a:endParaRPr>
          </a:p>
          <a:p>
            <a:pPr algn="l"/>
            <a:r>
              <a:rPr lang="en-US" sz="1800" dirty="0">
                <a:solidFill>
                  <a:srgbClr val="1A1A1A"/>
                </a:solidFill>
              </a:rPr>
              <a:t>• Delayed medical treatment because the injury looked minor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2000" y="5181600"/>
            <a:ext cx="5461000" cy="8128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2E7D32"/>
                </a:solidFill>
              </a:rPr>
              <a:t>Lesson: Proper controls, pre-use inspection and immediate medical response save lives. We study these incidents so we never repeat them.</a:t>
            </a:r>
          </a:p>
        </p:txBody>
      </p:sp>
    </p:spTree>
    <p:extLst>
      <p:ext uri="{BB962C8B-B14F-4D97-AF65-F5344CB8AC3E}">
        <p14:creationId xmlns:p14="http://schemas.microsoft.com/office/powerpoint/2010/main" val="310755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52BC19-69C6-C3DC-E0E5-BF4DA675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4872B9-1510-3C14-53A8-F2887A20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Medical Alert Card – Your Lifeline</a:t>
            </a:r>
          </a:p>
        </p:txBody>
      </p:sp>
      <p:sp>
        <p:nvSpPr>
          <p:cNvPr id="8" name="Rectangle 8"/>
          <p:cNvSpPr/>
          <p:nvPr/>
        </p:nvSpPr>
        <p:spPr>
          <a:xfrm>
            <a:off x="419100" y="863600"/>
            <a:ext cx="11353800" cy="635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1"/>
          <p:cNvSpPr/>
          <p:nvPr/>
        </p:nvSpPr>
        <p:spPr>
          <a:xfrm>
            <a:off x="647700" y="4635500"/>
            <a:ext cx="5715000" cy="8890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0" y="1143000"/>
            <a:ext cx="4953000" cy="4953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82600" y="1016000"/>
            <a:ext cx="11150600" cy="355600"/>
          </a:xfrm>
          <a:prstGeom prst="rect">
            <a:avLst/>
          </a:prstGeom>
        </p:spPr>
        <p:txBody>
          <a:bodyPr wrap="square" rtlCol="0" anchor="t">
            <a:normAutofit fontScale="92500" lnSpcReduction="20000"/>
          </a:bodyPr>
          <a:lstStyle/>
          <a:p>
            <a:pPr algn="l"/>
            <a:r>
              <a:rPr lang="en-US" sz="2200" b="1" dirty="0">
                <a:solidFill>
                  <a:srgbClr val="ED7D31"/>
                </a:solidFill>
              </a:rPr>
              <a:t>THE MEDICAL ALERT CARD – YOUR LIFELINE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7700" y="1460500"/>
            <a:ext cx="5715000" cy="3048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800" dirty="0">
                <a:solidFill>
                  <a:srgbClr val="1A1A1A"/>
                </a:solidFill>
              </a:rPr>
              <a:t>• Issued today – you must carry it on every high pressure water jetting job.</a:t>
            </a:r>
          </a:p>
          <a:p>
            <a:pPr algn="l"/>
            <a:endParaRPr lang="en-US" sz="1800" dirty="0">
              <a:solidFill>
                <a:srgbClr val="1A1A1A"/>
              </a:solidFill>
            </a:endParaRPr>
          </a:p>
          <a:p>
            <a:pPr algn="l"/>
            <a:r>
              <a:rPr lang="en-US" sz="1800" dirty="0">
                <a:solidFill>
                  <a:srgbClr val="1A1A1A"/>
                </a:solidFill>
              </a:rPr>
              <a:t>• Waterproof and easy to access.</a:t>
            </a:r>
          </a:p>
          <a:p>
            <a:pPr algn="l"/>
            <a:endParaRPr lang="en-US" sz="1800" dirty="0">
              <a:solidFill>
                <a:srgbClr val="1A1A1A"/>
              </a:solidFill>
            </a:endParaRPr>
          </a:p>
          <a:p>
            <a:pPr algn="l"/>
            <a:r>
              <a:rPr lang="en-US" sz="1800" dirty="0">
                <a:solidFill>
                  <a:srgbClr val="1A1A1A"/>
                </a:solidFill>
              </a:rPr>
              <a:t>• Tells medical staff exactly what treatment is needed.</a:t>
            </a:r>
          </a:p>
          <a:p>
            <a:pPr algn="l"/>
            <a:endParaRPr lang="en-US" sz="1800" dirty="0">
              <a:solidFill>
                <a:srgbClr val="1A1A1A"/>
              </a:solidFill>
            </a:endParaRPr>
          </a:p>
          <a:p>
            <a:pPr algn="l"/>
            <a:r>
              <a:rPr lang="en-US" sz="1800" dirty="0">
                <a:solidFill>
                  <a:srgbClr val="1A1A1A"/>
                </a:solidFill>
              </a:rPr>
              <a:t>• External appearance cannot predict internal damage.</a:t>
            </a:r>
          </a:p>
          <a:p>
            <a:pPr algn="l"/>
            <a:endParaRPr lang="en-US" sz="1800" dirty="0">
              <a:solidFill>
                <a:srgbClr val="1A1A1A"/>
              </a:solidFill>
            </a:endParaRPr>
          </a:p>
          <a:p>
            <a:pPr algn="l"/>
            <a:r>
              <a:rPr lang="en-US" sz="1800" dirty="0">
                <a:solidFill>
                  <a:srgbClr val="1A1A1A"/>
                </a:solidFill>
              </a:rPr>
              <a:t>• This is a mandatory safety requirement – not optional.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2000" y="4737100"/>
            <a:ext cx="5461000" cy="6858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C62828"/>
                </a:solidFill>
              </a:rPr>
              <a:t>From this moment you are never allowed on a HPWJ job without this card in your possession.</a:t>
            </a:r>
          </a:p>
        </p:txBody>
      </p:sp>
    </p:spTree>
    <p:extLst>
      <p:ext uri="{BB962C8B-B14F-4D97-AF65-F5344CB8AC3E}">
        <p14:creationId xmlns:p14="http://schemas.microsoft.com/office/powerpoint/2010/main" val="2591823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52BC19-69C6-C3DC-E0E5-BF4DA675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4872B9-1510-3C14-53A8-F2887A20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NEBOSH Verified Programme</a:t>
            </a:r>
          </a:p>
        </p:txBody>
      </p:sp>
      <p:sp>
        <p:nvSpPr>
          <p:cNvPr id="7" name="Rectangle 7"/>
          <p:cNvSpPr/>
          <p:nvPr/>
        </p:nvSpPr>
        <p:spPr>
          <a:xfrm>
            <a:off x="419100" y="863600"/>
            <a:ext cx="11353800" cy="635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121B65-9CAB-094F-8F8D-090817B236C0}"/>
              </a:ext>
            </a:extLst>
          </p:cNvPr>
          <p:cNvSpPr txBox="1"/>
          <p:nvPr/>
        </p:nvSpPr>
        <p:spPr>
          <a:xfrm>
            <a:off x="647700" y="1460500"/>
            <a:ext cx="5715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NEBOSH, formed in 1979, is a globally recognised awarding organisation.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It provides high-quality health, safety and environmental qualifications.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Anabeeb partners with NEBOSH to ensure high-quality High Pressure Water Jetting training.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NEBOSH Verified logo signifies training quality that meets recognised standards.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Successful completion of the full 3-day programme and assessments earns an Anabeeb certificate and a personal Medical Alert Card.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This training enhances safety during shutdown and turnaround operations on oil and gas sites.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2600" y="1016000"/>
            <a:ext cx="11150600" cy="355600"/>
          </a:xfrm>
          <a:prstGeom prst="rect">
            <a:avLst/>
          </a:prstGeom>
        </p:spPr>
        <p:txBody>
          <a:bodyPr wrap="square" rtlCol="0" anchor="t">
            <a:normAutofit fontScale="92500" lnSpcReduction="20000"/>
          </a:bodyPr>
          <a:lstStyle/>
          <a:p>
            <a:pPr algn="l"/>
            <a:r>
              <a:rPr lang="en-US" sz="2200" b="1" dirty="0">
                <a:solidFill>
                  <a:srgbClr val="ED7D31"/>
                </a:solidFill>
              </a:rPr>
              <a:t>NEBOSH VERIFIED PROGRAMME</a:t>
            </a:r>
          </a:p>
        </p:txBody>
      </p:sp>
      <p:pic>
        <p:nvPicPr>
          <p:cNvPr id="6" name="Picture 5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88163D51-B394-6347-E6E9-09B48999AC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900" y="1079500"/>
            <a:ext cx="4953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77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0" y="1143000"/>
            <a:ext cx="4572000" cy="457200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419100" y="863600"/>
            <a:ext cx="11353800" cy="635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19100" y="215900"/>
            <a:ext cx="10515600" cy="635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l"/>
            <a:r>
              <a:rPr lang="en-US" sz="2800" b="1" dirty="0">
                <a:solidFill>
                  <a:srgbClr val="0056B8"/>
                </a:solidFill>
              </a:rPr>
              <a:t>NEBOSH Verified Programme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2600" y="1016000"/>
            <a:ext cx="11150600" cy="355600"/>
          </a:xfrm>
          <a:prstGeom prst="rect">
            <a:avLst/>
          </a:prstGeom>
        </p:spPr>
        <p:txBody>
          <a:bodyPr wrap="square" rtlCol="0" anchor="t">
            <a:normAutofit fontScale="92500" lnSpcReduction="20000"/>
          </a:bodyPr>
          <a:lstStyle/>
          <a:p>
            <a:pPr algn="l"/>
            <a:r>
              <a:rPr lang="en-US" sz="2200" b="1" dirty="0">
                <a:solidFill>
                  <a:srgbClr val="ED7D31"/>
                </a:solidFill>
              </a:rPr>
              <a:t>NEBOSH VERIFIED PROGRAMME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2600" y="1460500"/>
            <a:ext cx="6350000" cy="4572000"/>
          </a:xfrm>
          <a:prstGeom prst="rect">
            <a:avLst/>
          </a:prstGeom>
        </p:spPr>
        <p:txBody>
          <a:bodyPr wrap="square" rtlCol="0" anchor="t">
            <a:normAutofit fontScale="92500" lnSpcReduction="10000"/>
          </a:bodyPr>
          <a:lstStyle/>
          <a:p>
            <a:pPr algn="l"/>
            <a:r>
              <a:rPr lang="en-US" sz="2000" dirty="0">
                <a:solidFill>
                  <a:srgbClr val="1A1A1A"/>
                </a:solidFill>
              </a:rPr>
              <a:t>• NEBOSH, formed in 1979, is a globally recognised awarding organisation.</a:t>
            </a:r>
          </a:p>
          <a:p>
            <a:pPr algn="l"/>
            <a:endParaRPr lang="en-US" sz="1400" dirty="0">
              <a:solidFill>
                <a:srgbClr val="1A1A1A"/>
              </a:solidFill>
            </a:endParaRPr>
          </a:p>
          <a:p>
            <a:pPr algn="l"/>
            <a:r>
              <a:rPr lang="en-US" sz="2000" dirty="0">
                <a:solidFill>
                  <a:srgbClr val="1A1A1A"/>
                </a:solidFill>
              </a:rPr>
              <a:t>• It provides high-quality health, safety and environmental qualifications.</a:t>
            </a:r>
          </a:p>
          <a:p>
            <a:pPr algn="l"/>
            <a:endParaRPr lang="en-US" sz="1400" dirty="0">
              <a:solidFill>
                <a:srgbClr val="1A1A1A"/>
              </a:solidFill>
            </a:endParaRPr>
          </a:p>
          <a:p>
            <a:pPr algn="l"/>
            <a:r>
              <a:rPr lang="en-US" sz="2000" dirty="0">
                <a:solidFill>
                  <a:srgbClr val="1A1A1A"/>
                </a:solidFill>
              </a:rPr>
              <a:t>• Anabeeb partners with NEBOSH to ensure high-quality High Pressure Water Jetting training.</a:t>
            </a:r>
          </a:p>
          <a:p>
            <a:pPr algn="l"/>
            <a:endParaRPr lang="en-US" sz="1400" dirty="0">
              <a:solidFill>
                <a:srgbClr val="1A1A1A"/>
              </a:solidFill>
            </a:endParaRPr>
          </a:p>
          <a:p>
            <a:pPr algn="l"/>
            <a:r>
              <a:rPr lang="en-US" sz="2000" dirty="0">
                <a:solidFill>
                  <a:srgbClr val="1A1A1A"/>
                </a:solidFill>
              </a:rPr>
              <a:t>• The NEBOSH Verified logo signifies training quality that meets recognised standards.</a:t>
            </a:r>
          </a:p>
          <a:p>
            <a:pPr algn="l"/>
            <a:endParaRPr lang="en-US" sz="1400" dirty="0">
              <a:solidFill>
                <a:srgbClr val="1A1A1A"/>
              </a:solidFill>
            </a:endParaRPr>
          </a:p>
          <a:p>
            <a:pPr algn="l"/>
            <a:r>
              <a:rPr lang="en-US" sz="2000" dirty="0">
                <a:solidFill>
                  <a:srgbClr val="1A1A1A"/>
                </a:solidFill>
              </a:rPr>
              <a:t>• Successful completion of the full 3-day programme and assessments earns an Anabeeb certificate and a personal Medical Alert Card.</a:t>
            </a:r>
          </a:p>
          <a:p>
            <a:pPr algn="l"/>
            <a:endParaRPr lang="en-US" sz="1400" dirty="0">
              <a:solidFill>
                <a:srgbClr val="1A1A1A"/>
              </a:solidFill>
            </a:endParaRPr>
          </a:p>
          <a:p>
            <a:pPr algn="l"/>
            <a:r>
              <a:rPr lang="en-US" sz="2000" dirty="0">
                <a:solidFill>
                  <a:srgbClr val="1A1A1A"/>
                </a:solidFill>
              </a:rPr>
              <a:t>• This training enhances safety during shutdown and turnaround operations on oil and gas sites.</a:t>
            </a:r>
          </a:p>
        </p:txBody>
      </p:sp>
      <p:pic>
        <p:nvPicPr>
          <p:cNvPr id="6" name="Imagin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5900" y="88900"/>
            <a:ext cx="1371600" cy="1371600"/>
          </a:xfrm>
          <a:prstGeom prst="rect">
            <a:avLst/>
          </a:prstGeom>
        </p:spPr>
      </p:pic>
      <p:sp>
        <p:nvSpPr>
          <p:cNvPr id="16" name="Rectangle 16"/>
          <p:cNvSpPr/>
          <p:nvPr/>
        </p:nvSpPr>
        <p:spPr>
          <a:xfrm>
            <a:off x="0" y="6604000"/>
            <a:ext cx="3048000" cy="76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7"/>
          <p:cNvSpPr/>
          <p:nvPr/>
        </p:nvSpPr>
        <p:spPr>
          <a:xfrm>
            <a:off x="3048000" y="6604000"/>
            <a:ext cx="30480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8"/>
          <p:cNvSpPr/>
          <p:nvPr/>
        </p:nvSpPr>
        <p:spPr>
          <a:xfrm>
            <a:off x="6096000" y="6604000"/>
            <a:ext cx="6096000" cy="762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6223000" y="6578600"/>
            <a:ext cx="3556000" cy="127000"/>
          </a:xfrm>
          <a:prstGeom prst="rect">
            <a:avLst/>
          </a:prstGeom>
        </p:spPr>
        <p:txBody>
          <a:bodyPr wrap="square" rtlCol="0" anchor="ctr">
            <a:normAutofit fontScale="25000" lnSpcReduction="20000"/>
          </a:bodyPr>
          <a:lstStyle/>
          <a:p>
            <a:pPr algn="l"/>
            <a:r>
              <a:rPr lang="en-US" sz="800" b="1" dirty="0">
                <a:solidFill>
                  <a:srgbClr val="0056B8"/>
                </a:solidFill>
              </a:rPr>
              <a:t>END-TO-END SOLUTIONS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9100" y="6667500"/>
            <a:ext cx="381000" cy="177800"/>
          </a:xfrm>
          <a:prstGeom prst="rect">
            <a:avLst/>
          </a:prstGeom>
        </p:spPr>
        <p:txBody>
          <a:bodyPr wrap="square" rtlCol="0" anchor="ctr">
            <a:normAutofit fontScale="70000" lnSpcReduction="20000"/>
          </a:bodyPr>
          <a:lstStyle/>
          <a:p>
            <a:pPr algn="l"/>
            <a:r>
              <a:rPr lang="en-US" sz="900" dirty="0">
                <a:solidFill>
                  <a:srgbClr val="333333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04473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0" y="1143000"/>
            <a:ext cx="4572000" cy="457200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419100" y="863600"/>
            <a:ext cx="11353800" cy="635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19100" y="215900"/>
            <a:ext cx="10515600" cy="635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l"/>
            <a:r>
              <a:rPr lang="en-US" sz="2800" b="1" dirty="0">
                <a:solidFill>
                  <a:srgbClr val="0056B8"/>
                </a:solidFill>
              </a:rPr>
              <a:t>Day 1 Learning Outcomes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2600" y="1016000"/>
            <a:ext cx="11150600" cy="355600"/>
          </a:xfrm>
          <a:prstGeom prst="rect">
            <a:avLst/>
          </a:prstGeom>
        </p:spPr>
        <p:txBody>
          <a:bodyPr wrap="square" rtlCol="0" anchor="t">
            <a:normAutofit fontScale="92500" lnSpcReduction="20000"/>
          </a:bodyPr>
          <a:lstStyle/>
          <a:p>
            <a:pPr algn="l"/>
            <a:r>
              <a:rPr lang="en-US" sz="2200" b="1" dirty="0">
                <a:solidFill>
                  <a:srgbClr val="ED7D31"/>
                </a:solidFill>
              </a:rPr>
              <a:t>LEARNING OUTCOMES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2600" y="1460500"/>
            <a:ext cx="6350000" cy="4572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2000" dirty="0">
                <a:solidFill>
                  <a:srgbClr val="1A1A1A"/>
                </a:solidFill>
              </a:rPr>
              <a:t>By the end of today you will be able to:</a:t>
            </a:r>
          </a:p>
          <a:p>
            <a:pPr algn="l"/>
            <a:endParaRPr lang="en-US" sz="1400" dirty="0">
              <a:solidFill>
                <a:srgbClr val="1A1A1A"/>
              </a:solidFill>
            </a:endParaRPr>
          </a:p>
          <a:p>
            <a:pPr algn="l"/>
            <a:r>
              <a:rPr lang="en-US" sz="2000" dirty="0">
                <a:solidFill>
                  <a:srgbClr val="1A1A1A"/>
                </a:solidFill>
              </a:rPr>
              <a:t>1. Understand why high pressure water jetting injuries are different and serious</a:t>
            </a:r>
          </a:p>
          <a:p>
            <a:pPr algn="l"/>
            <a:endParaRPr lang="en-US" sz="1400" dirty="0">
              <a:solidFill>
                <a:srgbClr val="1A1A1A"/>
              </a:solidFill>
            </a:endParaRPr>
          </a:p>
          <a:p>
            <a:pPr algn="l"/>
            <a:r>
              <a:rPr lang="en-US" sz="2000" dirty="0">
                <a:solidFill>
                  <a:srgbClr val="1A1A1A"/>
                </a:solidFill>
              </a:rPr>
              <a:t>2. Explain the Medical Alert Card and when to use it</a:t>
            </a:r>
          </a:p>
          <a:p>
            <a:pPr algn="l"/>
            <a:endParaRPr lang="en-US" sz="1400" dirty="0">
              <a:solidFill>
                <a:srgbClr val="1A1A1A"/>
              </a:solidFill>
            </a:endParaRPr>
          </a:p>
          <a:p>
            <a:pPr algn="l"/>
            <a:r>
              <a:rPr lang="en-US" sz="2000" dirty="0">
                <a:solidFill>
                  <a:srgbClr val="1A1A1A"/>
                </a:solidFill>
              </a:rPr>
              <a:t>3. Apply the hierarchy of controls and key site safety rules</a:t>
            </a:r>
          </a:p>
          <a:p>
            <a:pPr algn="l"/>
            <a:endParaRPr lang="en-US" sz="1400" dirty="0">
              <a:solidFill>
                <a:srgbClr val="1A1A1A"/>
              </a:solidFill>
            </a:endParaRPr>
          </a:p>
          <a:p>
            <a:pPr algn="l"/>
            <a:r>
              <a:rPr lang="en-US" sz="2000" dirty="0">
                <a:solidFill>
                  <a:srgbClr val="1A1A1A"/>
                </a:solidFill>
              </a:rPr>
              <a:t>4. Understand how the system creates pressure and why control of relief is critical</a:t>
            </a:r>
          </a:p>
          <a:p>
            <a:pPr algn="l"/>
            <a:endParaRPr lang="en-US" sz="1400" dirty="0">
              <a:solidFill>
                <a:srgbClr val="1A1A1A"/>
              </a:solidFill>
            </a:endParaRPr>
          </a:p>
          <a:p>
            <a:pPr algn="l"/>
            <a:r>
              <a:rPr lang="en-US" sz="2000" dirty="0">
                <a:solidFill>
                  <a:srgbClr val="1A1A1A"/>
                </a:solidFill>
              </a:rPr>
              <a:t>5. Recognise Stop Work Authority and when to use it</a:t>
            </a:r>
          </a:p>
        </p:txBody>
      </p:sp>
      <p:pic>
        <p:nvPicPr>
          <p:cNvPr id="6" name="Imagin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5900" y="88900"/>
            <a:ext cx="1371600" cy="1371600"/>
          </a:xfrm>
          <a:prstGeom prst="rect">
            <a:avLst/>
          </a:prstGeom>
        </p:spPr>
      </p:pic>
      <p:sp>
        <p:nvSpPr>
          <p:cNvPr id="16" name="Rectangle 16"/>
          <p:cNvSpPr/>
          <p:nvPr/>
        </p:nvSpPr>
        <p:spPr>
          <a:xfrm>
            <a:off x="0" y="6604000"/>
            <a:ext cx="3048000" cy="76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7"/>
          <p:cNvSpPr/>
          <p:nvPr/>
        </p:nvSpPr>
        <p:spPr>
          <a:xfrm>
            <a:off x="3048000" y="6604000"/>
            <a:ext cx="30480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8"/>
          <p:cNvSpPr/>
          <p:nvPr/>
        </p:nvSpPr>
        <p:spPr>
          <a:xfrm>
            <a:off x="6096000" y="6604000"/>
            <a:ext cx="6096000" cy="762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6223000" y="6578600"/>
            <a:ext cx="3556000" cy="127000"/>
          </a:xfrm>
          <a:prstGeom prst="rect">
            <a:avLst/>
          </a:prstGeom>
        </p:spPr>
        <p:txBody>
          <a:bodyPr wrap="square" rtlCol="0" anchor="ctr">
            <a:normAutofit fontScale="25000" lnSpcReduction="20000"/>
          </a:bodyPr>
          <a:lstStyle/>
          <a:p>
            <a:pPr algn="l"/>
            <a:r>
              <a:rPr lang="en-US" sz="800" b="1" dirty="0">
                <a:solidFill>
                  <a:srgbClr val="0056B8"/>
                </a:solidFill>
              </a:rPr>
              <a:t>END-TO-END SOLUTIONS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9100" y="6667500"/>
            <a:ext cx="381000" cy="177800"/>
          </a:xfrm>
          <a:prstGeom prst="rect">
            <a:avLst/>
          </a:prstGeom>
        </p:spPr>
        <p:txBody>
          <a:bodyPr wrap="square" rtlCol="0" anchor="ctr">
            <a:normAutofit fontScale="70000" lnSpcReduction="20000"/>
          </a:bodyPr>
          <a:lstStyle/>
          <a:p>
            <a:pPr algn="l"/>
            <a:r>
              <a:rPr lang="en-US" sz="900" dirty="0">
                <a:solidFill>
                  <a:srgbClr val="33333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29028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0" y="1143000"/>
            <a:ext cx="4572000" cy="457200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419100" y="863600"/>
            <a:ext cx="11353800" cy="635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19100" y="215900"/>
            <a:ext cx="10515600" cy="635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l"/>
            <a:r>
              <a:rPr lang="en-US" sz="2800" b="1" dirty="0">
                <a:solidFill>
                  <a:srgbClr val="0056B8"/>
                </a:solidFill>
              </a:rPr>
              <a:t>Trainer Introduction &amp; House Rules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2600" y="1016000"/>
            <a:ext cx="11150600" cy="355600"/>
          </a:xfrm>
          <a:prstGeom prst="rect">
            <a:avLst/>
          </a:prstGeom>
        </p:spPr>
        <p:txBody>
          <a:bodyPr wrap="square" rtlCol="0" anchor="t">
            <a:normAutofit fontScale="92500" lnSpcReduction="20000"/>
          </a:bodyPr>
          <a:lstStyle/>
          <a:p>
            <a:pPr algn="l"/>
            <a:r>
              <a:rPr lang="en-US" sz="2200" b="1" dirty="0">
                <a:solidFill>
                  <a:srgbClr val="ED7D31"/>
                </a:solidFill>
              </a:rPr>
              <a:t>TRAINER INTRODUCTION &amp; HOUSE RULES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2600" y="1460500"/>
            <a:ext cx="6350000" cy="4572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2000" dirty="0">
                <a:solidFill>
                  <a:srgbClr val="1A1A1A"/>
                </a:solidFill>
              </a:rPr>
              <a:t>• This session is interactive, not just a lecture</a:t>
            </a:r>
          </a:p>
          <a:p>
            <a:pPr algn="l"/>
            <a:endParaRPr lang="en-US" sz="1400" dirty="0">
              <a:solidFill>
                <a:srgbClr val="1A1A1A"/>
              </a:solidFill>
            </a:endParaRPr>
          </a:p>
          <a:p>
            <a:pPr algn="l"/>
            <a:r>
              <a:rPr lang="en-US" sz="2000" dirty="0">
                <a:solidFill>
                  <a:srgbClr val="1A1A1A"/>
                </a:solidFill>
              </a:rPr>
              <a:t>• You are welcome to ask questions at any time</a:t>
            </a:r>
          </a:p>
          <a:p>
            <a:pPr algn="l"/>
            <a:endParaRPr lang="en-US" sz="1400" dirty="0">
              <a:solidFill>
                <a:srgbClr val="1A1A1A"/>
              </a:solidFill>
            </a:endParaRPr>
          </a:p>
          <a:p>
            <a:pPr algn="l"/>
            <a:r>
              <a:rPr lang="en-US" sz="2000" dirty="0">
                <a:solidFill>
                  <a:srgbClr val="1A1A1A"/>
                </a:solidFill>
              </a:rPr>
              <a:t>• Please share your site experiences during discussions</a:t>
            </a:r>
          </a:p>
          <a:p>
            <a:pPr algn="l"/>
            <a:endParaRPr lang="en-US" sz="1400" dirty="0">
              <a:solidFill>
                <a:srgbClr val="1A1A1A"/>
              </a:solidFill>
            </a:endParaRPr>
          </a:p>
          <a:p>
            <a:pPr algn="l"/>
            <a:r>
              <a:rPr lang="en-US" sz="2000" dirty="0">
                <a:solidFill>
                  <a:srgbClr val="1A1A1A"/>
                </a:solidFill>
              </a:rPr>
              <a:t>• Respect others when they are speaking</a:t>
            </a:r>
          </a:p>
          <a:p>
            <a:pPr algn="l"/>
            <a:endParaRPr lang="en-US" sz="1400" dirty="0">
              <a:solidFill>
                <a:srgbClr val="1A1A1A"/>
              </a:solidFill>
            </a:endParaRPr>
          </a:p>
          <a:p>
            <a:pPr algn="l"/>
            <a:r>
              <a:rPr lang="en-US" sz="2000" dirty="0">
                <a:solidFill>
                  <a:srgbClr val="1A1A1A"/>
                </a:solidFill>
              </a:rPr>
              <a:t>• Mobile phones on silent during the session</a:t>
            </a:r>
          </a:p>
        </p:txBody>
      </p:sp>
      <p:pic>
        <p:nvPicPr>
          <p:cNvPr id="6" name="Imagin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5900" y="88900"/>
            <a:ext cx="1371600" cy="1371600"/>
          </a:xfrm>
          <a:prstGeom prst="rect">
            <a:avLst/>
          </a:prstGeom>
        </p:spPr>
      </p:pic>
      <p:sp>
        <p:nvSpPr>
          <p:cNvPr id="16" name="Rectangle 16"/>
          <p:cNvSpPr/>
          <p:nvPr/>
        </p:nvSpPr>
        <p:spPr>
          <a:xfrm>
            <a:off x="0" y="6604000"/>
            <a:ext cx="3048000" cy="76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7"/>
          <p:cNvSpPr/>
          <p:nvPr/>
        </p:nvSpPr>
        <p:spPr>
          <a:xfrm>
            <a:off x="3048000" y="6604000"/>
            <a:ext cx="30480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8"/>
          <p:cNvSpPr/>
          <p:nvPr/>
        </p:nvSpPr>
        <p:spPr>
          <a:xfrm>
            <a:off x="6096000" y="6604000"/>
            <a:ext cx="6096000" cy="762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6223000" y="6578600"/>
            <a:ext cx="3556000" cy="127000"/>
          </a:xfrm>
          <a:prstGeom prst="rect">
            <a:avLst/>
          </a:prstGeom>
        </p:spPr>
        <p:txBody>
          <a:bodyPr wrap="square" rtlCol="0" anchor="ctr">
            <a:normAutofit fontScale="25000" lnSpcReduction="20000"/>
          </a:bodyPr>
          <a:lstStyle/>
          <a:p>
            <a:pPr algn="l"/>
            <a:r>
              <a:rPr lang="en-US" sz="800" b="1" dirty="0">
                <a:solidFill>
                  <a:srgbClr val="0056B8"/>
                </a:solidFill>
              </a:rPr>
              <a:t>END-TO-END SOLUTIONS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9100" y="6667500"/>
            <a:ext cx="381000" cy="177800"/>
          </a:xfrm>
          <a:prstGeom prst="rect">
            <a:avLst/>
          </a:prstGeom>
        </p:spPr>
        <p:txBody>
          <a:bodyPr wrap="square" rtlCol="0" anchor="ctr">
            <a:normAutofit fontScale="70000" lnSpcReduction="20000"/>
          </a:bodyPr>
          <a:lstStyle/>
          <a:p>
            <a:pPr algn="l"/>
            <a:r>
              <a:rPr lang="en-US" sz="900" dirty="0">
                <a:solidFill>
                  <a:srgbClr val="33333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0143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5542723"/>
            <a:ext cx="12191999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673100" indent="-914400" algn="ctr" defTabSz="457200">
              <a:defRPr sz="1800" b="1">
                <a:solidFill>
                  <a:srgbClr val="1270B8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lang="de-DE" sz="1400" b="1" dirty="0">
                <a:solidFill>
                  <a:srgbClr val="1270B8"/>
                </a:solidFill>
                <a:latin typeface="Arial"/>
                <a:cs typeface="Arial"/>
                <a:sym typeface="Arial"/>
              </a:rPr>
              <a:t>Arabian Pipeline &amp; Services Co. Ltd. </a:t>
            </a:r>
            <a:r>
              <a:rPr lang="de-DE" sz="1400" b="1" dirty="0">
                <a:solidFill>
                  <a:srgbClr val="F28523"/>
                </a:solidFill>
                <a:latin typeface="Arial"/>
                <a:cs typeface="Arial"/>
                <a:sym typeface="Arial"/>
              </a:rPr>
              <a:t>(ANABEEB)</a:t>
            </a:r>
          </a:p>
          <a:p>
            <a:pPr marR="673100" indent="-914400" algn="ctr" defTabSz="457200">
              <a:defRPr sz="1800" b="1">
                <a:solidFill>
                  <a:srgbClr val="1270B8"/>
                </a:solidFill>
                <a:latin typeface="+mj-lt"/>
                <a:ea typeface="+mj-ea"/>
                <a:cs typeface="+mj-cs"/>
                <a:sym typeface="Arial"/>
              </a:defRPr>
            </a:pPr>
            <a:endParaRPr lang="de-DE" sz="1200" b="1" dirty="0">
              <a:solidFill>
                <a:srgbClr val="1270B8"/>
              </a:solidFill>
              <a:latin typeface="Arial"/>
              <a:cs typeface="Arial"/>
              <a:sym typeface="Arial"/>
            </a:endParaRPr>
          </a:p>
          <a:p>
            <a:pPr marR="673100" indent="-914400" algn="ctr" defTabSz="457200">
              <a:defRPr sz="1300">
                <a:solidFill>
                  <a:srgbClr val="929292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lang="de-DE" dirty="0">
                <a:solidFill>
                  <a:srgbClr val="929292"/>
                </a:solidFill>
                <a:latin typeface="Arial"/>
                <a:cs typeface="Arial"/>
                <a:sym typeface="Arial"/>
              </a:rPr>
              <a:t>    P.O. Box 234 Al Jubail      |     Tel:  +966 13 362 0556 	|    Fax: +966 13 361 4990    |     Email: </a:t>
            </a:r>
            <a:r>
              <a:rPr lang="de-DE" dirty="0">
                <a:solidFill>
                  <a:srgbClr val="929292"/>
                </a:solidFill>
                <a:latin typeface="Arial"/>
                <a:cs typeface="Arial"/>
                <a:sym typeface="Arial"/>
                <a:hlinkClick r:id="rId2"/>
              </a:rPr>
              <a:t>info@anabeeb.com</a:t>
            </a:r>
            <a:r>
              <a:rPr lang="de-DE" dirty="0">
                <a:solidFill>
                  <a:srgbClr val="929292"/>
                </a:solidFill>
                <a:latin typeface="Arial"/>
                <a:cs typeface="Arial"/>
                <a:sym typeface="Arial"/>
              </a:rPr>
              <a:t>	|    Website: www.anabeeb.com</a:t>
            </a:r>
            <a:endParaRPr lang="de-DE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66DAFB-B769-3042-808E-54CF884C375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3482" y="78259"/>
            <a:ext cx="472503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AD869B-D326-6D4C-9CAD-78EBF11A20B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3482" y="87224"/>
            <a:ext cx="4725035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37842"/>
      </p:ext>
    </p:extLst>
  </p:cSld>
  <p:clrMapOvr>
    <a:masterClrMapping/>
  </p:clrMapOvr>
</p:sld>
</file>

<file path=ppt/theme/theme1.xml><?xml version="1.0" encoding="utf-8"?>
<a:theme xmlns:a="http://schemas.openxmlformats.org/drawingml/2006/main" name="ANABEEB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0AEE36A-B17A-2B41-99CC-885A0A098DBB}">
  <we:reference id="wa200011057" version="1.0.0.2" store="en-US" storeType="OMEX"/>
  <we:alternateReferences>
    <we:reference id="WA200011057" version="1.0.0.2" store="WA200011057" storeType="OMEX"/>
  </we:alternateReferences>
  <we:properties>
    <we:property name="_postImportCommit" value="1784036204794"/>
    <we:property name="_flush" value="1784036204794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50052</TotalTime>
  <Words>938</Words>
  <Application>Microsoft Macintosh PowerPoint</Application>
  <PresentationFormat>Widescreen</PresentationFormat>
  <Paragraphs>151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ANABEEB Theme</vt:lpstr>
      <vt:lpstr>PowerPoint Presentation</vt:lpstr>
      <vt:lpstr>NEBOSH Verified Program</vt:lpstr>
      <vt:lpstr>What is High Pressure Water Jetting?</vt:lpstr>
      <vt:lpstr>Where HPWJ is Used on Our Sites</vt:lpstr>
      <vt:lpstr>Why Waterjet Injuries Are Different</vt:lpstr>
      <vt:lpstr>Types of Waterjet Injury</vt:lpstr>
      <vt:lpstr>Real Incident Examples – Never Again</vt:lpstr>
      <vt:lpstr>The Medical Alert Card – Your Lifeline</vt:lpstr>
      <vt:lpstr>NEBOSH Verified Programme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ANABEEB ICT</dc:creator>
  <cp:keywords/>
  <dc:description/>
  <cp:lastModifiedBy>Jacques Theron</cp:lastModifiedBy>
  <cp:revision>510</cp:revision>
  <cp:lastPrinted>2018-01-08T07:36:03Z</cp:lastPrinted>
  <dcterms:created xsi:type="dcterms:W3CDTF">2017-09-24T10:31:04Z</dcterms:created>
  <dcterms:modified xsi:type="dcterms:W3CDTF">2026-07-14T13:41:36Z</dcterms:modified>
  <cp:category/>
</cp:coreProperties>
</file>