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2" r:id="rId20"/>
    <p:sldId id="287" r:id="rId21"/>
    <p:sldId id="286" r:id="rId22"/>
    <p:sldId id="288" r:id="rId23"/>
    <p:sldId id="285" r:id="rId24"/>
    <p:sldId id="289" r:id="rId25"/>
    <p:sldId id="284" r:id="rId26"/>
    <p:sldId id="283" r:id="rId27"/>
    <p:sldId id="278" r:id="rId28"/>
    <p:sldId id="277" r:id="rId29"/>
    <p:sldId id="276" r:id="rId30"/>
    <p:sldId id="275" r:id="rId31"/>
    <p:sldId id="294" r:id="rId32"/>
    <p:sldId id="293" r:id="rId33"/>
    <p:sldId id="292" r:id="rId34"/>
    <p:sldId id="290" r:id="rId35"/>
    <p:sldId id="304" r:id="rId36"/>
    <p:sldId id="303" r:id="rId37"/>
    <p:sldId id="302" r:id="rId38"/>
    <p:sldId id="301" r:id="rId39"/>
    <p:sldId id="300" r:id="rId40"/>
    <p:sldId id="299" r:id="rId4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444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8898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624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7030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8244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1624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2363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2747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991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5707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9549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3640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109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3440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5301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2717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66837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0643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71138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3709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78426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86432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80641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333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Pressure Water Jetting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Operator Training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(Awareness &amp; Field Verification)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3200400"/>
            <a:ext cx="2743200" cy="4572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– Safety Foundation, Hazards, Medical Response &amp; Controls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HSE &amp; Training  |  NEBOSH Verified Programme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NEBOSH Verified Programme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programme is delivered to NEBOSH Verified standards.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follows industry best practices and international standards for high pressure water jetting operations.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1645920"/>
          </a:xfrm>
          <a:prstGeom prst="roundRect">
            <a:avLst>
              <a:gd name="adj" fmla="val 5556"/>
            </a:avLst>
          </a:prstGeom>
          <a:solidFill>
            <a:srgbClr val="F0F7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5603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receive an Anabeeb certificate and personal Medical Alert Card upon successful completion of the full 3-day programme and assessments.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Learning Outcomes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today you will be able to: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Understand why high pressure water jetting injuries are different and serious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Explain the Medical Alert Card and when to use 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Apply the hierarchy of controls and key site safety rules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Understand how the system creates pressure and why control of relief is critical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Recognise Stop Work Authority and when to use 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High Pressure Water Jetting?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pressure water jetting uses a pump to move large volumes of water through a small nozzle.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nozzle creates the cutting or cleaning force.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Pressures commonly reach 10,000 to 20,000 psi on Anabeeb work.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used for surface cleaning, tube cleaning, pipe cleaning and more during shutdowns and maintenance.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8229600" cy="1645920"/>
          </a:xfrm>
          <a:prstGeom prst="roundRect">
            <a:avLst>
              <a:gd name="adj" fmla="val 5556"/>
            </a:avLst>
          </a:prstGeom>
          <a:solidFill>
            <a:srgbClr val="FFF5F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175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Principle: The pump moves the water. The nozzle turns that flow into extreme force. This is a controlled cutting tool – not just cleaning equipment.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HPWJ is Used on Our Sites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applications on Anabeeb and client sites: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Heat exchanger and bundle cleaning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Pipe and line cleaning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Surface preparation before coating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Vessel and tank cleaning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0F7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5661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work is always part of shutdown and turnaround activities. Strict controls are required every time.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Waterjet Injuries Are Different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Waterjet injuries are different from normal cuts or bruises.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a small external wound can hide severe internal damage.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attention is required for ALL suspected waterjet injuries – no exceptions.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FFF5F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0604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Medical Alert Card tells medical staff exactly what to look for and what treatment is needed. It can save your life.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Waterjet Injury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Water-Cut – direct injection of water into the body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Water-Burst – sudden high-velocity burst penetrating tissue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Struck-By – hose, tool or debris hitting the body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5F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15468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must be treated seriously. The Medical Alert Card covers all types. Never assume an injury is minor.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Incident Examples – Never Again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incidents have happened in the industry: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Hose failure causing struck-by injury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Jet cutting through PPE and causing internal damage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Delayed medical treatment because the injury looked minor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FF5F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2608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Lesson: Proper controls, pre-use inspection and immediate medical response save lives. We study these incidents so we never repeat them.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Medical Alert Card – Your Lifeline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 today – you must carry it on every high pressure water jetting job.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Waterproof and easy to access.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Tells medical staff exactly what treatment is needed.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FFF5F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mandatory safety requirement – not optional. From this moment you are never allowed on a HPWJ job without this card in your possession.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– Issue Medical Alert Cards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will now issue one Medical Alert Card to each participant.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Sign the training roster to confirm receipt and understanding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Read the card aloud together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Photograph each participant holding their card for records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0F7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2608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this moment the card must be with you on every HPWJ job. It is your responsibility.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Hierarchy of Controls – Industry Best Practice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always apply the hierarchy of controls: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Elimination / Substitution – remove the hazard where possible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Engineering Controls – automation, mechanised systems, guards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Administrative Controls – permits, JSA, procedures, training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PPE – last line of defence, never the only control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0F7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918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 automated or mechanised methods are always preferred where reasonably practicable.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Site Safety Requirements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Anabeeb and client sites we require: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 permit-to-work before any pressurised work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Job Safety Analysis (JSA) completed and reviewed by the team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Buddy system – no lone working allowed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Proper barricading and exclusion zones (minimum safe distance)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Heat stress controls and work-rest rotation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5F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49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mandatory requirements – not optional.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Barricading and Exclusion Zones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 barricades must be erected before any pressurised work.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safe distance follows industry best practice (typically 6 metres in all directions).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red barricade tape with clear “DANGER – HIGH PRESSURE WATER JETTING IN PROGRESS” signage.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authorised personnel inside the barricaded area.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0F7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2608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full distance cannot be achieved, additional controls (shrouds, shielding) must be used. Never start work without proper barricading.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Stress &amp; Work Rotation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KSA weather can be extremely hot. Heat stress is a real hazard during HPWJ work.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work-rest regimen and rotation of duties.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each other for early signs of heat exhaustion.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hydration stations and shaded rest areas.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FF5F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2608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practical days we rotate frequently to keep everyone safe. Safety includes looking after each other in the heat.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Fundamentals – Pressure vs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pump moves (displaces) water – it does not create pressure by itself.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is created only when the flow is restricted at the nozzle.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pressure with a smaller orifice gives greater cutting power but also greater reaction force on the operator.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0F7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9748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Rule: The nozzle operator must always have control of the pressure relief. Know exactly where the water is going at all times.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Relief Control &amp; Operator Responsibility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pressure relief control styles exist on site (standard dump, pneumatic, electrical).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nozzle operator must always have positive control of the pressure relief method.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styles may add extra steps but never change the safety sequence.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FF5F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3464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start work if you do not fully understand and control the relief system on the equipment you are using.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Work Authority (SWA)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the authority and the duty to stop work if conditions are unsafe.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work if: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Equipment is not properly inspected or barricaded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 are unsure about any control or procedure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Heat stress or fatigue is affecting the team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Any team member raises a concern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0F7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5661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penalty for stopping work for safety reasons. Use your SWA – it protects you and your team.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Summary &amp; Key Takeaways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 from today: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Waterjet injuries can be severe even when they look minor – always use the Medical Alert Card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Follow the hierarchy of controls – safer methods first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Mandatory controls: PTW, JSA, buddy system, barricading, heat stress rotation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nozzle operator must control pressure relief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 have Stop Work Authority – use 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0F7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03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Tomorrow: Equipment, Pre-Use Inspection, PPE and Job Planning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81981"/>
            <a:ext cx="9144000" cy="78197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Rectangle 7"/>
          <p:cNvSpPr/>
          <p:nvPr/>
        </p:nvSpPr>
        <p:spPr>
          <a:xfrm>
            <a:off x="466675" y="750082"/>
            <a:ext cx="729628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High-Pressure (HP) Pump Training Module</a:t>
            </a:r>
          </a:p>
          <a:p>
            <a:r>
              <a:rPr lang="en-US" i="1" dirty="0"/>
              <a:t>(Applicable to 10K, </a:t>
            </a:r>
            <a:r>
              <a:rPr lang="en-US" i="1" dirty="0" smtClean="0"/>
              <a:t>and 20K,High-Pressure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b="1" dirty="0" smtClean="0"/>
              <a:t>Introduction </a:t>
            </a:r>
            <a:r>
              <a:rPr lang="en-US" b="1" dirty="0"/>
              <a:t>to a High-Pressure (HP) </a:t>
            </a:r>
            <a:r>
              <a:rPr lang="en-US" b="1" dirty="0" smtClean="0"/>
              <a:t>Pump</a:t>
            </a:r>
          </a:p>
          <a:p>
            <a:endParaRPr lang="en-US" b="1" dirty="0"/>
          </a:p>
          <a:p>
            <a:r>
              <a:rPr lang="en-US" dirty="0"/>
              <a:t>A </a:t>
            </a:r>
            <a:r>
              <a:rPr lang="en-US" b="1" dirty="0"/>
              <a:t>High-Pressure (HP) Pump</a:t>
            </a:r>
            <a:r>
              <a:rPr lang="en-US" dirty="0"/>
              <a:t> is a positive displacement pump designed to convert mechanical energy from a diesel engine </a:t>
            </a:r>
            <a:r>
              <a:rPr lang="en-US" dirty="0" smtClean="0"/>
              <a:t>into </a:t>
            </a:r>
            <a:r>
              <a:rPr lang="en-US" dirty="0"/>
              <a:t>high-pressure water.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pump delivers water at pressures ranging from </a:t>
            </a:r>
            <a:r>
              <a:rPr lang="en-US" dirty="0" smtClean="0"/>
              <a:t>0-</a:t>
            </a:r>
            <a:r>
              <a:rPr lang="en-US" b="1" dirty="0" smtClean="0"/>
              <a:t>10,000 </a:t>
            </a:r>
            <a:r>
              <a:rPr lang="en-US" b="1" dirty="0"/>
              <a:t>psi (690 bar</a:t>
            </a:r>
            <a:r>
              <a:rPr lang="en-US" b="1" dirty="0" smtClean="0"/>
              <a:t>) 0-20,000 </a:t>
            </a:r>
            <a:r>
              <a:rPr lang="en-US" b="1" dirty="0"/>
              <a:t>psi </a:t>
            </a:r>
            <a:r>
              <a:rPr lang="en-US" b="1" dirty="0" smtClean="0"/>
              <a:t>(1,379 </a:t>
            </a:r>
            <a:r>
              <a:rPr lang="en-US" b="1" dirty="0"/>
              <a:t>bar)</a:t>
            </a:r>
            <a:r>
              <a:rPr lang="en-US" dirty="0"/>
              <a:t> or higher for industrial cleaning applications.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675" y="3342293"/>
            <a:ext cx="7308894" cy="1506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Main Functions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Generate high-pressure water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Supply constant water flow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Maintain operating pressure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Deliver water safely to the jetting tool</a:t>
            </a:r>
          </a:p>
        </p:txBody>
      </p:sp>
      <p:sp>
        <p:nvSpPr>
          <p:cNvPr id="12" name="Text 1"/>
          <p:cNvSpPr/>
          <p:nvPr/>
        </p:nvSpPr>
        <p:spPr>
          <a:xfrm>
            <a:off x="609600" y="6412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of HP pump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145104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81981"/>
            <a:ext cx="9144000" cy="78197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8744" y="699989"/>
            <a:ext cx="8234721" cy="4146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/>
              <a:t>Main Parts of an HP Pump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784205"/>
              </p:ext>
            </p:extLst>
          </p:nvPr>
        </p:nvGraphicFramePr>
        <p:xfrm>
          <a:off x="918734" y="1052560"/>
          <a:ext cx="7886700" cy="36576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257449883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1782101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Part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9987956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996927"/>
              </p:ext>
            </p:extLst>
          </p:nvPr>
        </p:nvGraphicFramePr>
        <p:xfrm>
          <a:off x="918729" y="1512613"/>
          <a:ext cx="2619048" cy="365760"/>
        </p:xfrm>
        <a:graphic>
          <a:graphicData uri="http://schemas.openxmlformats.org/drawingml/2006/table">
            <a:tbl>
              <a:tblPr/>
              <a:tblGrid>
                <a:gridCol w="2619048">
                  <a:extLst>
                    <a:ext uri="{9D8B030D-6E8A-4147-A177-3AD203B41FA5}">
                      <a16:colId xmlns:a16="http://schemas.microsoft.com/office/drawing/2014/main" val="16181331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Power Unit </a:t>
                      </a:r>
                      <a:r>
                        <a:rPr lang="en-US" dirty="0" smtClean="0"/>
                        <a:t>Diesel Engine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0274919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26895"/>
              </p:ext>
            </p:extLst>
          </p:nvPr>
        </p:nvGraphicFramePr>
        <p:xfrm>
          <a:off x="4942096" y="1512033"/>
          <a:ext cx="1849689" cy="366340"/>
        </p:xfrm>
        <a:graphic>
          <a:graphicData uri="http://schemas.openxmlformats.org/drawingml/2006/table">
            <a:tbl>
              <a:tblPr/>
              <a:tblGrid>
                <a:gridCol w="1849689">
                  <a:extLst>
                    <a:ext uri="{9D8B030D-6E8A-4147-A177-3AD203B41FA5}">
                      <a16:colId xmlns:a16="http://schemas.microsoft.com/office/drawing/2014/main" val="1773033539"/>
                    </a:ext>
                  </a:extLst>
                </a:gridCol>
              </a:tblGrid>
              <a:tr h="366340">
                <a:tc>
                  <a:txBody>
                    <a:bodyPr/>
                    <a:lstStyle/>
                    <a:p>
                      <a:r>
                        <a:rPr lang="en-US" dirty="0"/>
                        <a:t>Drives the pump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8352854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923850" y="1922307"/>
            <a:ext cx="21719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Triplex Plunger Pump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42096" y="1878373"/>
            <a:ext cx="29794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Produces high-pressure water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729" y="2335573"/>
            <a:ext cx="9882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Plungers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42096" y="2335573"/>
            <a:ext cx="3271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Compress water to high pressure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729" y="2705483"/>
            <a:ext cx="15257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Suction Valves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42096" y="2702458"/>
            <a:ext cx="24379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Allow water into pump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729" y="3115724"/>
            <a:ext cx="18168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Discharge Valves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42096" y="3074815"/>
            <a:ext cx="2565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Deliver pressurized water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729" y="3574292"/>
            <a:ext cx="3462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Pressure Regulator/Unloader Valve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42096" y="3493271"/>
            <a:ext cx="18287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Controls pressure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850" y="3982222"/>
            <a:ext cx="2121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Pressure Relief Valve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42096" y="3943624"/>
            <a:ext cx="2348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Prevents over-pressure</a:t>
            </a:r>
          </a:p>
        </p:txBody>
      </p:sp>
      <p:sp>
        <p:nvSpPr>
          <p:cNvPr id="28" name="Text 1"/>
          <p:cNvSpPr/>
          <p:nvPr/>
        </p:nvSpPr>
        <p:spPr>
          <a:xfrm>
            <a:off x="609600" y="6412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of HP pump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074658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81981"/>
            <a:ext cx="9144000" cy="78197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Rectangle 3"/>
          <p:cNvSpPr/>
          <p:nvPr/>
        </p:nvSpPr>
        <p:spPr>
          <a:xfrm>
            <a:off x="918780" y="751206"/>
            <a:ext cx="16434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Pressure Gauge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93455" y="747866"/>
            <a:ext cx="27606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Displays operating pressure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8780" y="1172745"/>
            <a:ext cx="27043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Water Filter (Inlet Strainer)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93455" y="1172745"/>
            <a:ext cx="30777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Prevents debris entering pump</a:t>
            </a:r>
          </a:p>
        </p:txBody>
      </p:sp>
      <p:sp>
        <p:nvSpPr>
          <p:cNvPr id="9" name="Rectangle 8"/>
          <p:cNvSpPr/>
          <p:nvPr/>
        </p:nvSpPr>
        <p:spPr>
          <a:xfrm>
            <a:off x="918780" y="1593294"/>
            <a:ext cx="2570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Water Supply Connection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93455" y="1589954"/>
            <a:ext cx="21123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Supplies clean water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780" y="1959286"/>
            <a:ext cx="22240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HP Outlet Connection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93455" y="1953351"/>
            <a:ext cx="18710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Connects HP hose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780" y="2328618"/>
            <a:ext cx="23887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Emergency Stop Button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92528" y="2322683"/>
            <a:ext cx="3194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Immediately shuts down system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780" y="2690339"/>
            <a:ext cx="10643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Fuel Tank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92528" y="2692015"/>
            <a:ext cx="17840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Stores diesel fuel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7529" y="3052060"/>
            <a:ext cx="21311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Engine Control Panel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93455" y="3053363"/>
            <a:ext cx="25849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Controls engine functions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780" y="3421392"/>
            <a:ext cx="867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Battery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93455" y="3414711"/>
            <a:ext cx="14113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Starts engine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3318" y="3796286"/>
            <a:ext cx="15008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Oil Reservoir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93455" y="3792028"/>
            <a:ext cx="18218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Lubricates pump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7529" y="4174544"/>
            <a:ext cx="16741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Cooling System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34467" y="4176976"/>
            <a:ext cx="33103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Maintains operating temperature</a:t>
            </a:r>
          </a:p>
        </p:txBody>
      </p:sp>
      <p:sp>
        <p:nvSpPr>
          <p:cNvPr id="27" name="Text 1"/>
          <p:cNvSpPr/>
          <p:nvPr/>
        </p:nvSpPr>
        <p:spPr>
          <a:xfrm>
            <a:off x="609600" y="6412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of HP pump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362057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81981"/>
            <a:ext cx="9144000" cy="78197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Rectangle 5"/>
          <p:cNvSpPr/>
          <p:nvPr/>
        </p:nvSpPr>
        <p:spPr>
          <a:xfrm>
            <a:off x="920707" y="707663"/>
            <a:ext cx="66467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Before operating the HP pump, perform the following inspections.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707" y="1128603"/>
            <a:ext cx="20095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Barricades installed</a:t>
            </a:r>
          </a:p>
        </p:txBody>
      </p:sp>
      <p:sp>
        <p:nvSpPr>
          <p:cNvPr id="8" name="Rectangle 7"/>
          <p:cNvSpPr/>
          <p:nvPr/>
        </p:nvSpPr>
        <p:spPr>
          <a:xfrm>
            <a:off x="920707" y="1424994"/>
            <a:ext cx="19624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Sign Board in place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682812" y="1757411"/>
            <a:ext cx="1789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Pump Inspection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0707" y="2064180"/>
            <a:ext cx="15887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Engine oil level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707" y="2386219"/>
            <a:ext cx="15021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Pump oil level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0707" y="2692988"/>
            <a:ext cx="10709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Fuel level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0707" y="3026573"/>
            <a:ext cx="1478990" cy="3788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Cooling water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707" y="3328458"/>
            <a:ext cx="1807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Battery condition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0707" y="3665178"/>
            <a:ext cx="19925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Belts and couplings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91020" y="3398404"/>
            <a:ext cx="1272381" cy="3724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No oil leaks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91020" y="2064149"/>
            <a:ext cx="1573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No water leaks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70963" y="2327449"/>
            <a:ext cx="25848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Pressure gauge </a:t>
            </a:r>
            <a:r>
              <a:rPr lang="en-US" dirty="0" smtClean="0"/>
              <a:t>calibrated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5491020" y="2693210"/>
            <a:ext cx="26802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Emergency stop functional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91020" y="3031736"/>
            <a:ext cx="26721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Safety relief valve installed</a:t>
            </a:r>
          </a:p>
        </p:txBody>
      </p:sp>
      <p:sp>
        <p:nvSpPr>
          <p:cNvPr id="23" name="Text 1"/>
          <p:cNvSpPr/>
          <p:nvPr/>
        </p:nvSpPr>
        <p:spPr>
          <a:xfrm>
            <a:off x="609600" y="6412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Pre-Start up of HP pump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990210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81981"/>
            <a:ext cx="9144000" cy="78197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Rectangle 3"/>
          <p:cNvSpPr/>
          <p:nvPr/>
        </p:nvSpPr>
        <p:spPr>
          <a:xfrm>
            <a:off x="922165" y="703140"/>
            <a:ext cx="20297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HP Hose Inspection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9340" y="1126998"/>
            <a:ext cx="23360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Correct pressure rating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919340" y="1415534"/>
            <a:ext cx="8947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No cuts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9340" y="1758596"/>
            <a:ext cx="11172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No bulges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9340" y="2079447"/>
            <a:ext cx="20806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No damaged fittings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9340" y="2448779"/>
            <a:ext cx="28112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Safety whip checks installed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9340" y="2818111"/>
            <a:ext cx="2433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Hose restraints installed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9340" y="3138962"/>
            <a:ext cx="19298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Hose routed safely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95627" y="713247"/>
            <a:ext cx="22277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Gun / Tool Inspection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90994" y="1070337"/>
            <a:ext cx="19514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Trigger functioning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95627" y="1423392"/>
            <a:ext cx="14225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Trigger guard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95627" y="1781898"/>
            <a:ext cx="12678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Safety latch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90994" y="2131079"/>
            <a:ext cx="15219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Correct nozzle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95627" y="2445811"/>
            <a:ext cx="14897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Lance straight</a:t>
            </a:r>
          </a:p>
        </p:txBody>
      </p:sp>
      <p:sp>
        <p:nvSpPr>
          <p:cNvPr id="21" name="Text 1"/>
          <p:cNvSpPr/>
          <p:nvPr/>
        </p:nvSpPr>
        <p:spPr>
          <a:xfrm>
            <a:off x="609600" y="6412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Pre-Start up of HP pump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58026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31531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Rectangle 5"/>
          <p:cNvSpPr/>
          <p:nvPr/>
        </p:nvSpPr>
        <p:spPr>
          <a:xfrm>
            <a:off x="919362" y="704510"/>
            <a:ext cx="14783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Safety helmet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9362" y="1046780"/>
            <a:ext cx="12155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Face shield</a:t>
            </a:r>
          </a:p>
        </p:txBody>
      </p:sp>
      <p:sp>
        <p:nvSpPr>
          <p:cNvPr id="8" name="Rectangle 7"/>
          <p:cNvSpPr/>
          <p:nvPr/>
        </p:nvSpPr>
        <p:spPr>
          <a:xfrm>
            <a:off x="919362" y="1423576"/>
            <a:ext cx="15201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Safety goggles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9362" y="1764111"/>
            <a:ext cx="19529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Hearing protection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9362" y="2138172"/>
            <a:ext cx="18106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Water jetting suit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9362" y="2511764"/>
            <a:ext cx="2023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Cut-resistant gloves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9362" y="2878681"/>
            <a:ext cx="1616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Steel-toe boots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9362" y="3248013"/>
            <a:ext cx="20806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Waterproof clothing</a:t>
            </a:r>
          </a:p>
        </p:txBody>
      </p:sp>
      <p:sp>
        <p:nvSpPr>
          <p:cNvPr id="16" name="Text 1"/>
          <p:cNvSpPr/>
          <p:nvPr/>
        </p:nvSpPr>
        <p:spPr>
          <a:xfrm>
            <a:off x="609600" y="6412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HPWJ PPE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872596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81981"/>
            <a:ext cx="9144000" cy="78197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pPr algn="ctr"/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Rectangle 3"/>
          <p:cNvSpPr/>
          <p:nvPr/>
        </p:nvSpPr>
        <p:spPr>
          <a:xfrm>
            <a:off x="918035" y="706295"/>
            <a:ext cx="22881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Park on stable ground.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8035" y="1041682"/>
            <a:ext cx="15247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Chock wheels.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8035" y="1417320"/>
            <a:ext cx="2258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Connect suction hose.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8035" y="1792958"/>
            <a:ext cx="22041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Connect to HP outlet.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8035" y="2165628"/>
            <a:ext cx="1991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Install whip checks.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8035" y="2534960"/>
            <a:ext cx="16483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Tighten fittings.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035" y="2872403"/>
            <a:ext cx="16516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Long barrel gun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035" y="3241735"/>
            <a:ext cx="21692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Select correct nozzle.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035" y="3614405"/>
            <a:ext cx="25303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Verify nozzle orientation.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035" y="3983737"/>
            <a:ext cx="17600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Tighten securely.</a:t>
            </a:r>
          </a:p>
        </p:txBody>
      </p:sp>
      <p:sp>
        <p:nvSpPr>
          <p:cNvPr id="17" name="Text 1"/>
          <p:cNvSpPr/>
          <p:nvPr/>
        </p:nvSpPr>
        <p:spPr>
          <a:xfrm>
            <a:off x="609600" y="6412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HPWJ Line-Up Procedure</a:t>
            </a:r>
            <a:endParaRPr lang="en-US" sz="22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06" y="1355845"/>
            <a:ext cx="4371002" cy="2729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876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81981"/>
            <a:ext cx="9144000" cy="78197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pPr algn="ctr"/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Rectangle 6"/>
          <p:cNvSpPr/>
          <p:nvPr/>
        </p:nvSpPr>
        <p:spPr>
          <a:xfrm>
            <a:off x="3903523" y="700096"/>
            <a:ext cx="1343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Air Bleeding</a:t>
            </a:r>
            <a:endParaRPr lang="en-US" b="1" dirty="0"/>
          </a:p>
        </p:txBody>
      </p:sp>
      <p:sp>
        <p:nvSpPr>
          <p:cNvPr id="8" name="Rectangle 7"/>
          <p:cNvSpPr/>
          <p:nvPr/>
        </p:nvSpPr>
        <p:spPr>
          <a:xfrm>
            <a:off x="2750336" y="1205644"/>
            <a:ext cx="18910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Open dump valve.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50336" y="1570878"/>
            <a:ext cx="1933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Start water supply.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50336" y="1946306"/>
            <a:ext cx="3932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Allow water to flow until air is removed.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50336" y="2315745"/>
            <a:ext cx="18830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Close dump valve.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3188" y="2806265"/>
            <a:ext cx="146032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Start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50336" y="3206375"/>
            <a:ext cx="20135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Start engine at idle.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50336" y="3575707"/>
            <a:ext cx="19467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Check oil pressure.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50336" y="3942071"/>
            <a:ext cx="26241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Listen for abnormal noise.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50336" y="4307280"/>
            <a:ext cx="16492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Check for leaks.</a:t>
            </a:r>
          </a:p>
        </p:txBody>
      </p:sp>
      <p:sp>
        <p:nvSpPr>
          <p:cNvPr id="19" name="Text 1"/>
          <p:cNvSpPr/>
          <p:nvPr/>
        </p:nvSpPr>
        <p:spPr>
          <a:xfrm>
            <a:off x="609600" y="6412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HP Pump Start-Up and Air Bleeding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929541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81981"/>
            <a:ext cx="9144000" cy="78197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pPr lvl="8"/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Rectangle 6"/>
          <p:cNvSpPr/>
          <p:nvPr/>
        </p:nvSpPr>
        <p:spPr>
          <a:xfrm>
            <a:off x="3758851" y="703327"/>
            <a:ext cx="16389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Increase RPM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8162" y="1106775"/>
            <a:ext cx="32314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Increase engine speed gradually.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8162" y="1460526"/>
            <a:ext cx="24938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Observe pressure gauge.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8162" y="1783080"/>
            <a:ext cx="34287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Confirm stable operating pressure.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83179" y="2273196"/>
            <a:ext cx="17802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Functional Test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8162" y="2630644"/>
            <a:ext cx="23671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Before beginning work: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8162" y="3043480"/>
            <a:ext cx="15996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Test </a:t>
            </a:r>
            <a:r>
              <a:rPr lang="en-US" dirty="0" smtClean="0"/>
              <a:t>the trigger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748162" y="3413872"/>
            <a:ext cx="16932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Test dump valve</a:t>
            </a:r>
          </a:p>
        </p:txBody>
      </p:sp>
      <p:sp>
        <p:nvSpPr>
          <p:cNvPr id="17" name="Text 1"/>
          <p:cNvSpPr/>
          <p:nvPr/>
        </p:nvSpPr>
        <p:spPr>
          <a:xfrm>
            <a:off x="609600" y="6412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HP Pump Start-Up and Air Bleeding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18654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23857" y="731195"/>
            <a:ext cx="29607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/>
              <a:t>Practical Learning Objectives</a:t>
            </a:r>
            <a:endParaRPr lang="en-US" sz="1600" b="1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Rectangle 6"/>
          <p:cNvSpPr/>
          <p:nvPr/>
        </p:nvSpPr>
        <p:spPr>
          <a:xfrm>
            <a:off x="920423" y="1207495"/>
            <a:ext cx="44212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Identify all HPWJ equipment and accessories.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20423" y="1568866"/>
            <a:ext cx="2794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Perform pre-use inspection.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920423" y="1938198"/>
            <a:ext cx="40821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Complete proper line-up of the HP pump.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857" y="2315084"/>
            <a:ext cx="2865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Operate the HP pump safely.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423" y="2695308"/>
            <a:ext cx="30934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Use a long barrel gun correctly.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0423" y="3056198"/>
            <a:ext cx="57228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Maintain correct body position and reaction force control.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0423" y="3443976"/>
            <a:ext cx="49154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Communicate effectively with the pump operator.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857" y="3831754"/>
            <a:ext cx="56217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Complete post-job shutdown and equipment inspection.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0987" y="4213890"/>
            <a:ext cx="56217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Use of Foot Valve, Creeping Hose and Catcher</a:t>
            </a:r>
            <a:endParaRPr lang="en-US" dirty="0"/>
          </a:p>
        </p:txBody>
      </p:sp>
      <p:sp>
        <p:nvSpPr>
          <p:cNvPr id="18" name="Text 1"/>
          <p:cNvSpPr/>
          <p:nvPr/>
        </p:nvSpPr>
        <p:spPr>
          <a:xfrm>
            <a:off x="609600" y="6412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HP Pump Start-Up and Air Bleeding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808951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Rectangle 5"/>
          <p:cNvSpPr/>
          <p:nvPr/>
        </p:nvSpPr>
        <p:spPr>
          <a:xfrm>
            <a:off x="918176" y="739404"/>
            <a:ext cx="30673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Long Barrel Gun Operation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8176" y="1139514"/>
            <a:ext cx="40383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Trainer </a:t>
            </a:r>
            <a:r>
              <a:rPr lang="en-US" dirty="0" smtClean="0"/>
              <a:t>demonstrates the Correct Stance: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8176" y="1505274"/>
            <a:ext cx="26342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Feet shoulder-width apart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176" y="1875210"/>
            <a:ext cx="19417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Knees slightly bent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176" y="2244542"/>
            <a:ext cx="2879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Both hands </a:t>
            </a:r>
            <a:r>
              <a:rPr lang="en-US" dirty="0" smtClean="0"/>
              <a:t>holds on the gun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918176" y="2615105"/>
            <a:ext cx="2362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Maintain stable footing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176" y="2985040"/>
            <a:ext cx="27361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Keep hose behind operator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176" y="3356810"/>
            <a:ext cx="3119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Never point gun toward people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8969" y="1645920"/>
            <a:ext cx="2740632" cy="2743114"/>
          </a:xfrm>
          <a:prstGeom prst="rect">
            <a:avLst/>
          </a:prstGeom>
        </p:spPr>
      </p:pic>
      <p:sp>
        <p:nvSpPr>
          <p:cNvPr id="18" name="Text 1"/>
          <p:cNvSpPr/>
          <p:nvPr/>
        </p:nvSpPr>
        <p:spPr>
          <a:xfrm>
            <a:off x="609600" y="69366"/>
            <a:ext cx="8465032" cy="521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HP Practical Training using 10k &amp; 20k Long Barrel Gun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888277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Rectangle 5"/>
          <p:cNvSpPr/>
          <p:nvPr/>
        </p:nvSpPr>
        <p:spPr>
          <a:xfrm>
            <a:off x="922575" y="735254"/>
            <a:ext cx="12952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Practice: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291" y="1223195"/>
            <a:ext cx="15477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Trigger control</a:t>
            </a:r>
          </a:p>
        </p:txBody>
      </p:sp>
      <p:sp>
        <p:nvSpPr>
          <p:cNvPr id="8" name="Rectangle 7"/>
          <p:cNvSpPr/>
          <p:nvPr/>
        </p:nvSpPr>
        <p:spPr>
          <a:xfrm>
            <a:off x="922575" y="1598414"/>
            <a:ext cx="1989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Smooth movement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5067" y="1905598"/>
            <a:ext cx="22517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Reaction force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2575" y="2246640"/>
            <a:ext cx="17174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Surface cleaning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6962" y="2613674"/>
            <a:ext cx="1880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Correct distance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5067" y="2979298"/>
            <a:ext cx="21121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Correct nozzle angle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464" y="1322260"/>
            <a:ext cx="2758055" cy="3092085"/>
          </a:xfrm>
          <a:prstGeom prst="rect">
            <a:avLst/>
          </a:prstGeom>
        </p:spPr>
      </p:pic>
      <p:sp>
        <p:nvSpPr>
          <p:cNvPr id="18" name="Text 1"/>
          <p:cNvSpPr/>
          <p:nvPr/>
        </p:nvSpPr>
        <p:spPr>
          <a:xfrm>
            <a:off x="609600" y="69366"/>
            <a:ext cx="8465032" cy="521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HP Practical Training using 10k &amp; 20k Long Barrel Gun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932273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Rectangle 5"/>
          <p:cNvSpPr/>
          <p:nvPr/>
        </p:nvSpPr>
        <p:spPr>
          <a:xfrm>
            <a:off x="3640887" y="731705"/>
            <a:ext cx="18703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Communication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22919" y="1357596"/>
            <a:ext cx="23689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HP </a:t>
            </a:r>
            <a:r>
              <a:rPr lang="en-US" dirty="0" err="1"/>
              <a:t>J</a:t>
            </a:r>
            <a:r>
              <a:rPr lang="en-US" dirty="0" err="1" smtClean="0"/>
              <a:t>etter</a:t>
            </a:r>
            <a:r>
              <a:rPr lang="en-US" dirty="0" smtClean="0"/>
              <a:t> Commands: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922918" y="1732606"/>
            <a:ext cx="8651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Ready?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2919" y="2101938"/>
            <a:ext cx="14902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Start Pressure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9736" y="2152412"/>
            <a:ext cx="13167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Pressure 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9736" y="1783080"/>
            <a:ext cx="8651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Ready?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9736" y="1354233"/>
            <a:ext cx="22944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Pump </a:t>
            </a:r>
            <a:r>
              <a:rPr lang="en-US" dirty="0" smtClean="0"/>
              <a:t>Operator Action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922918" y="2471270"/>
            <a:ext cx="14668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Stop Pressure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9736" y="2517359"/>
            <a:ext cx="1333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Pressure Off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2919" y="3053311"/>
            <a:ext cx="71894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Every </a:t>
            </a:r>
            <a:r>
              <a:rPr lang="en-US" dirty="0" smtClean="0"/>
              <a:t>Hand Signal communication is important and must </a:t>
            </a:r>
            <a:r>
              <a:rPr lang="en-US" dirty="0"/>
              <a:t>be acknowledged.</a:t>
            </a:r>
          </a:p>
        </p:txBody>
      </p:sp>
      <p:sp>
        <p:nvSpPr>
          <p:cNvPr id="20" name="Text 1"/>
          <p:cNvSpPr/>
          <p:nvPr/>
        </p:nvSpPr>
        <p:spPr>
          <a:xfrm>
            <a:off x="609600" y="69366"/>
            <a:ext cx="8465032" cy="521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HP Practical Training using 10k &amp; 20k Long Barrel Gun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019046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Rectangle 5"/>
          <p:cNvSpPr/>
          <p:nvPr/>
        </p:nvSpPr>
        <p:spPr>
          <a:xfrm>
            <a:off x="923711" y="736248"/>
            <a:ext cx="24471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In Case of Emergency</a:t>
            </a:r>
            <a:endParaRPr lang="en-US" sz="2000" b="1" dirty="0"/>
          </a:p>
        </p:txBody>
      </p:sp>
      <p:sp>
        <p:nvSpPr>
          <p:cNvPr id="7" name="Rectangle 6"/>
          <p:cNvSpPr/>
          <p:nvPr/>
        </p:nvSpPr>
        <p:spPr>
          <a:xfrm>
            <a:off x="923711" y="1278769"/>
            <a:ext cx="23938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Slowly Reduce </a:t>
            </a:r>
            <a:r>
              <a:rPr lang="en-US" dirty="0"/>
              <a:t>pressure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923711" y="1648101"/>
            <a:ext cx="19489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Release </a:t>
            </a:r>
            <a:r>
              <a:rPr lang="en-US" dirty="0" smtClean="0"/>
              <a:t>the trigger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23710" y="2019663"/>
            <a:ext cx="30365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Stop </a:t>
            </a:r>
            <a:r>
              <a:rPr lang="en-US" dirty="0" smtClean="0"/>
              <a:t>engine and Switch Off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925442" y="2387084"/>
            <a:ext cx="19472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Close water supply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710" y="2757389"/>
            <a:ext cx="16340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Report incident</a:t>
            </a:r>
          </a:p>
        </p:txBody>
      </p:sp>
      <p:sp>
        <p:nvSpPr>
          <p:cNvPr id="15" name="Text 1"/>
          <p:cNvSpPr/>
          <p:nvPr/>
        </p:nvSpPr>
        <p:spPr>
          <a:xfrm>
            <a:off x="609600" y="69366"/>
            <a:ext cx="8465032" cy="521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HP Practical Training using 10k &amp; 20k Long Barrel Gun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03892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Rectangle 5"/>
          <p:cNvSpPr/>
          <p:nvPr/>
        </p:nvSpPr>
        <p:spPr>
          <a:xfrm>
            <a:off x="922108" y="739254"/>
            <a:ext cx="32975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Sequence in Pump </a:t>
            </a:r>
            <a:r>
              <a:rPr lang="en-US" sz="2000" b="1" dirty="0"/>
              <a:t>Shutdown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9734" y="1358774"/>
            <a:ext cx="2638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Slowly Release the trigger</a:t>
            </a:r>
            <a:r>
              <a:rPr lang="en-US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9734" y="1783080"/>
            <a:ext cx="14293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Reduce RPM.</a:t>
            </a:r>
          </a:p>
        </p:txBody>
      </p:sp>
      <p:sp>
        <p:nvSpPr>
          <p:cNvPr id="9" name="Rectangle 8"/>
          <p:cNvSpPr/>
          <p:nvPr/>
        </p:nvSpPr>
        <p:spPr>
          <a:xfrm>
            <a:off x="922108" y="2156932"/>
            <a:ext cx="17229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Stop </a:t>
            </a:r>
            <a:r>
              <a:rPr lang="en-US" dirty="0" smtClean="0"/>
              <a:t>the engine</a:t>
            </a:r>
            <a:r>
              <a:rPr lang="en-US" dirty="0"/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2108" y="2526264"/>
            <a:ext cx="1683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Close </a:t>
            </a:r>
            <a:r>
              <a:rPr lang="en-US" dirty="0" smtClean="0"/>
              <a:t>the water</a:t>
            </a:r>
            <a:r>
              <a:rPr lang="en-US" dirty="0"/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2870" y="2895596"/>
            <a:ext cx="18707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Disconnect hoses.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9734" y="3265532"/>
            <a:ext cx="16836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Drain </a:t>
            </a:r>
            <a:r>
              <a:rPr lang="en-US" dirty="0" smtClean="0"/>
              <a:t>the water</a:t>
            </a:r>
            <a:r>
              <a:rPr lang="en-US" dirty="0"/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2108" y="3634260"/>
            <a:ext cx="17264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Inspect damage.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9734" y="4003592"/>
            <a:ext cx="18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Clean equipment.</a:t>
            </a:r>
          </a:p>
        </p:txBody>
      </p:sp>
      <p:sp>
        <p:nvSpPr>
          <p:cNvPr id="18" name="Text 1"/>
          <p:cNvSpPr/>
          <p:nvPr/>
        </p:nvSpPr>
        <p:spPr>
          <a:xfrm>
            <a:off x="609600" y="69366"/>
            <a:ext cx="8465032" cy="521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HP Practical Training using 10k &amp; 20k Long Barrel Gun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679546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Rectangle 5"/>
          <p:cNvSpPr/>
          <p:nvPr/>
        </p:nvSpPr>
        <p:spPr>
          <a:xfrm>
            <a:off x="918754" y="740227"/>
            <a:ext cx="2223686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Critical Safety Rules</a:t>
            </a: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8754" y="1091330"/>
            <a:ext cx="2698175" cy="2802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Never point the gun at any person.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8754" y="1417320"/>
            <a:ext cx="2350323" cy="2899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Never bypass safety devices. 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8754" y="1707271"/>
            <a:ext cx="2319866" cy="2802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Always use the correct PPE. 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8754" y="1987541"/>
            <a:ext cx="4572000" cy="289951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Keep all personnel outside </a:t>
            </a:r>
            <a:r>
              <a:rPr lang="en-US" sz="12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barricaded </a:t>
            </a: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zone. 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8754" y="2277492"/>
            <a:ext cx="3004349" cy="2802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Never disconnect hoses under pressure. 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18753" y="2849990"/>
            <a:ext cx="5273941" cy="289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Maintain clear communication between the pump operator and gun operator. 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18753" y="3139941"/>
            <a:ext cx="6169424" cy="289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Stop work immediately if any leak, hose movement, or equipment malfunction is detected. 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18753" y="2560039"/>
            <a:ext cx="4572000" cy="289951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Always use whip checks and hose restraints. 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Text 1"/>
          <p:cNvSpPr/>
          <p:nvPr/>
        </p:nvSpPr>
        <p:spPr>
          <a:xfrm>
            <a:off x="609600" y="69366"/>
            <a:ext cx="8465032" cy="521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HP Practical Training using 10k &amp; 20k Long Barrel Gun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632372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Rectangle 5"/>
          <p:cNvSpPr/>
          <p:nvPr/>
        </p:nvSpPr>
        <p:spPr>
          <a:xfrm>
            <a:off x="2812233" y="737501"/>
            <a:ext cx="3531801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Practical Competency Assessment</a:t>
            </a: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21120" y="1279906"/>
            <a:ext cx="39393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Trainees are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evaluated 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to the below Task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921120" y="1644580"/>
            <a:ext cx="128432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1. PPE </a:t>
            </a: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Inspection</a:t>
            </a:r>
            <a:endParaRPr lang="en-US" sz="1200" dirty="0"/>
          </a:p>
        </p:txBody>
      </p:sp>
      <p:sp>
        <p:nvSpPr>
          <p:cNvPr id="12" name="Rectangle 11"/>
          <p:cNvSpPr/>
          <p:nvPr/>
        </p:nvSpPr>
        <p:spPr>
          <a:xfrm>
            <a:off x="921120" y="1917560"/>
            <a:ext cx="188865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2. Equipment </a:t>
            </a: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Identification</a:t>
            </a:r>
            <a:endParaRPr lang="en-US" sz="1200" dirty="0"/>
          </a:p>
        </p:txBody>
      </p:sp>
      <p:sp>
        <p:nvSpPr>
          <p:cNvPr id="14" name="Rectangle 13"/>
          <p:cNvSpPr/>
          <p:nvPr/>
        </p:nvSpPr>
        <p:spPr>
          <a:xfrm>
            <a:off x="921120" y="2194559"/>
            <a:ext cx="137890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3. Pump </a:t>
            </a: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Inspection</a:t>
            </a:r>
            <a:endParaRPr lang="en-US" sz="1200" dirty="0"/>
          </a:p>
        </p:txBody>
      </p:sp>
      <p:sp>
        <p:nvSpPr>
          <p:cNvPr id="15" name="Rectangle 14"/>
          <p:cNvSpPr/>
          <p:nvPr/>
        </p:nvSpPr>
        <p:spPr>
          <a:xfrm>
            <a:off x="921120" y="2471558"/>
            <a:ext cx="118173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4. Hose </a:t>
            </a: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Line-up</a:t>
            </a:r>
            <a:endParaRPr lang="en-US" sz="1200" dirty="0"/>
          </a:p>
        </p:txBody>
      </p:sp>
      <p:sp>
        <p:nvSpPr>
          <p:cNvPr id="16" name="Rectangle 15"/>
          <p:cNvSpPr/>
          <p:nvPr/>
        </p:nvSpPr>
        <p:spPr>
          <a:xfrm>
            <a:off x="921120" y="2739090"/>
            <a:ext cx="123303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5. Pump </a:t>
            </a: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Start-up</a:t>
            </a:r>
            <a:endParaRPr lang="en-US" sz="1200" dirty="0"/>
          </a:p>
        </p:txBody>
      </p:sp>
      <p:sp>
        <p:nvSpPr>
          <p:cNvPr id="18" name="Rectangle 17"/>
          <p:cNvSpPr/>
          <p:nvPr/>
        </p:nvSpPr>
        <p:spPr>
          <a:xfrm>
            <a:off x="921120" y="3016089"/>
            <a:ext cx="16092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6. Pressure </a:t>
            </a: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Adjustment</a:t>
            </a:r>
            <a:endParaRPr lang="en-US" sz="1200" dirty="0"/>
          </a:p>
        </p:txBody>
      </p:sp>
      <p:sp>
        <p:nvSpPr>
          <p:cNvPr id="19" name="Rectangle 18"/>
          <p:cNvSpPr/>
          <p:nvPr/>
        </p:nvSpPr>
        <p:spPr>
          <a:xfrm>
            <a:off x="921120" y="3295952"/>
            <a:ext cx="20040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7. Long </a:t>
            </a: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Barrel Gun Handling</a:t>
            </a:r>
            <a:endParaRPr lang="en-US" sz="1200" dirty="0"/>
          </a:p>
        </p:txBody>
      </p:sp>
      <p:sp>
        <p:nvSpPr>
          <p:cNvPr id="20" name="Rectangle 19"/>
          <p:cNvSpPr/>
          <p:nvPr/>
        </p:nvSpPr>
        <p:spPr>
          <a:xfrm>
            <a:off x="925987" y="3560620"/>
            <a:ext cx="121539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8. Body </a:t>
            </a: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Position</a:t>
            </a:r>
            <a:endParaRPr lang="en-US" sz="1200" dirty="0"/>
          </a:p>
        </p:txBody>
      </p:sp>
      <p:sp>
        <p:nvSpPr>
          <p:cNvPr id="21" name="Rectangle 20"/>
          <p:cNvSpPr/>
          <p:nvPr/>
        </p:nvSpPr>
        <p:spPr>
          <a:xfrm>
            <a:off x="925987" y="3834458"/>
            <a:ext cx="13340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9. Communication</a:t>
            </a:r>
            <a:endParaRPr lang="en-US" sz="1200" dirty="0"/>
          </a:p>
        </p:txBody>
      </p:sp>
      <p:sp>
        <p:nvSpPr>
          <p:cNvPr id="22" name="Rectangle 21"/>
          <p:cNvSpPr/>
          <p:nvPr/>
        </p:nvSpPr>
        <p:spPr>
          <a:xfrm>
            <a:off x="940356" y="4107613"/>
            <a:ext cx="14366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10. Pump </a:t>
            </a: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Shutdown</a:t>
            </a:r>
            <a:endParaRPr lang="en-US" sz="1200" dirty="0"/>
          </a:p>
        </p:txBody>
      </p:sp>
      <p:sp>
        <p:nvSpPr>
          <p:cNvPr id="23" name="Text 1"/>
          <p:cNvSpPr/>
          <p:nvPr/>
        </p:nvSpPr>
        <p:spPr>
          <a:xfrm>
            <a:off x="609600" y="69366"/>
            <a:ext cx="8465032" cy="521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HP Practical Training using 10k &amp; 20k Long Barrel Gun</a:t>
            </a:r>
            <a:endParaRPr lang="en-US" sz="2200" dirty="0"/>
          </a:p>
        </p:txBody>
      </p:sp>
      <p:sp>
        <p:nvSpPr>
          <p:cNvPr id="24" name="Rectangle 23"/>
          <p:cNvSpPr/>
          <p:nvPr/>
        </p:nvSpPr>
        <p:spPr>
          <a:xfrm>
            <a:off x="4676042" y="1839864"/>
            <a:ext cx="440489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Practical </a:t>
            </a:r>
            <a:r>
              <a:rPr lang="en-US" b="1" dirty="0" smtClean="0"/>
              <a:t>Assessment </a:t>
            </a:r>
            <a:r>
              <a:rPr lang="en-US" b="1" dirty="0"/>
              <a:t>Result</a:t>
            </a:r>
          </a:p>
          <a:p>
            <a:r>
              <a:rPr lang="en-US" b="1" dirty="0"/>
              <a:t>Trainee Name:</a:t>
            </a:r>
            <a:r>
              <a:rPr lang="en-US" dirty="0"/>
              <a:t> ____________</a:t>
            </a:r>
            <a:br>
              <a:rPr lang="en-US" dirty="0"/>
            </a:br>
            <a:r>
              <a:rPr lang="en-US" b="1" dirty="0"/>
              <a:t>Date:</a:t>
            </a:r>
            <a:r>
              <a:rPr lang="en-US" dirty="0"/>
              <a:t> </a:t>
            </a:r>
            <a:r>
              <a:rPr lang="en-US" dirty="0" smtClean="0"/>
              <a:t>____________</a:t>
            </a:r>
            <a:endParaRPr lang="en-US" dirty="0"/>
          </a:p>
          <a:p>
            <a:r>
              <a:rPr lang="en-US" dirty="0" smtClean="0"/>
              <a:t>Practical </a:t>
            </a:r>
            <a:r>
              <a:rPr lang="en-US" dirty="0"/>
              <a:t>Assessment: PASS / FAIL</a:t>
            </a:r>
          </a:p>
          <a:p>
            <a:r>
              <a:rPr lang="en-US" dirty="0"/>
              <a:t>Trainer </a:t>
            </a:r>
            <a:r>
              <a:rPr lang="en-US" dirty="0" smtClean="0"/>
              <a:t>Name &amp; Signature</a:t>
            </a:r>
            <a:r>
              <a:rPr lang="en-US" dirty="0"/>
              <a:t>: ____________</a:t>
            </a:r>
          </a:p>
        </p:txBody>
      </p:sp>
    </p:spTree>
    <p:extLst>
      <p:ext uri="{BB962C8B-B14F-4D97-AF65-F5344CB8AC3E}">
        <p14:creationId xmlns:p14="http://schemas.microsoft.com/office/powerpoint/2010/main" val="536812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3151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Rectangle 8"/>
          <p:cNvSpPr/>
          <p:nvPr/>
        </p:nvSpPr>
        <p:spPr>
          <a:xfrm>
            <a:off x="3619196" y="747471"/>
            <a:ext cx="1906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Training </a:t>
            </a:r>
            <a:r>
              <a:rPr lang="en-US" b="1" dirty="0"/>
              <a:t>Objective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855" y="1205561"/>
            <a:ext cx="591206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At the end of the practical session, trainees shall be able to: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4243" y="1547687"/>
            <a:ext cx="314791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Identify creeping hose and AWD accessories.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4243" y="1861042"/>
            <a:ext cx="317586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Perform correct HPWJ equipment inspection.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4243" y="2106271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Complete safe line-up of HP hoses and accessories.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4243" y="2383270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Demonstrate correct hand signaling communication.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855" y="2667339"/>
            <a:ext cx="19049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Operate HP pump safely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4243" y="2944432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Perform creeping hose insertion and withdrawal safely.</a:t>
            </a:r>
          </a:p>
        </p:txBody>
      </p:sp>
      <p:sp>
        <p:nvSpPr>
          <p:cNvPr id="20" name="Rectangle 2"/>
          <p:cNvSpPr>
            <a:spLocks noChangeArrowheads="1"/>
          </p:cNvSpPr>
          <p:nvPr/>
        </p:nvSpPr>
        <p:spPr bwMode="auto">
          <a:xfrm>
            <a:off x="0" y="0"/>
            <a:ext cx="9144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894243" y="3221431"/>
            <a:ext cx="281295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Apply emergency shutdown procedure.</a:t>
            </a:r>
          </a:p>
        </p:txBody>
      </p:sp>
      <p:sp>
        <p:nvSpPr>
          <p:cNvPr id="24" name="Text 1"/>
          <p:cNvSpPr/>
          <p:nvPr/>
        </p:nvSpPr>
        <p:spPr>
          <a:xfrm>
            <a:off x="609600" y="69366"/>
            <a:ext cx="8465032" cy="521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HP Practical Training using Creeping Hose &amp; AWD</a:t>
            </a:r>
            <a:endParaRPr lang="en-US" sz="220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503" y="1662624"/>
            <a:ext cx="3289922" cy="263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52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Rectangle 5"/>
          <p:cNvSpPr/>
          <p:nvPr/>
        </p:nvSpPr>
        <p:spPr>
          <a:xfrm>
            <a:off x="2103121" y="734676"/>
            <a:ext cx="49472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Creeping Hose </a:t>
            </a:r>
            <a:r>
              <a:rPr lang="en-US" b="1" dirty="0" smtClean="0"/>
              <a:t>Accessories </a:t>
            </a:r>
            <a:r>
              <a:rPr lang="en-US" b="1" dirty="0"/>
              <a:t>(Name &amp; Function)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9168" y="1205852"/>
            <a:ext cx="184185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smtClean="0"/>
              <a:t>Accessories Name’s</a:t>
            </a:r>
            <a:endParaRPr lang="en-US" sz="1600" b="1" dirty="0"/>
          </a:p>
        </p:txBody>
      </p:sp>
      <p:sp>
        <p:nvSpPr>
          <p:cNvPr id="9" name="Rectangle 8"/>
          <p:cNvSpPr/>
          <p:nvPr/>
        </p:nvSpPr>
        <p:spPr>
          <a:xfrm>
            <a:off x="5939002" y="1207621"/>
            <a:ext cx="92845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/>
              <a:t>Function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9168" y="1546175"/>
            <a:ext cx="10899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Creeping Hose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93079" y="1546175"/>
            <a:ext cx="348722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Flexible hose inserted inside tubes/pipes for cleaning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9168" y="1783080"/>
            <a:ext cx="21053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AWD (Anti-Withdrawal Device)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93079" y="1783080"/>
            <a:ext cx="375671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Prevents hose from whipping or uncontrolled withdrawal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9168" y="2019985"/>
            <a:ext cx="80361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Nozzle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93079" y="2017068"/>
            <a:ext cx="233416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Produces water jet cleaning 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9168" y="2296984"/>
            <a:ext cx="10562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Nozzle Holder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93079" y="2296984"/>
            <a:ext cx="18702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Secures nozzle to hose 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9168" y="2573983"/>
            <a:ext cx="8345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Foot Valve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93079" y="2571750"/>
            <a:ext cx="17663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Controls pressure release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9168" y="2843703"/>
            <a:ext cx="172521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Barriers &amp; Warning Signs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93079" y="2843702"/>
            <a:ext cx="167872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Establish exclusion zone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9168" y="3128399"/>
            <a:ext cx="12111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Communication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93079" y="3136114"/>
            <a:ext cx="19616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/>
              <a:t>Hand Signal communication </a:t>
            </a:r>
            <a:endParaRPr lang="en-US" sz="1200" dirty="0"/>
          </a:p>
        </p:txBody>
      </p:sp>
      <p:sp>
        <p:nvSpPr>
          <p:cNvPr id="26" name="Text 1"/>
          <p:cNvSpPr/>
          <p:nvPr/>
        </p:nvSpPr>
        <p:spPr>
          <a:xfrm>
            <a:off x="609600" y="69366"/>
            <a:ext cx="8465032" cy="521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HP Practical Training using Creeping Hose &amp; AWD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012637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Rectangle 5"/>
          <p:cNvSpPr/>
          <p:nvPr/>
        </p:nvSpPr>
        <p:spPr>
          <a:xfrm>
            <a:off x="2950331" y="737058"/>
            <a:ext cx="32444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Steps for Creeping </a:t>
            </a:r>
            <a:r>
              <a:rPr lang="en-US" b="1" dirty="0"/>
              <a:t>Hose </a:t>
            </a:r>
            <a:r>
              <a:rPr lang="en-US" b="1" dirty="0" smtClean="0"/>
              <a:t>Line-Up</a:t>
            </a:r>
            <a:endParaRPr lang="en-US" b="1" dirty="0"/>
          </a:p>
        </p:txBody>
      </p:sp>
      <p:sp>
        <p:nvSpPr>
          <p:cNvPr id="7" name="Rectangle 6"/>
          <p:cNvSpPr/>
          <p:nvPr/>
        </p:nvSpPr>
        <p:spPr>
          <a:xfrm>
            <a:off x="917602" y="1285214"/>
            <a:ext cx="4572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Pump → HP Hose → </a:t>
            </a:r>
            <a:r>
              <a:rPr lang="en-US" sz="1200" dirty="0" smtClean="0"/>
              <a:t>Foot Valve </a:t>
            </a:r>
            <a:r>
              <a:rPr lang="en-US" sz="1200" dirty="0"/>
              <a:t>→ </a:t>
            </a:r>
            <a:r>
              <a:rPr lang="en-US" sz="1200" dirty="0" smtClean="0"/>
              <a:t>Creeping </a:t>
            </a:r>
            <a:r>
              <a:rPr lang="en-US" sz="1200" dirty="0"/>
              <a:t>Hose → </a:t>
            </a:r>
            <a:r>
              <a:rPr lang="en-US" sz="1200" dirty="0" smtClean="0"/>
              <a:t>Nozzle</a:t>
            </a:r>
            <a:r>
              <a:rPr lang="en-US" sz="1200" dirty="0"/>
              <a:t> </a:t>
            </a:r>
            <a:r>
              <a:rPr lang="en-US" sz="1200" dirty="0" smtClean="0"/>
              <a:t>→ AWD</a:t>
            </a:r>
            <a:endParaRPr lang="en-US" sz="1200" dirty="0"/>
          </a:p>
        </p:txBody>
      </p:sp>
      <p:sp>
        <p:nvSpPr>
          <p:cNvPr id="9" name="Rectangle 8"/>
          <p:cNvSpPr/>
          <p:nvPr/>
        </p:nvSpPr>
        <p:spPr>
          <a:xfrm>
            <a:off x="3162487" y="1663315"/>
            <a:ext cx="28275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AWD Installation Procedure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7602" y="2120702"/>
            <a:ext cx="4572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Select correct AWD size according to creeping hose diameter.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7602" y="2397701"/>
            <a:ext cx="25183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Install AWD close to tube entry point.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7602" y="2674700"/>
            <a:ext cx="21061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Confirm AWD locking function.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7602" y="2948860"/>
            <a:ext cx="21176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Test hose movement manually.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7602" y="3229372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Ensure AWD prevents uncontrolled hose withdrawal.</a:t>
            </a:r>
          </a:p>
        </p:txBody>
      </p:sp>
      <p:sp>
        <p:nvSpPr>
          <p:cNvPr id="17" name="Text 1"/>
          <p:cNvSpPr/>
          <p:nvPr/>
        </p:nvSpPr>
        <p:spPr>
          <a:xfrm>
            <a:off x="609600" y="69366"/>
            <a:ext cx="8465032" cy="521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HP Practical Training using Creeping Hose &amp; AWD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74961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Rectangle 5"/>
          <p:cNvSpPr/>
          <p:nvPr/>
        </p:nvSpPr>
        <p:spPr>
          <a:xfrm>
            <a:off x="3665890" y="737336"/>
            <a:ext cx="18203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Purpose of AWD:</a:t>
            </a:r>
          </a:p>
        </p:txBody>
      </p:sp>
      <p:sp>
        <p:nvSpPr>
          <p:cNvPr id="7" name="Rectangle 6"/>
          <p:cNvSpPr/>
          <p:nvPr/>
        </p:nvSpPr>
        <p:spPr>
          <a:xfrm>
            <a:off x="918667" y="1286920"/>
            <a:ext cx="211654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Prevent </a:t>
            </a:r>
            <a:r>
              <a:rPr lang="en-US" sz="1200" dirty="0" smtClean="0"/>
              <a:t>Creeping hose pull-out</a:t>
            </a:r>
            <a:endParaRPr lang="en-US" sz="1200" dirty="0"/>
          </a:p>
        </p:txBody>
      </p:sp>
      <p:sp>
        <p:nvSpPr>
          <p:cNvPr id="8" name="Rectangle 7"/>
          <p:cNvSpPr/>
          <p:nvPr/>
        </p:nvSpPr>
        <p:spPr>
          <a:xfrm>
            <a:off x="918667" y="1568000"/>
            <a:ext cx="17065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Reduce whipping hazard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8667" y="1839542"/>
            <a:ext cx="16847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Protect </a:t>
            </a:r>
            <a:r>
              <a:rPr lang="en-US" sz="1200" dirty="0" smtClean="0"/>
              <a:t>the Hydro </a:t>
            </a:r>
            <a:r>
              <a:rPr lang="en-US" sz="1200" dirty="0" err="1" smtClean="0"/>
              <a:t>Jetter</a:t>
            </a:r>
            <a:endParaRPr lang="en-US" sz="1200" dirty="0"/>
          </a:p>
        </p:txBody>
      </p:sp>
      <p:sp>
        <p:nvSpPr>
          <p:cNvPr id="12" name="Rectangle 11"/>
          <p:cNvSpPr/>
          <p:nvPr/>
        </p:nvSpPr>
        <p:spPr>
          <a:xfrm>
            <a:off x="3286389" y="2278207"/>
            <a:ext cx="25762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Creeping Hose Operation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7597" y="2732381"/>
            <a:ext cx="246798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Never hold hose close to nozzle end.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667" y="3009380"/>
            <a:ext cx="22397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Never point hose toward people.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667" y="3286379"/>
            <a:ext cx="17900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Maintain communication.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667" y="3563378"/>
            <a:ext cx="169674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Monitor hose condition.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411" y="3837701"/>
            <a:ext cx="4572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Stop immediately if abnormal movement occurs.</a:t>
            </a:r>
          </a:p>
        </p:txBody>
      </p:sp>
      <p:sp>
        <p:nvSpPr>
          <p:cNvPr id="18" name="Text 1"/>
          <p:cNvSpPr/>
          <p:nvPr/>
        </p:nvSpPr>
        <p:spPr>
          <a:xfrm>
            <a:off x="609600" y="69366"/>
            <a:ext cx="8465032" cy="521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HP Practical Training using Creeping Hose &amp; AWD</a:t>
            </a:r>
            <a:endParaRPr lang="en-US" sz="22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608" y="2571750"/>
            <a:ext cx="2650764" cy="243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151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Anabeeb High Pressure Water Jetting Basic Operator Training | Day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Rectangle 5"/>
          <p:cNvSpPr/>
          <p:nvPr/>
        </p:nvSpPr>
        <p:spPr>
          <a:xfrm>
            <a:off x="3486508" y="738104"/>
            <a:ext cx="2173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Practical Assessment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712" y="1204726"/>
            <a:ext cx="12760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Correct PPE worn</a:t>
            </a:r>
          </a:p>
        </p:txBody>
      </p:sp>
      <p:sp>
        <p:nvSpPr>
          <p:cNvPr id="9" name="Rectangle 8"/>
          <p:cNvSpPr/>
          <p:nvPr/>
        </p:nvSpPr>
        <p:spPr>
          <a:xfrm>
            <a:off x="920712" y="1417320"/>
            <a:ext cx="242059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Identifies creeping hose accessories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0712" y="1667447"/>
            <a:ext cx="155029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Installs AWD correctly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712" y="1944446"/>
            <a:ext cx="177176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Performs hose inspection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0712" y="2220893"/>
            <a:ext cx="19036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Completes line-up correctly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0712" y="2475894"/>
            <a:ext cx="176509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Uses correct hand signals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712" y="2724384"/>
            <a:ext cx="23946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Communicates with pump operator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4430" y="2998946"/>
            <a:ext cx="133543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Starts pump safely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0712" y="3268568"/>
            <a:ext cx="20077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Controls creeping hose safely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4430" y="3584976"/>
            <a:ext cx="209031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Performs shutdown procedure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87758" y="1556088"/>
            <a:ext cx="440489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Practical </a:t>
            </a:r>
            <a:r>
              <a:rPr lang="en-US" b="1" dirty="0" smtClean="0"/>
              <a:t>Assessment </a:t>
            </a:r>
            <a:r>
              <a:rPr lang="en-US" b="1" dirty="0"/>
              <a:t>Result</a:t>
            </a:r>
          </a:p>
          <a:p>
            <a:r>
              <a:rPr lang="en-US" b="1" dirty="0"/>
              <a:t>Trainee Name:</a:t>
            </a:r>
            <a:r>
              <a:rPr lang="en-US" dirty="0"/>
              <a:t> ____________</a:t>
            </a:r>
            <a:br>
              <a:rPr lang="en-US" dirty="0"/>
            </a:br>
            <a:r>
              <a:rPr lang="en-US" b="1" dirty="0"/>
              <a:t>Date:</a:t>
            </a:r>
            <a:r>
              <a:rPr lang="en-US" dirty="0"/>
              <a:t> </a:t>
            </a:r>
            <a:r>
              <a:rPr lang="en-US" dirty="0" smtClean="0"/>
              <a:t>____________</a:t>
            </a:r>
            <a:endParaRPr lang="en-US" dirty="0"/>
          </a:p>
          <a:p>
            <a:r>
              <a:rPr lang="en-US" dirty="0" smtClean="0"/>
              <a:t>Practical </a:t>
            </a:r>
            <a:r>
              <a:rPr lang="en-US" dirty="0"/>
              <a:t>Assessment: PASS / FAIL</a:t>
            </a:r>
          </a:p>
          <a:p>
            <a:r>
              <a:rPr lang="en-US" dirty="0"/>
              <a:t>Trainer </a:t>
            </a:r>
            <a:r>
              <a:rPr lang="en-US" dirty="0" smtClean="0"/>
              <a:t>Name &amp; Signature</a:t>
            </a:r>
            <a:r>
              <a:rPr lang="en-US" dirty="0"/>
              <a:t>: ____________</a:t>
            </a:r>
          </a:p>
        </p:txBody>
      </p:sp>
      <p:sp>
        <p:nvSpPr>
          <p:cNvPr id="21" name="Text 1"/>
          <p:cNvSpPr/>
          <p:nvPr/>
        </p:nvSpPr>
        <p:spPr>
          <a:xfrm>
            <a:off x="609600" y="69366"/>
            <a:ext cx="8465032" cy="521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HP Practical Training using Creeping Hose &amp; AWD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773197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793</TotalTime>
  <Words>2929</Words>
  <Application>Microsoft Office PowerPoint</Application>
  <PresentationFormat>On-screen Show (16:9)</PresentationFormat>
  <Paragraphs>497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Anabeeb High Pressure Water Jetting Basic Operator Training - Day 1</dc:title>
  <dc:subject>NEBOSH Verified Programme</dc:subject>
  <dc:creator>Anabeeb HSE &amp; Training</dc:creator>
  <cp:lastModifiedBy>ANABASE2</cp:lastModifiedBy>
  <cp:revision>53</cp:revision>
  <dcterms:created xsi:type="dcterms:W3CDTF">2026-07-12T11:19:56Z</dcterms:created>
  <dcterms:modified xsi:type="dcterms:W3CDTF">2026-07-14T07:51:47Z</dcterms:modified>
</cp:coreProperties>
</file>