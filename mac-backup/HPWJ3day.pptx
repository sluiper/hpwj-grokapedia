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9"/>
  </p:notesMasterIdLst>
  <p:handoutMasterIdLst>
    <p:handoutMasterId r:id="rId40"/>
  </p:handoutMasterIdLst>
  <p:sldIdLst>
    <p:sldId id="980" r:id="rId2"/>
    <p:sldId id="981" r:id="rId3"/>
    <p:sldId id="982" r:id="rId4"/>
    <p:sldId id="983" r:id="rId5"/>
    <p:sldId id="984" r:id="rId6"/>
    <p:sldId id="985" r:id="rId7"/>
    <p:sldId id="986" r:id="rId8"/>
    <p:sldId id="987" r:id="rId9"/>
    <p:sldId id="988" r:id="rId10"/>
    <p:sldId id="989" r:id="rId11"/>
    <p:sldId id="990" r:id="rId12"/>
    <p:sldId id="991" r:id="rId13"/>
    <p:sldId id="992" r:id="rId14"/>
    <p:sldId id="993" r:id="rId15"/>
    <p:sldId id="994" r:id="rId16"/>
    <p:sldId id="995" r:id="rId17"/>
    <p:sldId id="996" r:id="rId18"/>
    <p:sldId id="997" r:id="rId19"/>
    <p:sldId id="998" r:id="rId20"/>
    <p:sldId id="999" r:id="rId21"/>
    <p:sldId id="1000" r:id="rId22"/>
    <p:sldId id="1001" r:id="rId23"/>
    <p:sldId id="1002" r:id="rId24"/>
    <p:sldId id="1003" r:id="rId25"/>
    <p:sldId id="1004" r:id="rId26"/>
    <p:sldId id="1005" r:id="rId27"/>
    <p:sldId id="1006" r:id="rId28"/>
    <p:sldId id="1007" r:id="rId29"/>
    <p:sldId id="1008" r:id="rId30"/>
    <p:sldId id="1009" r:id="rId31"/>
    <p:sldId id="1010" r:id="rId32"/>
    <p:sldId id="1011" r:id="rId33"/>
    <p:sldId id="1012" r:id="rId34"/>
    <p:sldId id="1013" r:id="rId35"/>
    <p:sldId id="1014" r:id="rId36"/>
    <p:sldId id="1015" r:id="rId37"/>
    <p:sldId id="1016" r:id="rId3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y 1 — Foundations, Hazards &amp; Controls" id="{8D13E6EA-971A-411C-9880-B75DFB6FE778}">
          <p14:sldIdLst>
            <p14:sldId id="980"/>
            <p14:sldId id="981"/>
            <p14:sldId id="982"/>
            <p14:sldId id="983"/>
            <p14:sldId id="984"/>
            <p14:sldId id="985"/>
            <p14:sldId id="986"/>
            <p14:sldId id="987"/>
            <p14:sldId id="988"/>
            <p14:sldId id="989"/>
            <p14:sldId id="990"/>
            <p14:sldId id="991"/>
            <p14:sldId id="992"/>
            <p14:sldId id="993"/>
            <p14:sldId id="994"/>
            <p14:sldId id="995"/>
            <p14:sldId id="996"/>
          </p14:sldIdLst>
        </p14:section>
        <p14:section name="Day 2 — Equipment Mastery &amp; Hands-On" id="{D3F88D52-3D2C-4B39-B887-BADA26614DD5}">
          <p14:sldIdLst>
            <p14:sldId id="997"/>
            <p14:sldId id="998"/>
            <p14:sldId id="999"/>
            <p14:sldId id="1000"/>
            <p14:sldId id="1001"/>
            <p14:sldId id="1002"/>
            <p14:sldId id="1003"/>
            <p14:sldId id="1004"/>
            <p14:sldId id="1005"/>
            <p14:sldId id="1006"/>
            <p14:sldId id="1007"/>
            <p14:sldId id="1008"/>
          </p14:sldIdLst>
        </p14:section>
        <p14:section name="Day 3 — Assessment &amp; Field Verification" id="{B6DB5025-5052-475F-BE3D-A62AAEE076AC}">
          <p14:sldIdLst>
            <p14:sldId id="1009"/>
            <p14:sldId id="1010"/>
            <p14:sldId id="1011"/>
            <p14:sldId id="1012"/>
            <p14:sldId id="1013"/>
            <p14:sldId id="1014"/>
            <p14:sldId id="1015"/>
            <p14:sldId id="10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AIG CHRISTOPHER WILLEMSE" initials="CCW" lastIdx="2" clrIdx="0">
    <p:extLst>
      <p:ext uri="{19B8F6BF-5375-455C-9EA6-DF929625EA0E}">
        <p15:presenceInfo xmlns:p15="http://schemas.microsoft.com/office/powerpoint/2012/main" userId="CRAIG CHRISTOPHER WILLEMSE" providerId="None"/>
      </p:ext>
    </p:extLst>
  </p:cmAuthor>
  <p:cmAuthor id="2" name="ANABASE2" initials="A" lastIdx="1" clrIdx="1">
    <p:extLst>
      <p:ext uri="{19B8F6BF-5375-455C-9EA6-DF929625EA0E}">
        <p15:presenceInfo xmlns:p15="http://schemas.microsoft.com/office/powerpoint/2012/main" userId="ANABASE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523"/>
    <a:srgbClr val="0056B8"/>
    <a:srgbClr val="004FEE"/>
    <a:srgbClr val="007EEE"/>
    <a:srgbClr val="00339A"/>
    <a:srgbClr val="005993"/>
    <a:srgbClr val="EFFBF7"/>
    <a:srgbClr val="F7E827"/>
    <a:srgbClr val="DACA00"/>
    <a:srgbClr val="FFB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471" autoAdjust="0"/>
    <p:restoredTop sz="96405"/>
  </p:normalViewPr>
  <p:slideViewPr>
    <p:cSldViewPr snapToGrid="0">
      <p:cViewPr varScale="1">
        <p:scale>
          <a:sx n="83" d="100"/>
          <a:sy n="83" d="100"/>
        </p:scale>
        <p:origin x="208" y="11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288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59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70608-D9FC-4272-B79F-3AF6A0C1771B}" type="datetimeFigureOut">
              <a:rPr lang="en-US" smtClean="0"/>
              <a:t>7/19/26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59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0817E-F7CA-4563-93AB-05D24219BB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78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59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25131-BAF0-4236-BB77-35884A65E791}" type="datetimeFigureOut">
              <a:rPr lang="en-US" smtClean="0"/>
              <a:t>7/19/26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3" y="4473512"/>
            <a:ext cx="5608975" cy="366028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8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1, 07:00-07:15] Welcome the group, introduce yourself and your field background, run the round-the-room introductions, and cover house rules (next slide). See Trainer Script Session 1.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 continued, within 07:00-07:15] Part of the welcome block. See Trainer Script Session 1.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2, 07:15-07:20] Credibility statement — keep brief. See Trainer Script Session 2.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3, 07:20-07:30] Emphasise Field Verification is a real pass/fail event. See Trainer Script Session 3.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4, 07:30-07:35] Read aloud — these are exactly what Day 3 tests. See Trainer Script Session 4.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5, 07:35-07:50] Ask 'what could have prevented this?' before revealing. Internal ref: Lesson LL-001. See Trainer Script Session 5.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6, 07:50-08:20, then BREAK 08:20-08:35] Check understanding before moving on. See Trainer Script Session 6.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7, 08:35-09:15] Run as call-and-response: rule first, then 'why does this rule exist?'. Internal ref: MCR-046/047/048/051 + top FMEA items. See Trainer Script Session 7.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8, 09:15-10:00, then BREAK 10:00-10:15] Vocabulary session — hands-on begins Day 2. See Trainer Script Session 8.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9, 10:15-11:00] Flex block: trim here first if the day runs long, never the practical stations or safety rules. See Trainer Script Session 9.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10, 11:00-11:30, then LUNCH 11:30-12:15] Reference yard components by name. Internal ref: Lesson LL-002. See Trainer Script Session 10.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11, 12:15-13:45, 90 min] Rotate on a visible timer, ~15-20 min per station. Brief all station supervisors on checklist items and common mistakes beforehand for consistency. See Trainer Script Session 11.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12, 13:45-14:05] Concept portion — move directly into the calculation next. See Trainer Script Session 12.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13, 14:05-14:25] Use a worked example that FAILS the check (10 GPM at 15,000 psi ≈ 283 N &gt; 250 N limit). Internal ref: MCR-016/017 — metric constant 0.233, corrected 16 July 2026; pull fresh from the register when rebuilding this slide. See Trainer Script Session 13.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14, 14:25-14:40] Pass the sample card around; run the script as repeat-after-me at least twice. Full physical drill is deliberately on Day 2/3. See Trainer Script Session 14.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15, 14:40-14:55] Discussion format — ask for a volunteer story about hesitating to speak up. See Trainer Script Session 15.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16, 14:55-15:00] Ask 2-3 volunteers for one thing they'll remember. Confirm Day 2 start time and PPE expectations. See Trainer Script Session 16.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1, 07:00-07:15] Welcome back. Run the Day 1 recap quiz (verbal, rapid-fire): the three reaction-force checks, the 10 m exclusion rule, why a small entry wound is still an emergency, the three most common incident causes. See Trainer Script Session 1.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[Sessions 1-2, 07:00-07:20] Quiz first (10 min), then read outcomes. Everything listed is assessed on Day 3. See Trainer Script Sessions 1-2.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3, 07:20-08:00] Core concept: pump makes FLOW, nozzle resistance makes PRESSURE. If learners get this one idea, everything else on Day 2 follows. Internal ref: Section 16/17 physics, verified. See Trainer Script Session 3.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4, 08:00-08:35, then BREAK 08:35-08:50] Bring real reject-condition hose samples if available — handling a bulged or braid-exposed hose beats any slide. Internal ref: MCR-001/002/004/006/007. See Trainer Script Session 4.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5, 08:50-09:20] The 600 mm tip mark and back-out risk links directly to Day 1's fatality case study — make that connection explicitly. Internal ref: MCR-018/022/044/052. See Trainer Script Session 5.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6, 09:20-10:00, then BREAK 10:00-10:15] Practical session — every learner dons full kit and is buddy-checked. Cover heat stress management (rotation, hydration, shade) as part of this block. Internal ref: MCR-033 + Safetech data. See Trainer Script Session 6.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7, 10:15-10:45] Practice the signals physically in this session — don't just show the chart. Internal ref: MCR-011/025/047. See Trainer Script Session 7.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8, 10:45-11:30, then LUNCH 11:30-12:15] Narrate every step and have learners call out the matching checklist line. The 6 ft safety shroud / burst sleeve at the hose-to-gun connection is part of this demo. Internal ref: MCR-045. See Trainer Script Session 8.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9, 12:15-13:15] Dry drills first; live water only if the site setup allows and only under direct supervision, one learner at a time. The 10,000 psi / 1.6 mm shotgun limits are hard rules. Internal ref: MCR-050. See Trainer Script Session 9.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10, 13:15-14:15] Direct callback to the Day 1 case study — this is the control that would have saved that operator's life. Every learner personally installs and verifies the AWD at least once. Internal ref: MCR-019/020. See Trainer Script Session 10.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11, 14:15-14:45] This is the physical drill deferred from Day 1. Assess: pressure dumped first, script delivered correctly ('high-pressure water injection injury' + location), card presented. Rotate the lead role between runs. See Trainer Script Session 11.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12, 14:45-15:00] Preview Day 3 structure honestly: exam + practical, both must be passed. Confirm start time. See Trainer Script Session 12.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1, 07:00-07:15] Welcome. Set an encouraging but honest tone: today is assessment day, and everything needed to pass has been taught over the last two days. See Trainer Script Session 1.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1 continued, within 07:00-07:15] Explain the day's shape and the pass rules before anything else — uncertainty about the process creates more anxiety than the assessment itself. See Trainer Script Session 1.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2, 07:15-07:45] This is the final teaching block of the course — it completes the third of the 'three causes' named on Day 1. Keep it practical: a jetting crew and a crane crew wanting the same ground is the everyday version. See Trainer Script Session 2.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3, 07:45-08:45, then BREAK 08:45-09:00] Circulate actively — this hour is for closing individual gaps spotted over the last two days, not standing back. Steer weaker learners to their specific weak areas. See Trainer Script Session 3.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4, 09:00-10:00, then BREAK 10:00-10:15] Exam conditions: spaced seating, no notes, no phones. Mark during the Field Verification rounds so results are ready for the afternoon debrief. See Trainer Script Session 4.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[Sessions 5-6, 10:15-11:30 and 12:15-14:00, LUNCH between] Run two rounds: half the group is assessed individually while the other half does supervised practice, then swap. One assessor per candidate, scoring against the printed checklist. The staged stop-work condition must differ between rounds so the second group gets no advantage. See Trainer Script Sessions 5-6.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7, 14:00-14:30] Private, individual conversations — never announce results to the room. For unsuccessful candidates, agree the re-assessment plan on the spot so they leave with a path, not just a result. See Trainer Script Session 7.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[Session 8, 14:30-15:00] Hand over certificates and cards individually. Close on the safety culture message, not the paperwork: the course ends, the habits do not. Remind everyone of the 24-month refresher cycle. See Trainer Script Session 8.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0A74903-5C17-7719-784F-594E48F925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5220" y="1601606"/>
            <a:ext cx="11071222" cy="46863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  <a:p>
            <a:pPr lvl="0"/>
            <a:r>
              <a:rPr lang="en-US" dirty="0"/>
              <a:t>Arial – Size 12 –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A0417-B1E1-85FD-3BAA-CAA455D9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6B17CA-DF92-49D6-178E-79C7249A2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36387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Placeholder 26">
            <a:extLst>
              <a:ext uri="{FF2B5EF4-FFF2-40B4-BE49-F238E27FC236}">
                <a16:creationId xmlns:a16="http://schemas.microsoft.com/office/drawing/2014/main" id="{EB5A2E97-6180-E210-B4F7-BA179979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283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Placeholder 26">
            <a:extLst>
              <a:ext uri="{FF2B5EF4-FFF2-40B4-BE49-F238E27FC236}">
                <a16:creationId xmlns:a16="http://schemas.microsoft.com/office/drawing/2014/main" id="{EB5A2E97-6180-E210-B4F7-BA179979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3B1D187B-F68C-DF18-FA58-9246A6F7B4B7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20861" y="1250067"/>
            <a:ext cx="11134844" cy="49192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77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525220" y="1601606"/>
            <a:ext cx="3457136" cy="20716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  <a:p>
            <a:pPr lvl="0"/>
            <a:r>
              <a:rPr lang="en-US" dirty="0"/>
              <a:t>Arial – Size 12 –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1488EA1-A95C-6644-B118-5BCD133E0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9963" y="1601319"/>
            <a:ext cx="3744811" cy="4421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7E4F3B82-44E0-B847-8C1D-DFA4F8AF41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278574" y="1598903"/>
            <a:ext cx="3744811" cy="4421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3" name="Title Placeholder 26">
            <a:extLst>
              <a:ext uri="{FF2B5EF4-FFF2-40B4-BE49-F238E27FC236}">
                <a16:creationId xmlns:a16="http://schemas.microsoft.com/office/drawing/2014/main" id="{6D36625A-709D-24F3-4FBA-7D569D6D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1DB9C3C-FB95-1064-3329-F4C62B9E5B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205532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1488EA1-A95C-6644-B118-5BCD133E0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966" y="3393272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7E4F3B82-44E0-B847-8C1D-DFA4F8AF41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7887" y="339085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3A2AA1D-9494-C046-BF2D-DBFBB54672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22808" y="341352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C0427E1C-2052-4E4A-847B-16FCA2DAB5B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27729" y="339085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C7F21DA-D2B8-F2AF-3635-0158DE81DAB4}"/>
              </a:ext>
            </a:extLst>
          </p:cNvPr>
          <p:cNvSpPr txBox="1">
            <a:spLocks/>
          </p:cNvSpPr>
          <p:nvPr userDrawn="1"/>
        </p:nvSpPr>
        <p:spPr>
          <a:xfrm>
            <a:off x="560391" y="1162215"/>
            <a:ext cx="9144000" cy="3258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4" name="Title Placeholder 26">
            <a:extLst>
              <a:ext uri="{FF2B5EF4-FFF2-40B4-BE49-F238E27FC236}">
                <a16:creationId xmlns:a16="http://schemas.microsoft.com/office/drawing/2014/main" id="{5DCE1F4B-6D9E-33F7-6D44-7BE0D2EF6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712C6C7-8461-C4A5-8BC1-04BCE660FB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220282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D6148-42E8-A04A-ABF9-06CCA2B1B683}"/>
              </a:ext>
            </a:extLst>
          </p:cNvPr>
          <p:cNvSpPr/>
          <p:nvPr userDrawn="1"/>
        </p:nvSpPr>
        <p:spPr>
          <a:xfrm>
            <a:off x="0" y="0"/>
            <a:ext cx="12293600" cy="6949440"/>
          </a:xfrm>
          <a:prstGeom prst="rect">
            <a:avLst/>
          </a:prstGeom>
          <a:gradFill>
            <a:gsLst>
              <a:gs pos="0">
                <a:srgbClr val="007EEE"/>
              </a:gs>
              <a:gs pos="23000">
                <a:srgbClr val="0056B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C08157-3290-014B-A0DE-DB18D8E8C9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391" y="2370140"/>
            <a:ext cx="9144000" cy="3971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000">
                <a:solidFill>
                  <a:srgbClr val="F28523"/>
                </a:solidFill>
              </a:defRPr>
            </a:lvl1pPr>
          </a:lstStyle>
          <a:p>
            <a:r>
              <a:rPr lang="en-US" dirty="0"/>
              <a:t>SLIDE DIVIDER TITLE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5E5D5-9D41-3648-893F-4D30495E69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387" y="2695575"/>
            <a:ext cx="9144000" cy="33639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DESCRIPTION TEXT</a:t>
            </a:r>
          </a:p>
        </p:txBody>
      </p:sp>
    </p:spTree>
    <p:extLst>
      <p:ext uri="{BB962C8B-B14F-4D97-AF65-F5344CB8AC3E}">
        <p14:creationId xmlns:p14="http://schemas.microsoft.com/office/powerpoint/2010/main" val="16988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  <a:prstGeom prst="rect">
            <a:avLst/>
          </a:prstGeo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Placeholder 26">
            <a:extLst>
              <a:ext uri="{FF2B5EF4-FFF2-40B4-BE49-F238E27FC236}">
                <a16:creationId xmlns:a16="http://schemas.microsoft.com/office/drawing/2014/main" id="{98AE9043-443C-063D-A3E6-61CE09A98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4BA6E20B-AA01-AC1F-1731-B58F84184320}"/>
              </a:ext>
            </a:extLst>
          </p:cNvPr>
          <p:cNvGrpSpPr/>
          <p:nvPr/>
        </p:nvGrpSpPr>
        <p:grpSpPr>
          <a:xfrm rot="18900000">
            <a:off x="2261211" y="2484169"/>
            <a:ext cx="1442668" cy="1788135"/>
            <a:chOff x="4800600" y="1504950"/>
            <a:chExt cx="1371600" cy="1700048"/>
          </a:xfrm>
          <a:solidFill>
            <a:srgbClr val="F28523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692E6F-9DBA-5F1E-4762-03B078CBFCEC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Isosceles Triangle 62">
              <a:extLst>
                <a:ext uri="{FF2B5EF4-FFF2-40B4-BE49-F238E27FC236}">
                  <a16:creationId xmlns:a16="http://schemas.microsoft.com/office/drawing/2014/main" id="{D9522A27-1739-5AE1-3A92-2F1848449B4B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16">
            <a:extLst>
              <a:ext uri="{FF2B5EF4-FFF2-40B4-BE49-F238E27FC236}">
                <a16:creationId xmlns:a16="http://schemas.microsoft.com/office/drawing/2014/main" id="{A7090894-D7B1-DC4E-2B2E-2BC589C2E356}"/>
              </a:ext>
            </a:extLst>
          </p:cNvPr>
          <p:cNvGrpSpPr/>
          <p:nvPr/>
        </p:nvGrpSpPr>
        <p:grpSpPr>
          <a:xfrm rot="13500000">
            <a:off x="3281334" y="3260008"/>
            <a:ext cx="1442668" cy="1788135"/>
            <a:chOff x="4800600" y="1504950"/>
            <a:chExt cx="1371600" cy="1700048"/>
          </a:xfrm>
          <a:solidFill>
            <a:srgbClr val="0056B8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5A0EF2-7F17-AEC8-8314-01833D633983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Isosceles Triangle 53">
              <a:extLst>
                <a:ext uri="{FF2B5EF4-FFF2-40B4-BE49-F238E27FC236}">
                  <a16:creationId xmlns:a16="http://schemas.microsoft.com/office/drawing/2014/main" id="{C72898C1-52AC-2511-2374-FFE8A676FA4F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A9CD3496-9724-D6AD-F27C-C17A47DC9052}"/>
              </a:ext>
            </a:extLst>
          </p:cNvPr>
          <p:cNvGrpSpPr/>
          <p:nvPr/>
        </p:nvGrpSpPr>
        <p:grpSpPr>
          <a:xfrm rot="18900000">
            <a:off x="4301453" y="2484166"/>
            <a:ext cx="1442668" cy="1788136"/>
            <a:chOff x="4800601" y="1504949"/>
            <a:chExt cx="1371600" cy="1700049"/>
          </a:xfrm>
          <a:solidFill>
            <a:srgbClr val="F28523"/>
          </a:solidFill>
        </p:grpSpPr>
        <p:sp>
          <p:nvSpPr>
            <p:cNvPr id="31" name="Isosceles Triangle 50">
              <a:extLst>
                <a:ext uri="{FF2B5EF4-FFF2-40B4-BE49-F238E27FC236}">
                  <a16:creationId xmlns:a16="http://schemas.microsoft.com/office/drawing/2014/main" id="{67F54F60-1818-2E32-582E-4A67513B68BD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762AF8-FBED-7BE3-1121-64FC38A37DCE}"/>
                </a:ext>
              </a:extLst>
            </p:cNvPr>
            <p:cNvSpPr/>
            <p:nvPr/>
          </p:nvSpPr>
          <p:spPr bwMode="auto">
            <a:xfrm>
              <a:off x="4800601" y="1504949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22">
            <a:extLst>
              <a:ext uri="{FF2B5EF4-FFF2-40B4-BE49-F238E27FC236}">
                <a16:creationId xmlns:a16="http://schemas.microsoft.com/office/drawing/2014/main" id="{F232C0B8-5E94-B057-9A2A-895C68904CCB}"/>
              </a:ext>
            </a:extLst>
          </p:cNvPr>
          <p:cNvGrpSpPr/>
          <p:nvPr/>
        </p:nvGrpSpPr>
        <p:grpSpPr>
          <a:xfrm rot="13500000">
            <a:off x="5321572" y="3260008"/>
            <a:ext cx="1442668" cy="1788135"/>
            <a:chOff x="4800600" y="1504950"/>
            <a:chExt cx="1371600" cy="1700048"/>
          </a:xfrm>
          <a:solidFill>
            <a:srgbClr val="0056B8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F4557C-DA58-313A-C243-7B9D140C395E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Isosceles Triangle 47">
              <a:extLst>
                <a:ext uri="{FF2B5EF4-FFF2-40B4-BE49-F238E27FC236}">
                  <a16:creationId xmlns:a16="http://schemas.microsoft.com/office/drawing/2014/main" id="{3538C2AE-338B-15BE-1F48-2F6C49A44DE6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25">
            <a:extLst>
              <a:ext uri="{FF2B5EF4-FFF2-40B4-BE49-F238E27FC236}">
                <a16:creationId xmlns:a16="http://schemas.microsoft.com/office/drawing/2014/main" id="{A8E1737F-9CF4-35F8-CBDB-5F8FDE10A7EC}"/>
              </a:ext>
            </a:extLst>
          </p:cNvPr>
          <p:cNvGrpSpPr/>
          <p:nvPr/>
        </p:nvGrpSpPr>
        <p:grpSpPr>
          <a:xfrm rot="18900000">
            <a:off x="6341692" y="2484169"/>
            <a:ext cx="1442668" cy="1788135"/>
            <a:chOff x="4800600" y="1504950"/>
            <a:chExt cx="1371600" cy="1700048"/>
          </a:xfrm>
          <a:solidFill>
            <a:srgbClr val="F28523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63979E6-4BE8-EA00-68F2-06F818D58B46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Isosceles Triangle 44">
              <a:extLst>
                <a:ext uri="{FF2B5EF4-FFF2-40B4-BE49-F238E27FC236}">
                  <a16:creationId xmlns:a16="http://schemas.microsoft.com/office/drawing/2014/main" id="{4AD6BBD8-8254-9B35-C57E-8D717DC2ABD6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A7F8ABB-F3BF-7294-BCB8-0AAEF19861BD}"/>
              </a:ext>
            </a:extLst>
          </p:cNvPr>
          <p:cNvGrpSpPr/>
          <p:nvPr/>
        </p:nvGrpSpPr>
        <p:grpSpPr>
          <a:xfrm>
            <a:off x="7050488" y="1200546"/>
            <a:ext cx="3273583" cy="3340279"/>
            <a:chOff x="5144977" y="929194"/>
            <a:chExt cx="2475022" cy="2525446"/>
          </a:xfrm>
          <a:solidFill>
            <a:srgbClr val="0056B8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ED582A6-CC9C-BEDE-0F9C-A15EC6542056}"/>
                </a:ext>
              </a:extLst>
            </p:cNvPr>
            <p:cNvSpPr/>
            <p:nvPr/>
          </p:nvSpPr>
          <p:spPr bwMode="auto">
            <a:xfrm rot="13500000">
              <a:off x="5633321" y="1875554"/>
              <a:ext cx="1090742" cy="206743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Isosceles Triangle 41">
              <a:extLst>
                <a:ext uri="{FF2B5EF4-FFF2-40B4-BE49-F238E27FC236}">
                  <a16:creationId xmlns:a16="http://schemas.microsoft.com/office/drawing/2014/main" id="{15C70C55-2B4E-7B7A-2D67-20DB7E096675}"/>
                </a:ext>
              </a:extLst>
            </p:cNvPr>
            <p:cNvSpPr/>
            <p:nvPr/>
          </p:nvSpPr>
          <p:spPr bwMode="auto">
            <a:xfrm rot="2700000">
              <a:off x="6247517" y="1454261"/>
              <a:ext cx="1897550" cy="847415"/>
            </a:xfrm>
            <a:prstGeom prst="triangle">
              <a:avLst>
                <a:gd name="adj" fmla="val 47444"/>
              </a:avLst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3FBD24A5-D3AC-65EC-0FE3-8B53D97671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8650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5" name="Text Placeholder 53">
            <a:extLst>
              <a:ext uri="{FF2B5EF4-FFF2-40B4-BE49-F238E27FC236}">
                <a16:creationId xmlns:a16="http://schemas.microsoft.com/office/drawing/2014/main" id="{0A6F56E8-6CA4-F5B9-D34C-B4173EC7CC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3260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6" name="Text Placeholder 53">
            <a:extLst>
              <a:ext uri="{FF2B5EF4-FFF2-40B4-BE49-F238E27FC236}">
                <a16:creationId xmlns:a16="http://schemas.microsoft.com/office/drawing/2014/main" id="{C227323E-EFE8-C86F-45C8-3882F0D1CA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0519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7" name="Text Placeholder 53">
            <a:extLst>
              <a:ext uri="{FF2B5EF4-FFF2-40B4-BE49-F238E27FC236}">
                <a16:creationId xmlns:a16="http://schemas.microsoft.com/office/drawing/2014/main" id="{AB33703D-2820-AA85-D38C-E7C7965D21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55129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8" name="Text Placeholder 53">
            <a:extLst>
              <a:ext uri="{FF2B5EF4-FFF2-40B4-BE49-F238E27FC236}">
                <a16:creationId xmlns:a16="http://schemas.microsoft.com/office/drawing/2014/main" id="{D4BF0C42-0962-18D7-79C1-2A230D4D54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0813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9" name="Text Placeholder 53">
            <a:extLst>
              <a:ext uri="{FF2B5EF4-FFF2-40B4-BE49-F238E27FC236}">
                <a16:creationId xmlns:a16="http://schemas.microsoft.com/office/drawing/2014/main" id="{2CB1EDB3-6F32-A71F-BC7C-B9C8780C7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5423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4D4E548C-BABE-4198-5AA0-7DACACE93F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9313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37ACA4B4-89F2-2607-09DE-50B5168BC2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9313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AB9F40D-CD2A-1276-EA94-4A372811D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458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0EC0157-4EF4-3F6C-C370-704141B9A2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458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D1A5B84F-87E8-C16B-18EE-2FA03AF277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12028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A136323B-4A9C-D7E1-1184-8511B63E25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12028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420F8C5A-8E72-C305-B719-03BAAB22DF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53080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56492350-B0A1-35C6-F320-8A8B919BD97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53080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B0A3670B-EA54-14CA-D35B-69A22FCF88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90225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1" name="Text Placeholder 60">
            <a:extLst>
              <a:ext uri="{FF2B5EF4-FFF2-40B4-BE49-F238E27FC236}">
                <a16:creationId xmlns:a16="http://schemas.microsoft.com/office/drawing/2014/main" id="{FE113F80-3B82-C561-BC57-CABCE4E295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0225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2" name="Text Placeholder 60">
            <a:extLst>
              <a:ext uri="{FF2B5EF4-FFF2-40B4-BE49-F238E27FC236}">
                <a16:creationId xmlns:a16="http://schemas.microsoft.com/office/drawing/2014/main" id="{EE475CDA-4A8B-E797-F6F4-001A4A7A08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15795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3" name="Text Placeholder 60">
            <a:extLst>
              <a:ext uri="{FF2B5EF4-FFF2-40B4-BE49-F238E27FC236}">
                <a16:creationId xmlns:a16="http://schemas.microsoft.com/office/drawing/2014/main" id="{40A9B852-784F-EE1A-7DB9-B683A55BF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15795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5275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583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943CA4-1DCB-8430-AE76-6918F16D81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244" b="18214"/>
          <a:stretch/>
        </p:blipFill>
        <p:spPr>
          <a:xfrm>
            <a:off x="4029260" y="1007256"/>
            <a:ext cx="4133479" cy="40654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5118FF-2F71-0B33-A8D7-7DE16C6732CE}"/>
              </a:ext>
            </a:extLst>
          </p:cNvPr>
          <p:cNvSpPr/>
          <p:nvPr userDrawn="1"/>
        </p:nvSpPr>
        <p:spPr>
          <a:xfrm>
            <a:off x="0" y="5542723"/>
            <a:ext cx="12758057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3100" indent="-914400" algn="ctr" defTabSz="457200">
              <a:defRPr sz="1800" b="1">
                <a:solidFill>
                  <a:srgbClr val="1270B8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lang="de-DE" sz="1400" b="1" dirty="0">
                <a:solidFill>
                  <a:srgbClr val="1270B8"/>
                </a:solidFill>
                <a:latin typeface="Arial"/>
                <a:cs typeface="Arial"/>
                <a:sym typeface="Arial"/>
              </a:rPr>
              <a:t>Arabian Pipeline &amp; Services Co. Ltd. </a:t>
            </a:r>
            <a:r>
              <a:rPr lang="de-DE" sz="1400" b="1" dirty="0">
                <a:solidFill>
                  <a:srgbClr val="F28523"/>
                </a:solidFill>
                <a:latin typeface="Arial"/>
                <a:cs typeface="Arial"/>
                <a:sym typeface="Arial"/>
              </a:rPr>
              <a:t>(ANABEEB)</a:t>
            </a:r>
          </a:p>
          <a:p>
            <a:pPr marR="673100" indent="-914400" algn="ctr" defTabSz="457200">
              <a:defRPr sz="1800" b="1">
                <a:solidFill>
                  <a:srgbClr val="1270B8"/>
                </a:solidFill>
                <a:latin typeface="+mj-lt"/>
                <a:ea typeface="+mj-ea"/>
                <a:cs typeface="+mj-cs"/>
                <a:sym typeface="Arial"/>
              </a:defRPr>
            </a:pPr>
            <a:endParaRPr lang="de-DE" sz="1200" b="1" dirty="0">
              <a:solidFill>
                <a:srgbClr val="1270B8"/>
              </a:solidFill>
              <a:latin typeface="Arial"/>
              <a:cs typeface="Arial"/>
              <a:sym typeface="Arial"/>
            </a:endParaRPr>
          </a:p>
          <a:p>
            <a:pPr marR="673100" indent="-914400" algn="ctr" defTabSz="457200">
              <a:defRPr sz="1300">
                <a:solidFill>
                  <a:srgbClr val="929292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</a:rPr>
              <a:t>P.O. Box 234 Al Jubail      |     Tel:  +966 13 362 0556 	|    Fax: +966 13 361 4990    |     Email: info@anabeeb.com	|    Website: www.anabeeb.com</a:t>
            </a:r>
            <a:endParaRPr lang="de-DE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27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17285" y="6510339"/>
            <a:ext cx="464457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5037CCFB-8CBF-422D-97B2-3E4D2CDC6F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25863" y="108772"/>
            <a:ext cx="820017" cy="820017"/>
          </a:xfrm>
          <a:prstGeom prst="rect">
            <a:avLst/>
          </a:prstGeom>
        </p:spPr>
      </p:pic>
      <p:sp>
        <p:nvSpPr>
          <p:cNvPr id="27" name="Title Placeholder 26">
            <a:extLst>
              <a:ext uri="{FF2B5EF4-FFF2-40B4-BE49-F238E27FC236}">
                <a16:creationId xmlns:a16="http://schemas.microsoft.com/office/drawing/2014/main" id="{8200032C-7E8B-0AB5-A949-CF2BE339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6777BA-ED8E-7B0D-E313-DA672AFCD8B4}"/>
              </a:ext>
            </a:extLst>
          </p:cNvPr>
          <p:cNvSpPr txBox="1"/>
          <p:nvPr userDrawn="1"/>
        </p:nvSpPr>
        <p:spPr>
          <a:xfrm>
            <a:off x="8865309" y="6082899"/>
            <a:ext cx="301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rgbClr val="0056B8"/>
                </a:solidFill>
                <a:latin typeface="Arial"/>
                <a:cs typeface="Arial"/>
                <a:sym typeface="Arial"/>
              </a:rPr>
              <a:t>END-TO-END SOLUTIONS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4F9FC9-64D9-0F04-E021-21F7D2B40B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7" b="-130026"/>
          <a:stretch/>
        </p:blipFill>
        <p:spPr>
          <a:xfrm>
            <a:off x="483691" y="6220378"/>
            <a:ext cx="8292916" cy="2651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115D1A-933E-CE7C-E81D-D8678D60E0D9}"/>
              </a:ext>
            </a:extLst>
          </p:cNvPr>
          <p:cNvSpPr/>
          <p:nvPr userDrawn="1"/>
        </p:nvSpPr>
        <p:spPr>
          <a:xfrm>
            <a:off x="519763" y="956970"/>
            <a:ext cx="11165116" cy="74080"/>
          </a:xfrm>
          <a:prstGeom prst="rect">
            <a:avLst/>
          </a:prstGeom>
          <a:solidFill>
            <a:srgbClr val="F285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15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8" r:id="rId2"/>
    <p:sldLayoutId id="2147483713" r:id="rId3"/>
    <p:sldLayoutId id="2147483706" r:id="rId4"/>
    <p:sldLayoutId id="2147483707" r:id="rId5"/>
    <p:sldLayoutId id="2147483712" r:id="rId6"/>
    <p:sldLayoutId id="2147483704" r:id="rId7"/>
    <p:sldLayoutId id="2147483708" r:id="rId8"/>
    <p:sldLayoutId id="214748371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56B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Hero Background" descr="Operator in orange water-jetting suit cleaning a large heat exchanger with a high pressure water lance at a desert refinery"/>
          <p:cNvPicPr>
            <a:picLocks noChangeAspect="1"/>
          </p:cNvPicPr>
          <p:nvPr/>
        </p:nvPicPr>
        <p:blipFill>
          <a:blip r:embed="rId3"/>
          <a:srcRect t="4688" b="109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82000"/>
                </a:srgbClr>
              </a:gs>
              <a:gs pos="60000">
                <a:srgbClr val="000000">
                  <a:alpha val="35000"/>
                </a:srgbClr>
              </a:gs>
              <a:gs pos="100000">
                <a:srgbClr val="000000">
                  <a:alpha val="8000"/>
                </a:srgbClr>
              </a:gs>
            </a:gsLst>
            <a:lin ang="0" scaled="1"/>
          </a:gra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HPWJ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DAY 1 OF 3 — FOUNDATIONS, HAZARDS &amp; CONTROLS</a:t>
            </a:r>
          </a:p>
          <a:p>
            <a:r>
              <a:t>Anabeeb ATC-HPWJ-OP-001 | Level 2 Operator Pathway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This session is interactive, not just a lecture</a:t>
            </a:r>
          </a:p>
          <a:p>
            <a:r>
              <a:t>You are welcome to ask questions at any time</a:t>
            </a:r>
          </a:p>
          <a:p>
            <a:r>
              <a:t>Please share your own site experiences during discussions</a:t>
            </a:r>
          </a:p>
          <a:p>
            <a:r>
              <a:t>Respect others when they are speaking</a:t>
            </a:r>
          </a:p>
          <a:p>
            <a:r>
              <a:t>Mobile phones on silent during the session</a:t>
            </a:r>
          </a:p>
          <a:p>
            <a:r>
              <a:t>This is Day 1 of 3 — everything you learn this week builds toward your certification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WELCOME &amp; HOUSE RULES</a:t>
            </a:r>
          </a:p>
        </p:txBody>
      </p:sp>
      <p:sp>
        <p:nvSpPr>
          <p:cNvPr id="5" name="Photo" descr="Trainer leading a toolbox talk with workers in coveralls and hard hats in a training room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l="13997" r="13997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NEBOSH, formed in 1979, is a globally recognised awarding organisation</a:t>
            </a:r>
          </a:p>
          <a:p>
            <a:r>
              <a:t>It provides high-quality health, safety, and environmental qualifications</a:t>
            </a:r>
          </a:p>
          <a:p>
            <a:r>
              <a:t>Anabeeb partners with NEBOSH to ensure high-quality HPWJ Operator training</a:t>
            </a:r>
          </a:p>
          <a:p>
            <a:r>
              <a:t>The NEBOSH Verified logo signifies training quality</a:t>
            </a:r>
          </a:p>
          <a:p>
            <a:r>
              <a:t>Successful completion earns a recognised e-certificate</a:t>
            </a:r>
          </a:p>
          <a:p>
            <a:r>
              <a:t>This training enhances safety in oil and gas plants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NEBOSH VERIFIED PROGRAM</a:t>
            </a:r>
          </a:p>
        </p:txBody>
      </p:sp>
      <p:sp>
        <p:nvSpPr>
          <p:cNvPr id="5" name="Photo" descr="NEBOSH Verified programme badge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Day 1 (today): Foundations, hazards, equipment basics, and the core safety rules that govern every task</a:t>
            </a:r>
          </a:p>
          <a:p>
            <a:r>
              <a:t>Day 2: Full hands-on equipment mastery — pump operation, flex lance, shotgun setup</a:t>
            </a:r>
          </a:p>
          <a:p>
            <a:r>
              <a:t>Day 3: Integration, live Field Verification, and written assessment</a:t>
            </a:r>
          </a:p>
          <a:p>
            <a:r>
              <a:t>Pass criteria: theory score of at least 80% + a practical pass on every critical item + a Medical Alert Card issued</a:t>
            </a:r>
          </a:p>
          <a:p>
            <a:r>
              <a:t>Certificate validity: 24 months, then a refresher assessment (Verification of Competency)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COURSE STRUCTURE AT A GLANCE</a:t>
            </a:r>
          </a:p>
        </p:txBody>
      </p:sp>
      <p:sp>
        <p:nvSpPr>
          <p:cNvPr id="5" name="Photo" descr="Flat lay of high pressure water jetting training essentials: hard hat, inspection checklist, gloves, goggles and a rolled certificate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Explain the physics of high-pressure jets and why injection injuries are catastrophic</a:t>
            </a:r>
          </a:p>
          <a:p>
            <a:r>
              <a:t>Identify the core safety rules that govern every HPWJ task and understand why each one exists</a:t>
            </a:r>
          </a:p>
          <a:p>
            <a:r>
              <a:t>Name the main parts of the pump, hose, and nozzle system and recognise correct PPE</a:t>
            </a:r>
          </a:p>
          <a:p>
            <a:r>
              <a:t>Perform a complete pre-use inspection to standard</a:t>
            </a:r>
          </a:p>
          <a:p>
            <a:r>
              <a:t>Calculate reaction force and apply the three additive controls</a:t>
            </a:r>
          </a:p>
          <a:p>
            <a:r>
              <a:t>Demonstrate correct Medical Alert Card use and emergency communication script</a:t>
            </a:r>
          </a:p>
          <a:p>
            <a:r>
              <a:t>Apply stop-work authority correctly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DAY 1 LEARNING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A UK regulator investigated a fatality involving a flexible lance operated without a correctly installed and verified anti-withdrawal device</a:t>
            </a:r>
          </a:p>
          <a:p>
            <a:r>
              <a:t>The missing device, combined with inadequate training and supervision, led to loss of control and a fatal injection injury</a:t>
            </a:r>
          </a:p>
          <a:p>
            <a:r>
              <a:t>Source: UK Health and Safety Executive investigation, reported via SAFETY4SEA (Dec 2020) and an IMCA Safety Flash</a:t>
            </a:r>
          </a:p>
          <a:p>
            <a:r>
              <a:t>Every control taught this week exists because of a failure exactly like this 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WHY THIS MATTERS — A REAL INJECTION INJURY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Image / video: incident case study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Jet exit velocity can exceed 700 m/s at ultra-high pressure (approximately 743 m/s at 40,000 psi)</a:t>
            </a:r>
          </a:p>
          <a:p>
            <a:r>
              <a:t>A water jet can penetrate skin and inject fluid deep into tissue in a fraction of a second</a:t>
            </a:r>
          </a:p>
          <a:p>
            <a:r>
              <a:t>The entry wound often looks minor — internal damage is frequently severe and worsens rapidly</a:t>
            </a:r>
          </a:p>
          <a:p>
            <a:r>
              <a:t>Any suspected injection injury is a medical emergency until proven otherwise — never 'wait and see'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THE PHYSICS OF THE JET</a:t>
            </a:r>
          </a:p>
        </p:txBody>
      </p:sp>
      <p:sp>
        <p:nvSpPr>
          <p:cNvPr id="5" name="Photo" descr="A powerful high pressure water jet blasting from a nozzle and striking a steel surface in a spray of droplets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A minimum of three competent people is required for every task, with one person dedicated solely to the emergency stop</a:t>
            </a:r>
          </a:p>
          <a:p>
            <a:r>
              <a:t>Maximum working pressure is capped at 40,000 psi — there is no exception to this ceiling</a:t>
            </a:r>
          </a:p>
          <a:p>
            <a:r>
              <a:t>The rupture disc must always be rated no higher than 1.2 times the weakest-rated part in the system</a:t>
            </a:r>
          </a:p>
          <a:p>
            <a:r>
              <a:t>No unauthorised person may come within 10 metres of equipment while it is running</a:t>
            </a:r>
          </a:p>
          <a:p>
            <a:r>
              <a:t>Most serious incidents trace back to one of three causes: a skipped pre-use inspection, loss of control of a flexible lance, or poor coordination between activities happening at the same time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KEY SAFETY RULES EVERY OPERATOR MUST KNOW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The pump pressurises water; flow is measured in GPM or L/min, pressure in psi or bar</a:t>
            </a:r>
          </a:p>
          <a:p>
            <a:r>
              <a:t>High-pressure hose carries water from the pump to the gun or lance — always rated above the system's working pressure</a:t>
            </a:r>
          </a:p>
          <a:p>
            <a:r>
              <a:t>The nozzle (or lance tip) is where water exits at high speed — its orifice size controls flow and force</a:t>
            </a:r>
          </a:p>
          <a:p>
            <a:r>
              <a:t>A whip check is a safety restraint fitted at every hose connection to stop violent movement if a coupling fails</a:t>
            </a:r>
          </a:p>
          <a:p>
            <a:r>
              <a:t>Personal protective equipment for HPWJ includes a full-face visor, cut-resistant suit, and reinforced gloves and boots rated for the pressure class in use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MEET THE EQUIPMENT — PUMP, HOSE &amp; NOZZLE BASICS</a:t>
            </a:r>
          </a:p>
        </p:txBody>
      </p:sp>
      <p:sp>
        <p:nvSpPr>
          <p:cNvPr id="5" name="Photo" descr="High pressure triplex pump connected by a hose to a long-barrel water jetting gun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We'll now go to the equipment yard to see a real pump unit, hoses, nozzles, and PPE up close</a:t>
            </a:r>
          </a:p>
          <a:p>
            <a:r>
              <a:t>Look for: the rupture disc, the whip checks, the nozzle tip marking, and the dump/trigger mechanism</a:t>
            </a:r>
          </a:p>
          <a:p>
            <a:r>
              <a:t>This is an orientation visit, not hands-on operation — that begins Day 2</a:t>
            </a:r>
          </a:p>
          <a:p>
            <a:r>
              <a:t>Bring your notepad — what you see here comes up again in this afternoon's pre-use inspection session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EQUIPMENT &amp; PPE WALK-THROUGH</a:t>
            </a:r>
          </a:p>
        </p:txBody>
      </p:sp>
      <p:sp>
        <p:nvSpPr>
          <p:cNvPr id="5" name="Photo" descr="Diesel-driven high pressure triplex pump skid unit in an equipment yard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Starting work without a complete, supervisor-verified pre-use inspection is the single most frequent preventable cause of serious incidents</a:t>
            </a:r>
          </a:p>
          <a:p>
            <a:r>
              <a:t>A full documented inspection is required before every use and every shift — it is a pre-requisite for the work permit</a:t>
            </a:r>
          </a:p>
          <a:p>
            <a:r>
              <a:t>No permit is issued without a completed and verified pre-use inspection checklist</a:t>
            </a:r>
          </a:p>
          <a:p>
            <a:r>
              <a:t>This afternoon's practical stations build this habit on the equipment you just saw in the yard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PRE-USE INSPECTION — THE HIGHEST-RISK CONTROL</a:t>
            </a:r>
          </a:p>
        </p:txBody>
      </p:sp>
      <p:sp>
        <p:nvSpPr>
          <p:cNvPr id="5" name="Photo" descr="Operator carrying out a pre-start inspection of a high pressure pump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Small teams rotate through hands-on stations: hose condition, rupture disc, whip check, nozzle condition, and dump/trigger function</a:t>
            </a:r>
          </a:p>
          <a:p>
            <a:r>
              <a:t>You work through the printed pre-use inspection checklist yourself — the station supervisor observes and corrects</a:t>
            </a:r>
          </a:p>
          <a:p>
            <a:r>
              <a:t>By the end of the rotation, every learner will have personally performed every check at least once</a:t>
            </a:r>
          </a:p>
          <a:p>
            <a:r>
              <a:t>This exact skill is assessed, pass/fail, during Day 3 Field Verification — treat every rotation as the real thing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PRE-USE INSPECTION — PRACTICAL STATIONS</a:t>
            </a:r>
          </a:p>
        </p:txBody>
      </p:sp>
      <p:sp>
        <p:nvSpPr>
          <p:cNvPr id="5" name="Photo" descr="Operator inspecting a high pressure water jetting hose during a practical station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When water leaves the nozzle at high speed, it pushes back on the person holding the equipment — this push-back is called reaction force</a:t>
            </a:r>
          </a:p>
          <a:p>
            <a:r>
              <a:t>Left unmanaged, this force can throw an operator off balance or drag the jet across their own body</a:t>
            </a:r>
          </a:p>
          <a:p>
            <a:r>
              <a:t>Three checks must ALL pass before anyone can hold this equipment by hand: the force must stay under a strict limit, it must stay under a set fraction of the operator's own body weight, and the equipment must be held so the jet can never cross the operator's own feet or legs</a:t>
            </a:r>
          </a:p>
          <a:p>
            <a:r>
              <a:t>If any one check fails: do not use handheld — switch to mechanical support, a longer barrel, a different nozzle, or automation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REACTION FORCE — WHY IT MATTERS</a:t>
            </a:r>
          </a:p>
        </p:txBody>
      </p:sp>
      <p:sp>
        <p:nvSpPr>
          <p:cNvPr id="5" name="Photo" descr="Water jetting operator in orange suit bracing a long-barrel gun in a controlled stance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Now that you know flow and pressure, here is how we calculate reaction force before any handheld job</a:t>
            </a:r>
          </a:p>
          <a:p>
            <a:r>
              <a:t>Imperial: force (lbf) is approximately 0.052 times flow in GPM times the square root of pressure in psi</a:t>
            </a:r>
          </a:p>
          <a:p>
            <a:r>
              <a:t>Metric: force (N) is approximately 0.233 times flow in L/min times the square root of pressure in bar</a:t>
            </a:r>
          </a:p>
          <a:p>
            <a:r>
              <a:t>Worked example: we'll calculate this together live for a typical field setup</a:t>
            </a:r>
          </a:p>
          <a:p>
            <a:r>
              <a:t>If the result is above 250 N, or exceeds one third of the operator's body weight, handheld operation is not permitted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REACTION FORCE — CALCULATING IT</a:t>
            </a:r>
          </a:p>
        </p:txBody>
      </p:sp>
      <p:sp>
        <p:nvSpPr>
          <p:cNvPr id="5" name="Photo" descr="Operator in orange PPE bracing a long barrel water jetting gun against the reaction force while jetting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Every operator carries an immediately accessible, waterproof Medical Alert Card at all times</a:t>
            </a:r>
          </a:p>
          <a:p>
            <a:r>
              <a:t>Any jetting injury, however minor it appears, is a medical emergency until proven otherwise</a:t>
            </a:r>
          </a:p>
          <a:p>
            <a:r>
              <a:t>Emergency communication script: state 'high-pressure water injection injury', give the location, and hand the Medical Alert Card to first responders</a:t>
            </a:r>
          </a:p>
          <a:p>
            <a:r>
              <a:t>Delay in correct treatment is the single biggest driver of poor outcomes in injection injuries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MEDICAL ALERT CARD &amp; EMERGENCY COMMUNICATION</a:t>
            </a:r>
          </a:p>
        </p:txBody>
      </p:sp>
      <p:sp>
        <p:nvSpPr>
          <p:cNvPr id="5" name="Photo" descr="A laminated red Medical Alert card held in a gloved hand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Any team member can call stop-work — the call is absolute, with no exceptions</a:t>
            </a:r>
          </a:p>
          <a:p>
            <a:r>
              <a:t>Supervisors must support the call, never override it for schedule or production pressure</a:t>
            </a:r>
          </a:p>
          <a:p>
            <a:r>
              <a:t>Common triggers: any safety rule breach, unauthorised entry to the exclusion zone, loss of communication, or equipment doubt</a:t>
            </a:r>
          </a:p>
          <a:p>
            <a:r>
              <a:t>Speaking up is expected, not optional — this is a cultural control as much as a procedural 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STOP-WORK AUTHORITY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Today: physics and injury mechanism, key safety rules, equipment basics, pre-use inspection in theory and practice, reaction force, Medical Alert Card, stop-work authority</a:t>
            </a:r>
          </a:p>
          <a:p>
            <a:r>
              <a:t>Tomorrow (Day 2): full hands-on pump, hose and nozzle operation, flexible lance with its anti-withdrawal device (AWD), shotgun setup, hands-on practical stations</a:t>
            </a:r>
          </a:p>
          <a:p>
            <a:r>
              <a:t>Reminder: Day 3 Field Verification is a pass/fail practical assessment covering everything from Day 1 and Day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DAY 1 RECAP &amp; BRIDGE TO DAY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Hero Background" descr="High pressure water jetting operator working among pipework at an oil and gas refinery at dusk"/>
          <p:cNvPicPr>
            <a:picLocks noChangeAspect="1"/>
          </p:cNvPicPr>
          <p:nvPr/>
        </p:nvPicPr>
        <p:blipFill>
          <a:blip r:embed="rId3"/>
          <a:srcRect t="4688" b="109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82000"/>
                </a:srgbClr>
              </a:gs>
              <a:gs pos="60000">
                <a:srgbClr val="000000">
                  <a:alpha val="35000"/>
                </a:srgbClr>
              </a:gs>
              <a:gs pos="100000">
                <a:srgbClr val="000000">
                  <a:alpha val="8000"/>
                </a:srgbClr>
              </a:gs>
            </a:gsLst>
            <a:lin ang="0" scaled="1"/>
          </a:gra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HPWJ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t>DAY 2 OF 3 — EQUIPMENT MASTERY &amp; HANDS-ON SKILLS</a:t>
            </a:r>
          </a:p>
          <a:p>
            <a:r>
              <a:t>Anabeeb ATC-HPWJ-OP-001 | Level 2 Operator Pathway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Quick recap quiz from Day 1 — reaction force checks, exclusion distance, emergency response</a:t>
            </a:r>
          </a:p>
          <a:p>
            <a:r>
              <a:t>Today you will: explain how the pump creates pressure and what flow and pressure mean in practice</a:t>
            </a:r>
          </a:p>
          <a:p>
            <a:r>
              <a:t>Inspect hoses, fittings, and whip checks against the rejection rules, and explain hose life limits</a:t>
            </a:r>
          </a:p>
          <a:p>
            <a:r>
              <a:t>Select and check nozzles, and verify lance length and tip marking requirements</a:t>
            </a:r>
          </a:p>
          <a:p>
            <a:r>
              <a:t>Correctly don and check the full HPWJ PPE set</a:t>
            </a:r>
          </a:p>
          <a:p>
            <a:r>
              <a:t>Demonstrate team communication signals, and set up a shotgun lance and a flex lance with its anti-withdrawal device under supervision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WELCOME BACK &amp; DAY 2 LEARNING OUTCOMES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HPWJ pumps are positive displacement pumps: each stroke pushes a fixed volume of water, so the pump sets the flow</a:t>
            </a:r>
          </a:p>
          <a:p>
            <a:r>
              <a:t>Pressure is created by resistance at the nozzle: the pump pushes water, and the small nozzle orifice resists it</a:t>
            </a:r>
          </a:p>
          <a:p>
            <a:r>
              <a:t>Same pump, smaller plungers: less flow but higher available pressure; larger plungers: more flow at lower pressure</a:t>
            </a:r>
          </a:p>
          <a:p>
            <a:r>
              <a:t>This is why the nozzle choice matters so much — the wrong orifice changes the pressure of the whole system</a:t>
            </a:r>
          </a:p>
          <a:p>
            <a:r>
              <a:t>The rupture disc and the operator dump system are the two protections if pressure runs away — both are checked in every pre-use inspection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THE PUMP — HOW PRESSURE IS ACTUALLY MADE</a:t>
            </a:r>
          </a:p>
        </p:txBody>
      </p:sp>
      <p:sp>
        <p:nvSpPr>
          <p:cNvPr id="5" name="Photo" descr="Close-up of a triplex high pressure pump showing plungers, valves and gauge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Hose life is limited: flexible lances and shotgun whip hoses have a maximum life of 2 years; all other high-pressure hoses, 4 years</a:t>
            </a:r>
          </a:p>
          <a:p>
            <a:r>
              <a:t>Every hose also needs an annual pressure test by a third party — visual inspection alone misses internal damage</a:t>
            </a:r>
          </a:p>
          <a:p>
            <a:r>
              <a:t>Reject any hose with exposed or rusted braid, bulging, cuts, kinks, leaks, damaged fittings, expired life, or missing pressure markings</a:t>
            </a:r>
          </a:p>
          <a:p>
            <a:r>
              <a:t>Whip checks go on BOTH sides of every high-pressure connection, and are inspected every use</a:t>
            </a:r>
          </a:p>
          <a:p>
            <a:r>
              <a:t>Quick-connect couplings are not used on high-pressure hoses — they can rotate and release under pressure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HOSES, FITTINGS &amp; WHIP CHECKS</a:t>
            </a:r>
          </a:p>
        </p:txBody>
      </p:sp>
      <p:sp>
        <p:nvSpPr>
          <p:cNvPr id="5" name="Photo" descr="A damaged high pressure hose with a safety whip-check restraint attached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Nozzles wear out in service — typically within 20 to 60 hours of use; a worn nozzle loses cleaning power and wastes pump energy</a:t>
            </a:r>
          </a:p>
          <a:p>
            <a:r>
              <a:t>Check nozzles with a pin gauge and reject any nozzle with pitting or a worn orifice</a:t>
            </a:r>
          </a:p>
          <a:p>
            <a:r>
              <a:t>Rigid lances must be at least 1.2 metres from trigger to tip — shorter lances need special approval and extra controls</a:t>
            </a:r>
          </a:p>
          <a:p>
            <a:r>
              <a:t>The lance or hose must carry a visible mark no closer than 600 mm from the nozzle tip — this warns you the tip is about to exit the pipe</a:t>
            </a:r>
          </a:p>
          <a:p>
            <a:r>
              <a:t>For tube work: the nozzle's thrust direction must be verified before insertion, and the rigid leader (stinger) must be longer than the pipe's internal diameter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NOZZLES, LANCES &amp; TIP MARKING</a:t>
            </a:r>
          </a:p>
        </p:txBody>
      </p:sp>
      <p:sp>
        <p:nvSpPr>
          <p:cNvPr id="5" name="Photo" descr="Close-up of a long-barrel water jetting gun and nozzle being inspected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Full HPWJ PPE: full-face visor or helmet with face protection, cut-resistant suit rated for the pressure class, reinforced gloves, and metatarsal-protected boots</a:t>
            </a:r>
          </a:p>
          <a:p>
            <a:r>
              <a:t>PPE is rated by pressure class — equipment rated for 10,000 psi work does not protect you at 40,000 psi</a:t>
            </a:r>
          </a:p>
          <a:p>
            <a:r>
              <a:t>In this session everyone dons the full PPE set, and we check each other in pairs</a:t>
            </a:r>
          </a:p>
          <a:p>
            <a:r>
              <a:t>Heat matters in our climate: hydration and work-rest rotation are part of the PPE plan, not separate from 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PPE — DONNING &amp; CHECKING</a:t>
            </a:r>
          </a:p>
        </p:txBody>
      </p:sp>
      <p:sp>
        <p:nvSpPr>
          <p:cNvPr id="5" name="Photo" descr="Full set of high pressure water jetting personal protective equipment laid out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Every job has three roles minimum: lance operator, pump operator, and a dedicated emergency-stop person</a:t>
            </a:r>
          </a:p>
          <a:p>
            <a:r>
              <a:t>Before any job, the team agrees hand signals and the emergency dump signal — and tests them</a:t>
            </a:r>
          </a:p>
          <a:p>
            <a:r>
              <a:t>The pump operator never leaves the running pump unattended, and never starts or stops pressure without a clear signal</a:t>
            </a:r>
          </a:p>
          <a:p>
            <a:r>
              <a:t>If line of sight between lance and pump is lost, the dedicated emergency-stop person becomes the link — communication must be continuous</a:t>
            </a:r>
          </a:p>
          <a:p>
            <a:r>
              <a:t>Any loss of communication means: dump pressure and stop, immediately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TEAM COMMUNICATION &amp; ROLES</a:t>
            </a:r>
          </a:p>
        </p:txBody>
      </p:sp>
      <p:sp>
        <p:nvSpPr>
          <p:cNvPr id="5" name="Photo" descr="Two operators in orange PPE exchanging clear hand signals beside a pump unit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Trainer-led, complete rig assembly from bare pump to ready-to-work: watch first, do this afternoon</a:t>
            </a:r>
          </a:p>
          <a:p>
            <a:r>
              <a:t>Sequence: pump checks, hose routing and connection, whip checks both sides, safety shroud at the gun connection, nozzle selection and fitting, dump test</a:t>
            </a:r>
          </a:p>
          <a:p>
            <a:r>
              <a:t>Every step maps to a line on the pre-use inspection checklist you practised on Day 1</a:t>
            </a:r>
          </a:p>
          <a:p>
            <a:r>
              <a:t>Nothing is pressurised until the full checklist is complete and verified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SAFE SYSTEM SETUP — FULL DEMONSTRATION</a:t>
            </a:r>
          </a:p>
        </p:txBody>
      </p:sp>
      <p:sp>
        <p:nvSpPr>
          <p:cNvPr id="5" name="Photo" descr="A fully assembled high pressure water jetting rig: pump skid, armoured hoses with whip checks and a long barrel gun laid out ready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Shotgunning is handheld jetting with a gun-style lance — the highest reaction-force exposure of any manual method</a:t>
            </a:r>
          </a:p>
          <a:p>
            <a:r>
              <a:t>Hard limits for handheld shotgunning: never above 10,000 psi, never with a nozzle orifice larger than 1.6 mm, and reaction force always within the limits you calculated on Day 1</a:t>
            </a:r>
          </a:p>
          <a:p>
            <a:r>
              <a:t>At this station you set up the shotgun rig, verify the limits, calculate the reaction force, and run supervised dry drills for stance and dump response</a:t>
            </a:r>
          </a:p>
          <a:p>
            <a:r>
              <a:t>Two-person minimum on the lance position rotation — nobody operates fatigued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HANDS-ON — SHOTGUN LANCE STATION</a:t>
            </a:r>
          </a:p>
        </p:txBody>
      </p:sp>
      <p:sp>
        <p:nvSpPr>
          <p:cNvPr id="5" name="Photo" descr="Operator in orange PPE and full face shield braced in a wide stance operating a shotgun style handheld water jetting lance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The flexible lance is the equipment type from Day 1's fatality case — this station exists because of that failure mode</a:t>
            </a:r>
          </a:p>
          <a:p>
            <a:r>
              <a:t>The anti-withdrawal device (AWD) physically prevents the lance from shooting backward out of the tube — it is mandatory, with no exceptions</a:t>
            </a:r>
          </a:p>
          <a:p>
            <a:r>
              <a:t>A flexible lance without a correctly installed and verified AWD is not permitted to operate — full stop</a:t>
            </a:r>
          </a:p>
          <a:p>
            <a:r>
              <a:t>At this station you install the AWD, verify it, insert and work the lance in a practice tube, and practise the communication loop with the pump operator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HANDS-ON — FLEX LANCE &amp; ANTI-WITHDRAWAL DEVICE</a:t>
            </a:r>
          </a:p>
        </p:txBody>
      </p:sp>
      <p:sp>
        <p:nvSpPr>
          <p:cNvPr id="5" name="Photo" descr="Close up of a flexible water jetting lance with an anti withdrawal device clamped around it being checked by a gloved hand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Scenario: a simulated injection injury during jetting work — the team must respond in real time</a:t>
            </a:r>
          </a:p>
          <a:p>
            <a:r>
              <a:t>Expected response: dump pressure, stop work, deliver the emergency communication script, present the Medical Alert Card, direct first responders</a:t>
            </a:r>
          </a:p>
          <a:p>
            <a:r>
              <a:t>This is the full physical drill of what you practised verbally on Day 1</a:t>
            </a:r>
          </a:p>
          <a:p>
            <a:r>
              <a:t>We run it at least twice, so different learners take the lead role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EMERGENCY RESPONSE DRILL</a:t>
            </a:r>
          </a:p>
        </p:txBody>
      </p:sp>
      <p:sp>
        <p:nvSpPr>
          <p:cNvPr id="5" name="Photo" descr="Emergency response drill: operators in orange PPE assisting a downed colleague while another signals to dump pressure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Today: how the pump makes pressure, hose life and rejection rules, nozzles and tip marking, PPE, team communication, full rig setup, shotgun and flex lance stations, and the emergency drill</a:t>
            </a:r>
          </a:p>
          <a:p>
            <a:r>
              <a:t>Tomorrow (Day 3): morning consolidation and practice, then the written exam and the pass/fail Field Verification practical assessment</a:t>
            </a:r>
          </a:p>
          <a:p>
            <a:r>
              <a:t>Field Verification covers everything from Day 1 and Day 2 — tonight, review your checklist and the three reaction-force checks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DAY 2 RECAP &amp; BRIDGE TO DAY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Hero Background" descr="A certified assessor with a clipboard observing an operator in an orange water-jetting suit during field verification at an oil and gas refinery at dawn"/>
          <p:cNvPicPr>
            <a:picLocks noChangeAspect="1"/>
          </p:cNvPicPr>
          <p:nvPr/>
        </p:nvPicPr>
        <p:blipFill>
          <a:blip r:embed="rId3"/>
          <a:srcRect t="4688" b="109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82000"/>
                </a:srgbClr>
              </a:gs>
              <a:gs pos="60000">
                <a:srgbClr val="000000">
                  <a:alpha val="35000"/>
                </a:srgbClr>
              </a:gs>
              <a:gs pos="100000">
                <a:srgbClr val="000000">
                  <a:alpha val="8000"/>
                </a:srgbClr>
              </a:gs>
            </a:gsLst>
            <a:lin ang="0" scaled="1"/>
          </a:gra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HPWJ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DAY 3 OF 3 — ASSESSMENT &amp; FIELD VERIFICATION</a:t>
            </a:r>
          </a:p>
          <a:p>
            <a:r>
              <a:t>Anabeeb ATC-HPWJ-OP-001 | Level 2 Operator Pathway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Morning: one final teaching block, then open consolidation practice with trainer support</a:t>
            </a:r>
          </a:p>
          <a:p>
            <a:r>
              <a:t>Mid-morning: the written examination — at least 80% required to pass</a:t>
            </a:r>
          </a:p>
          <a:p>
            <a:r>
              <a:t>Afternoon: Field Verification — a live, individual practical assessment on real equipment</a:t>
            </a:r>
          </a:p>
          <a:p>
            <a:r>
              <a:t>To be certified you must pass BOTH the written exam and every critical item in Field Verification</a:t>
            </a:r>
          </a:p>
          <a:p>
            <a:r>
              <a:t>If you fall short today, you will get clear feedback and a re-assessment path — the standard does not bend, but the door does not close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HOW ASSESSMENT DAY WORKS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On Day 1 you learned that poor coordination between activities happening at the same time is one of the three most common causes of serious incidents</a:t>
            </a:r>
          </a:p>
          <a:p>
            <a:r>
              <a:t>SIMOPS means simultaneous operations: jetting while other work — lifting, hot work, other crews — happens nearby</a:t>
            </a:r>
          </a:p>
          <a:p>
            <a:r>
              <a:t>The controls: a daily coordination meeting between the supervisors of every active job, agreed physical zoning between activities, and clear boundaries marked before work starts</a:t>
            </a:r>
          </a:p>
          <a:p>
            <a:r>
              <a:t>Water jetting creates mist that can hide people, travel into other work areas, and reach further than the visible spray</a:t>
            </a:r>
          </a:p>
          <a:p>
            <a:r>
              <a:t>You are never authorised to resolve a work-area conflict yourself — stop, and raise it with your supervisor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WORKING AROUND OTHER ACTIVITIES (SIMOPS)</a:t>
            </a:r>
          </a:p>
        </p:txBody>
      </p:sp>
      <p:sp>
        <p:nvSpPr>
          <p:cNvPr id="5" name="Photo" descr="A barricaded high pressure water jetting exclusion zone with danger signage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The equipment and stations from Day 2 are open, with trainers available</a:t>
            </a:r>
          </a:p>
          <a:p>
            <a:r>
              <a:t>Recommended priorities: the full pre-use inspection sequence, the reaction-force calculation, AWD installation and verification, and the emergency communication script</a:t>
            </a:r>
          </a:p>
          <a:p>
            <a:r>
              <a:t>Ask about anything still unclear — this is the last opportunity before assessment</a:t>
            </a:r>
          </a:p>
          <a:p>
            <a:r>
              <a:t>Use your team: practising in threes with real roles is better preparation than practising alone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CONSOLIDATION PRACTICE — YOUR TIME</a:t>
            </a:r>
          </a:p>
        </p:txBody>
      </p:sp>
      <p:sp>
        <p:nvSpPr>
          <p:cNvPr id="5" name="Photo" descr="Two operators in orange PPE practising high pressure water jetting equipment checks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40 to 50 questions: multiple choice, short answer, and scenario-based</a:t>
            </a:r>
          </a:p>
          <a:p>
            <a:r>
              <a:t>Covers everything from Day 1 and Day 2 — rules, calculations, equipment, and emergency response</a:t>
            </a:r>
          </a:p>
          <a:p>
            <a:r>
              <a:t>Pass mark: at least 80%</a:t>
            </a:r>
          </a:p>
          <a:p>
            <a:r>
              <a:t>Individual work, closed notes, one hour</a:t>
            </a:r>
          </a:p>
          <a:p>
            <a:r>
              <a:t>Read scenario questions twice before answering — most lost marks come from answering a different question than the one asked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WRITTEN EXAMINATION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Complete pre-use inspection of pump, hoses, fittings, nozzles, and relief systems — documented on the checklist</a:t>
            </a:r>
          </a:p>
          <a:p>
            <a:r>
              <a:t>Correct whip check installation, and correct AWD installation and verification on the flexible lance</a:t>
            </a:r>
          </a:p>
          <a:p>
            <a:r>
              <a:t>Reaction-force calculation for a given setup, and the correct decision when a limit is exceeded</a:t>
            </a:r>
          </a:p>
          <a:p>
            <a:r>
              <a:t>Emergency dump response under time pressure, and clear team communication signals</a:t>
            </a:r>
          </a:p>
          <a:p>
            <a:r>
              <a:t>Medical Alert Card presentation with the emergency communication script, delivered word-perfect</a:t>
            </a:r>
          </a:p>
          <a:p>
            <a:r>
              <a:t>A stop-work exercise: you must recognise the unsafe condition we stage, and call it</a:t>
            </a:r>
          </a:p>
          <a:p>
            <a:r>
              <a:t>Every one of these is a critical item — all must be passed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FIELD VERIFICATION — WHAT YOU MUST DEMONSTRATE</a:t>
            </a:r>
          </a:p>
        </p:txBody>
      </p:sp>
      <p:sp>
        <p:nvSpPr>
          <p:cNvPr id="5" name="Photo" descr="Operators in PPE reviewing a permit-to-work at a barricaded work area during assessment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t>Results are given individually and in private — exam score and Field Verification outcome together</a:t>
            </a:r>
          </a:p>
          <a:p>
            <a:r>
              <a:t>Everyone receives specific feedback: what was strong, what to keep practising</a:t>
            </a:r>
          </a:p>
          <a:p>
            <a:r>
              <a:t>If you did not pass today: you will get a clear written note of exactly which items to close, and a re-assessment will be scheduled</a:t>
            </a:r>
          </a:p>
          <a:p>
            <a:r>
              <a:t>A not-yet result today is not a career verdict — the standard exists to protect you and your team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t>RESULTS &amp; DEBRIEF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478831" y="1980000"/>
            <a:ext cx="5636219" cy="4101485"/>
          </a:xfrm>
        </p:spPr>
        <p:txBody>
          <a:bodyPr wrap="square"/>
          <a:lstStyle/>
          <a:p>
            <a:r>
              <a:t>Successful candidates receive: the Level 2 HPWJ Operator certificate, the operator photo card, and your personal Medical Alert Card</a:t>
            </a:r>
          </a:p>
          <a:p>
            <a:r>
              <a:t>Your certificate is valid for 24 months — after that, a Verification of Competency refresher keeps it current</a:t>
            </a:r>
          </a:p>
          <a:p>
            <a:r>
              <a:t>Your Medical Alert Card goes with you on every job from now on — it is part of your PPE</a:t>
            </a:r>
          </a:p>
          <a:p>
            <a:r>
              <a:t>What you do next matters most: the habits from these three days — inspect, calculate, communicate, stop when in doubt — are what keep you and your team safe</a:t>
            </a:r>
          </a:p>
          <a:p>
            <a:r>
              <a:t>Congratulations, and welcome to the community of certified HPWJ operators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HPWJ FUNDAMENTALS – DAY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8831" y="1144406"/>
            <a:ext cx="5636219" cy="700000"/>
          </a:xfrm>
        </p:spPr>
        <p:txBody>
          <a:bodyPr wrap="square"/>
          <a:lstStyle/>
          <a:p>
            <a:r>
              <a:t>CERTIFICATION &amp; CLOSE</a:t>
            </a:r>
          </a:p>
        </p:txBody>
      </p:sp>
      <p:sp>
        <p:nvSpPr>
          <p:cNvPr id="5" name="Photo" descr="Group of certified water jetting operators in orange coveralls at the end of training"/>
          <p:cNvSpPr/>
          <p:nvPr/>
        </p:nvSpPr>
        <p:spPr>
          <a:xfrm>
            <a:off x="6359237" y="1129333"/>
            <a:ext cx="5353932" cy="4952151"/>
          </a:xfrm>
          <a:prstGeom prst="roundRect">
            <a:avLst/>
          </a:prstGeom>
          <a:blipFill>
            <a:blip r:embed="rId3"/>
            <a:srcRect t="3752" b="375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BEEB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50605</TotalTime>
  <Words>4751</Words>
  <Application>Microsoft Macintosh PowerPoint</Application>
  <PresentationFormat>Widescreen</PresentationFormat>
  <Paragraphs>273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ANABEEB Theme</vt:lpstr>
      <vt:lpstr>HPWJ FUNDAMENTALS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 – DAY 1</vt:lpstr>
      <vt:lpstr>HPWJ FUNDAMENTALS</vt:lpstr>
      <vt:lpstr>HPWJ FUNDAMENTALS – DAY 2</vt:lpstr>
      <vt:lpstr>HPWJ FUNDAMENTALS – DAY 2</vt:lpstr>
      <vt:lpstr>HPWJ FUNDAMENTALS – DAY 2</vt:lpstr>
      <vt:lpstr>HPWJ FUNDAMENTALS – DAY 2</vt:lpstr>
      <vt:lpstr>HPWJ FUNDAMENTALS – DAY 2</vt:lpstr>
      <vt:lpstr>HPWJ FUNDAMENTALS – DAY 2</vt:lpstr>
      <vt:lpstr>HPWJ FUNDAMENTALS – DAY 2</vt:lpstr>
      <vt:lpstr>HPWJ FUNDAMENTALS – DAY 2</vt:lpstr>
      <vt:lpstr>HPWJ FUNDAMENTALS – DAY 2</vt:lpstr>
      <vt:lpstr>HPWJ FUNDAMENTALS – DAY 2</vt:lpstr>
      <vt:lpstr>HPWJ FUNDAMENTALS – DAY 2</vt:lpstr>
      <vt:lpstr>HPWJ FUNDAMENTALS</vt:lpstr>
      <vt:lpstr>HPWJ FUNDAMENTALS – DAY 3</vt:lpstr>
      <vt:lpstr>HPWJ FUNDAMENTALS – DAY 3</vt:lpstr>
      <vt:lpstr>HPWJ FUNDAMENTALS – DAY 3</vt:lpstr>
      <vt:lpstr>HPWJ FUNDAMENTALS – DAY 3</vt:lpstr>
      <vt:lpstr>HPWJ FUNDAMENTALS – DAY 3</vt:lpstr>
      <vt:lpstr>HPWJ FUNDAMENTALS – DAY 3</vt:lpstr>
      <vt:lpstr>HPWJ FUNDAMENTALS – DAY 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ANABEEB ICT</dc:creator>
  <cp:keywords/>
  <dc:description/>
  <cp:lastModifiedBy>Jacques Theron</cp:lastModifiedBy>
  <cp:revision>512</cp:revision>
  <cp:lastPrinted>2018-01-08T07:36:03Z</cp:lastPrinted>
  <dcterms:created xsi:type="dcterms:W3CDTF">2017-09-24T10:31:04Z</dcterms:created>
  <dcterms:modified xsi:type="dcterms:W3CDTF">2026-07-19T05:42:11Z</dcterms:modified>
  <cp:category/>
</cp:coreProperties>
</file>