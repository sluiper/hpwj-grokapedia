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"/>
  </p:sldMasterIdLst>
  <p:notesMasterIdLst>
    <p:notesMasterId r:id="rId31"/>
  </p:notesMasterIdLst>
  <p:handoutMasterIdLst>
    <p:handoutMasterId r:id="rId32"/>
  </p:handoutMasterIdLst>
  <p:sldIdLst>
    <p:sldId id="891" r:id="rId2"/>
    <p:sldId id="973" r:id="rId3"/>
    <p:sldId id="892" r:id="rId4"/>
    <p:sldId id="974" r:id="rId5"/>
    <p:sldId id="975" r:id="rId6"/>
    <p:sldId id="976" r:id="rId7"/>
    <p:sldId id="977" r:id="rId8"/>
    <p:sldId id="978" r:id="rId9"/>
    <p:sldId id="979" r:id="rId10"/>
    <p:sldId id="980" r:id="rId11"/>
    <p:sldId id="987" r:id="rId12"/>
    <p:sldId id="981" r:id="rId13"/>
    <p:sldId id="982" r:id="rId14"/>
    <p:sldId id="983" r:id="rId15"/>
    <p:sldId id="984" r:id="rId16"/>
    <p:sldId id="985" r:id="rId17"/>
    <p:sldId id="986" r:id="rId18"/>
    <p:sldId id="988" r:id="rId19"/>
    <p:sldId id="989" r:id="rId20"/>
    <p:sldId id="990" r:id="rId21"/>
    <p:sldId id="991" r:id="rId22"/>
    <p:sldId id="992" r:id="rId23"/>
    <p:sldId id="993" r:id="rId24"/>
    <p:sldId id="994" r:id="rId25"/>
    <p:sldId id="995" r:id="rId26"/>
    <p:sldId id="996" r:id="rId27"/>
    <p:sldId id="997" r:id="rId28"/>
    <p:sldId id="998" r:id="rId29"/>
    <p:sldId id="999" r:id="rId30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RAIG CHRISTOPHER WILLEMSE" initials="CCW" lastIdx="2" clrIdx="0">
    <p:extLst>
      <p:ext uri="{19B8F6BF-5375-455C-9EA6-DF929625EA0E}">
        <p15:presenceInfo xmlns:p15="http://schemas.microsoft.com/office/powerpoint/2012/main" userId="CRAIG CHRISTOPHER WILLEMSE" providerId="None"/>
      </p:ext>
    </p:extLst>
  </p:cmAuthor>
  <p:cmAuthor id="2" name="ANABASE2" initials="A" lastIdx="1" clrIdx="1">
    <p:extLst>
      <p:ext uri="{19B8F6BF-5375-455C-9EA6-DF929625EA0E}">
        <p15:presenceInfo xmlns:p15="http://schemas.microsoft.com/office/powerpoint/2012/main" userId="ANABASE2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8523"/>
    <a:srgbClr val="0056B8"/>
    <a:srgbClr val="004FEE"/>
    <a:srgbClr val="007EEE"/>
    <a:srgbClr val="00339A"/>
    <a:srgbClr val="005993"/>
    <a:srgbClr val="EFFBF7"/>
    <a:srgbClr val="F7E827"/>
    <a:srgbClr val="DACA00"/>
    <a:srgbClr val="FFB8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448" autoAdjust="0"/>
    <p:restoredTop sz="96405"/>
  </p:normalViewPr>
  <p:slideViewPr>
    <p:cSldViewPr snapToGrid="0">
      <p:cViewPr varScale="1">
        <p:scale>
          <a:sx n="125" d="100"/>
          <a:sy n="125" d="100"/>
        </p:scale>
        <p:origin x="168" y="8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4288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604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159" y="0"/>
            <a:ext cx="3038604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F70608-D9FC-4272-B79F-3AF6A0C1771B}" type="datetimeFigureOut">
              <a:rPr lang="en-US" smtClean="0"/>
              <a:t>7/14/26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31059"/>
            <a:ext cx="3038604" cy="46534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159" y="8831059"/>
            <a:ext cx="3038604" cy="46534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00817E-F7CA-4563-93AB-05D24219BB6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8782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604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159" y="0"/>
            <a:ext cx="3038604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B25131-BAF0-4236-BB77-35884A65E791}" type="datetimeFigureOut">
              <a:rPr lang="en-US" smtClean="0"/>
              <a:t>7/14/26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713" y="4473512"/>
            <a:ext cx="5608975" cy="366028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1059"/>
            <a:ext cx="3038604" cy="46534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483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87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anabeeb.com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17285" y="6510339"/>
            <a:ext cx="464457" cy="365125"/>
          </a:xfrm>
        </p:spPr>
        <p:txBody>
          <a:bodyPr/>
          <a:lstStyle/>
          <a:p>
            <a:fld id="{5037CCFB-8CBF-422D-97B2-3E4D2CDC6F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30A74903-5C17-7719-784F-594E48F9254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25220" y="1601606"/>
            <a:ext cx="11071222" cy="468638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  <a:p>
            <a:pPr lvl="0"/>
            <a:r>
              <a:rPr lang="en-US" dirty="0"/>
              <a:t>Arial – Size 12 –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CA0417-B1E1-85FD-3BAA-CAA455D9D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56B17CA-DF92-49D6-178E-79C7249A2DC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8831" y="1144406"/>
            <a:ext cx="11152779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SUB</a:t>
            </a:r>
          </a:p>
        </p:txBody>
      </p:sp>
    </p:spTree>
    <p:extLst>
      <p:ext uri="{BB962C8B-B14F-4D97-AF65-F5344CB8AC3E}">
        <p14:creationId xmlns:p14="http://schemas.microsoft.com/office/powerpoint/2010/main" val="3638704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17285" y="6510339"/>
            <a:ext cx="464457" cy="365125"/>
          </a:xfrm>
        </p:spPr>
        <p:txBody>
          <a:bodyPr/>
          <a:lstStyle/>
          <a:p>
            <a:fld id="{5037CCFB-8CBF-422D-97B2-3E4D2CDC6F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itle Placeholder 26">
            <a:extLst>
              <a:ext uri="{FF2B5EF4-FFF2-40B4-BE49-F238E27FC236}">
                <a16:creationId xmlns:a16="http://schemas.microsoft.com/office/drawing/2014/main" id="{EB5A2E97-6180-E210-B4F7-BA1799791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285" y="219101"/>
            <a:ext cx="10515600" cy="820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02834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17285" y="6510339"/>
            <a:ext cx="464457" cy="365125"/>
          </a:xfrm>
        </p:spPr>
        <p:txBody>
          <a:bodyPr/>
          <a:lstStyle/>
          <a:p>
            <a:fld id="{5037CCFB-8CBF-422D-97B2-3E4D2CDC6F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itle Placeholder 26">
            <a:extLst>
              <a:ext uri="{FF2B5EF4-FFF2-40B4-BE49-F238E27FC236}">
                <a16:creationId xmlns:a16="http://schemas.microsoft.com/office/drawing/2014/main" id="{EB5A2E97-6180-E210-B4F7-BA1799791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285" y="219101"/>
            <a:ext cx="10515600" cy="820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3B1D187B-F68C-DF18-FA58-9246A6F7B4B7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520861" y="1250067"/>
            <a:ext cx="11134844" cy="49192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77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17285" y="6510339"/>
            <a:ext cx="464457" cy="365125"/>
          </a:xfrm>
        </p:spPr>
        <p:txBody>
          <a:bodyPr/>
          <a:lstStyle/>
          <a:p>
            <a:fld id="{5037CCFB-8CBF-422D-97B2-3E4D2CDC6F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 hasCustomPrompt="1"/>
          </p:nvPr>
        </p:nvSpPr>
        <p:spPr>
          <a:xfrm>
            <a:off x="525220" y="1601606"/>
            <a:ext cx="3457136" cy="20716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  <a:p>
            <a:pPr lvl="0"/>
            <a:r>
              <a:rPr lang="en-US" dirty="0"/>
              <a:t>Arial – Size 12 – 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1488EA1-A95C-6644-B118-5BCD133E025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99963" y="1601319"/>
            <a:ext cx="3744811" cy="442125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 dirty="0"/>
              <a:t>Click the Icon to add Image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7E4F3B82-44E0-B847-8C1D-DFA4F8AF41B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278574" y="1598903"/>
            <a:ext cx="3744811" cy="442125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 dirty="0"/>
              <a:t>Click the Icon to add Image</a:t>
            </a:r>
          </a:p>
        </p:txBody>
      </p:sp>
      <p:sp>
        <p:nvSpPr>
          <p:cNvPr id="13" name="Title Placeholder 26">
            <a:extLst>
              <a:ext uri="{FF2B5EF4-FFF2-40B4-BE49-F238E27FC236}">
                <a16:creationId xmlns:a16="http://schemas.microsoft.com/office/drawing/2014/main" id="{6D36625A-709D-24F3-4FBA-7D569D6D3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285" y="219101"/>
            <a:ext cx="10515600" cy="820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61DB9C3C-FB95-1064-3329-F4C62B9E5B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831" y="1144406"/>
            <a:ext cx="11152779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SUB</a:t>
            </a:r>
          </a:p>
        </p:txBody>
      </p:sp>
    </p:spTree>
    <p:extLst>
      <p:ext uri="{BB962C8B-B14F-4D97-AF65-F5344CB8AC3E}">
        <p14:creationId xmlns:p14="http://schemas.microsoft.com/office/powerpoint/2010/main" val="2055328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17285" y="6510339"/>
            <a:ext cx="464457" cy="365125"/>
          </a:xfrm>
        </p:spPr>
        <p:txBody>
          <a:bodyPr/>
          <a:lstStyle/>
          <a:p>
            <a:fld id="{5037CCFB-8CBF-422D-97B2-3E4D2CDC6F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1488EA1-A95C-6644-B118-5BCD133E025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2966" y="3393272"/>
            <a:ext cx="2766476" cy="22460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 dirty="0"/>
              <a:t>Click the Icon to add Image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7E4F3B82-44E0-B847-8C1D-DFA4F8AF41B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417887" y="3390856"/>
            <a:ext cx="2766476" cy="22460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 dirty="0"/>
              <a:t>Click the Icon to add Image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E3A2AA1D-9494-C046-BF2D-DBFBB54672F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22808" y="3413526"/>
            <a:ext cx="2766476" cy="22460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 dirty="0"/>
              <a:t>Click the Icon to add Image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C0427E1C-2052-4E4A-847B-16FCA2DAB5B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227729" y="3390856"/>
            <a:ext cx="2766476" cy="22460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 dirty="0"/>
              <a:t>Click the Icon to add Image</a:t>
            </a: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AC7F21DA-D2B8-F2AF-3635-0158DE81DAB4}"/>
              </a:ext>
            </a:extLst>
          </p:cNvPr>
          <p:cNvSpPr txBox="1">
            <a:spLocks/>
          </p:cNvSpPr>
          <p:nvPr userDrawn="1"/>
        </p:nvSpPr>
        <p:spPr>
          <a:xfrm>
            <a:off x="560391" y="1162215"/>
            <a:ext cx="9144000" cy="32582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4" name="Title Placeholder 26">
            <a:extLst>
              <a:ext uri="{FF2B5EF4-FFF2-40B4-BE49-F238E27FC236}">
                <a16:creationId xmlns:a16="http://schemas.microsoft.com/office/drawing/2014/main" id="{5DCE1F4B-6D9E-33F7-6D44-7BE0D2EF6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285" y="219101"/>
            <a:ext cx="10515600" cy="820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9712C6C7-8461-C4A5-8BC1-04BCE660FB9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8831" y="1144406"/>
            <a:ext cx="11152779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SUB</a:t>
            </a:r>
          </a:p>
        </p:txBody>
      </p:sp>
    </p:spTree>
    <p:extLst>
      <p:ext uri="{BB962C8B-B14F-4D97-AF65-F5344CB8AC3E}">
        <p14:creationId xmlns:p14="http://schemas.microsoft.com/office/powerpoint/2010/main" val="2202825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2D6148-42E8-A04A-ABF9-06CCA2B1B683}"/>
              </a:ext>
            </a:extLst>
          </p:cNvPr>
          <p:cNvSpPr/>
          <p:nvPr userDrawn="1"/>
        </p:nvSpPr>
        <p:spPr>
          <a:xfrm>
            <a:off x="0" y="0"/>
            <a:ext cx="12293600" cy="6949440"/>
          </a:xfrm>
          <a:prstGeom prst="rect">
            <a:avLst/>
          </a:prstGeom>
          <a:gradFill>
            <a:gsLst>
              <a:gs pos="0">
                <a:srgbClr val="007EEE"/>
              </a:gs>
              <a:gs pos="23000">
                <a:srgbClr val="0056B8"/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3C08157-3290-014B-A0DE-DB18D8E8C9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0391" y="2370140"/>
            <a:ext cx="9144000" cy="397155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000">
                <a:solidFill>
                  <a:srgbClr val="F28523"/>
                </a:solidFill>
              </a:defRPr>
            </a:lvl1pPr>
          </a:lstStyle>
          <a:p>
            <a:r>
              <a:rPr lang="en-US" dirty="0"/>
              <a:t>SLIDE DIVIDER TITLE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B5E5D5-9D41-3648-893F-4D30495E69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0387" y="2695575"/>
            <a:ext cx="9144000" cy="33639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8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DESCRIPTION TEXT</a:t>
            </a:r>
          </a:p>
        </p:txBody>
      </p:sp>
    </p:spTree>
    <p:extLst>
      <p:ext uri="{BB962C8B-B14F-4D97-AF65-F5344CB8AC3E}">
        <p14:creationId xmlns:p14="http://schemas.microsoft.com/office/powerpoint/2010/main" val="169885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17285" y="6510339"/>
            <a:ext cx="464457" cy="365125"/>
          </a:xfrm>
          <a:prstGeom prst="rect">
            <a:avLst/>
          </a:prstGeom>
        </p:spPr>
        <p:txBody>
          <a:bodyPr/>
          <a:lstStyle/>
          <a:p>
            <a:fld id="{5037CCFB-8CBF-422D-97B2-3E4D2CDC6F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Placeholder 26">
            <a:extLst>
              <a:ext uri="{FF2B5EF4-FFF2-40B4-BE49-F238E27FC236}">
                <a16:creationId xmlns:a16="http://schemas.microsoft.com/office/drawing/2014/main" id="{98AE9043-443C-063D-A3E6-61CE09A98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285" y="219101"/>
            <a:ext cx="10515600" cy="820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9" name="Group 15">
            <a:extLst>
              <a:ext uri="{FF2B5EF4-FFF2-40B4-BE49-F238E27FC236}">
                <a16:creationId xmlns:a16="http://schemas.microsoft.com/office/drawing/2014/main" id="{4BA6E20B-AA01-AC1F-1731-B58F84184320}"/>
              </a:ext>
            </a:extLst>
          </p:cNvPr>
          <p:cNvGrpSpPr/>
          <p:nvPr/>
        </p:nvGrpSpPr>
        <p:grpSpPr>
          <a:xfrm rot="18900000">
            <a:off x="2261211" y="2484169"/>
            <a:ext cx="1442668" cy="1788135"/>
            <a:chOff x="4800600" y="1504950"/>
            <a:chExt cx="1371600" cy="1700048"/>
          </a:xfrm>
          <a:solidFill>
            <a:srgbClr val="F28523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6692E6F-9DBA-5F1E-4762-03B078CBFCEC}"/>
                </a:ext>
              </a:extLst>
            </p:cNvPr>
            <p:cNvSpPr/>
            <p:nvPr/>
          </p:nvSpPr>
          <p:spPr bwMode="auto">
            <a:xfrm>
              <a:off x="4800600" y="1504950"/>
              <a:ext cx="1371600" cy="1371600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Isosceles Triangle 62">
              <a:extLst>
                <a:ext uri="{FF2B5EF4-FFF2-40B4-BE49-F238E27FC236}">
                  <a16:creationId xmlns:a16="http://schemas.microsoft.com/office/drawing/2014/main" id="{D9522A27-1739-5AE1-3A92-2F1848449B4B}"/>
                </a:ext>
              </a:extLst>
            </p:cNvPr>
            <p:cNvSpPr/>
            <p:nvPr/>
          </p:nvSpPr>
          <p:spPr bwMode="auto">
            <a:xfrm rot="10800000">
              <a:off x="5295900" y="2876550"/>
              <a:ext cx="381000" cy="328448"/>
            </a:xfrm>
            <a:prstGeom prst="triangl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24" name="Group 16">
            <a:extLst>
              <a:ext uri="{FF2B5EF4-FFF2-40B4-BE49-F238E27FC236}">
                <a16:creationId xmlns:a16="http://schemas.microsoft.com/office/drawing/2014/main" id="{A7090894-D7B1-DC4E-2B2E-2BC589C2E356}"/>
              </a:ext>
            </a:extLst>
          </p:cNvPr>
          <p:cNvGrpSpPr/>
          <p:nvPr/>
        </p:nvGrpSpPr>
        <p:grpSpPr>
          <a:xfrm rot="13500000">
            <a:off x="3281334" y="3260008"/>
            <a:ext cx="1442668" cy="1788135"/>
            <a:chOff x="4800600" y="1504950"/>
            <a:chExt cx="1371600" cy="1700048"/>
          </a:xfrm>
          <a:solidFill>
            <a:srgbClr val="0056B8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F5A0EF2-7F17-AEC8-8314-01833D633983}"/>
                </a:ext>
              </a:extLst>
            </p:cNvPr>
            <p:cNvSpPr/>
            <p:nvPr/>
          </p:nvSpPr>
          <p:spPr bwMode="auto">
            <a:xfrm>
              <a:off x="4800600" y="1504950"/>
              <a:ext cx="1371600" cy="1371600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  <p:sp>
          <p:nvSpPr>
            <p:cNvPr id="27" name="Isosceles Triangle 53">
              <a:extLst>
                <a:ext uri="{FF2B5EF4-FFF2-40B4-BE49-F238E27FC236}">
                  <a16:creationId xmlns:a16="http://schemas.microsoft.com/office/drawing/2014/main" id="{C72898C1-52AC-2511-2374-FFE8A676FA4F}"/>
                </a:ext>
              </a:extLst>
            </p:cNvPr>
            <p:cNvSpPr/>
            <p:nvPr/>
          </p:nvSpPr>
          <p:spPr bwMode="auto">
            <a:xfrm rot="10800000">
              <a:off x="5295900" y="2876550"/>
              <a:ext cx="381000" cy="328448"/>
            </a:xfrm>
            <a:prstGeom prst="triangl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19">
            <a:extLst>
              <a:ext uri="{FF2B5EF4-FFF2-40B4-BE49-F238E27FC236}">
                <a16:creationId xmlns:a16="http://schemas.microsoft.com/office/drawing/2014/main" id="{A9CD3496-9724-D6AD-F27C-C17A47DC9052}"/>
              </a:ext>
            </a:extLst>
          </p:cNvPr>
          <p:cNvGrpSpPr/>
          <p:nvPr/>
        </p:nvGrpSpPr>
        <p:grpSpPr>
          <a:xfrm rot="18900000">
            <a:off x="4301453" y="2484166"/>
            <a:ext cx="1442668" cy="1788136"/>
            <a:chOff x="4800601" y="1504949"/>
            <a:chExt cx="1371600" cy="1700049"/>
          </a:xfrm>
          <a:solidFill>
            <a:srgbClr val="F28523"/>
          </a:solidFill>
        </p:grpSpPr>
        <p:sp>
          <p:nvSpPr>
            <p:cNvPr id="31" name="Isosceles Triangle 50">
              <a:extLst>
                <a:ext uri="{FF2B5EF4-FFF2-40B4-BE49-F238E27FC236}">
                  <a16:creationId xmlns:a16="http://schemas.microsoft.com/office/drawing/2014/main" id="{67F54F60-1818-2E32-582E-4A67513B68BD}"/>
                </a:ext>
              </a:extLst>
            </p:cNvPr>
            <p:cNvSpPr/>
            <p:nvPr/>
          </p:nvSpPr>
          <p:spPr bwMode="auto">
            <a:xfrm rot="10800000">
              <a:off x="5295900" y="2876550"/>
              <a:ext cx="381000" cy="328448"/>
            </a:xfrm>
            <a:prstGeom prst="triangl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E762AF8-FBED-7BE3-1121-64FC38A37DCE}"/>
                </a:ext>
              </a:extLst>
            </p:cNvPr>
            <p:cNvSpPr/>
            <p:nvPr/>
          </p:nvSpPr>
          <p:spPr bwMode="auto">
            <a:xfrm>
              <a:off x="4800601" y="1504949"/>
              <a:ext cx="1371600" cy="1371600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4" name="Group 22">
            <a:extLst>
              <a:ext uri="{FF2B5EF4-FFF2-40B4-BE49-F238E27FC236}">
                <a16:creationId xmlns:a16="http://schemas.microsoft.com/office/drawing/2014/main" id="{F232C0B8-5E94-B057-9A2A-895C68904CCB}"/>
              </a:ext>
            </a:extLst>
          </p:cNvPr>
          <p:cNvGrpSpPr/>
          <p:nvPr/>
        </p:nvGrpSpPr>
        <p:grpSpPr>
          <a:xfrm rot="13500000">
            <a:off x="5321572" y="3260008"/>
            <a:ext cx="1442668" cy="1788135"/>
            <a:chOff x="4800600" y="1504950"/>
            <a:chExt cx="1371600" cy="1700048"/>
          </a:xfrm>
          <a:solidFill>
            <a:srgbClr val="0056B8"/>
          </a:solidFill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7F4557C-DA58-313A-C243-7B9D140C395E}"/>
                </a:ext>
              </a:extLst>
            </p:cNvPr>
            <p:cNvSpPr/>
            <p:nvPr/>
          </p:nvSpPr>
          <p:spPr bwMode="auto">
            <a:xfrm>
              <a:off x="4800600" y="1504950"/>
              <a:ext cx="1371600" cy="1371600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  <p:sp>
          <p:nvSpPr>
            <p:cNvPr id="37" name="Isosceles Triangle 47">
              <a:extLst>
                <a:ext uri="{FF2B5EF4-FFF2-40B4-BE49-F238E27FC236}">
                  <a16:creationId xmlns:a16="http://schemas.microsoft.com/office/drawing/2014/main" id="{3538C2AE-338B-15BE-1F48-2F6C49A44DE6}"/>
                </a:ext>
              </a:extLst>
            </p:cNvPr>
            <p:cNvSpPr/>
            <p:nvPr/>
          </p:nvSpPr>
          <p:spPr bwMode="auto">
            <a:xfrm rot="10800000">
              <a:off x="5295900" y="2876550"/>
              <a:ext cx="381000" cy="328448"/>
            </a:xfrm>
            <a:prstGeom prst="triangl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9" name="Group 25">
            <a:extLst>
              <a:ext uri="{FF2B5EF4-FFF2-40B4-BE49-F238E27FC236}">
                <a16:creationId xmlns:a16="http://schemas.microsoft.com/office/drawing/2014/main" id="{A8E1737F-9CF4-35F8-CBDB-5F8FDE10A7EC}"/>
              </a:ext>
            </a:extLst>
          </p:cNvPr>
          <p:cNvGrpSpPr/>
          <p:nvPr/>
        </p:nvGrpSpPr>
        <p:grpSpPr>
          <a:xfrm rot="18900000">
            <a:off x="6341692" y="2484169"/>
            <a:ext cx="1442668" cy="1788135"/>
            <a:chOff x="4800600" y="1504950"/>
            <a:chExt cx="1371600" cy="1700048"/>
          </a:xfrm>
          <a:solidFill>
            <a:srgbClr val="F28523"/>
          </a:solidFill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63979E6-4BE8-EA00-68F2-06F818D58B46}"/>
                </a:ext>
              </a:extLst>
            </p:cNvPr>
            <p:cNvSpPr/>
            <p:nvPr/>
          </p:nvSpPr>
          <p:spPr bwMode="auto">
            <a:xfrm>
              <a:off x="4800600" y="1504950"/>
              <a:ext cx="1371600" cy="1371600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  <p:sp>
          <p:nvSpPr>
            <p:cNvPr id="42" name="Isosceles Triangle 44">
              <a:extLst>
                <a:ext uri="{FF2B5EF4-FFF2-40B4-BE49-F238E27FC236}">
                  <a16:creationId xmlns:a16="http://schemas.microsoft.com/office/drawing/2014/main" id="{4AD6BBD8-8254-9B35-C57E-8D717DC2ABD6}"/>
                </a:ext>
              </a:extLst>
            </p:cNvPr>
            <p:cNvSpPr/>
            <p:nvPr/>
          </p:nvSpPr>
          <p:spPr bwMode="auto">
            <a:xfrm rot="10800000">
              <a:off x="5295900" y="2876550"/>
              <a:ext cx="381000" cy="328448"/>
            </a:xfrm>
            <a:prstGeom prst="triangl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A7F8ABB-F3BF-7294-BCB8-0AAEF19861BD}"/>
              </a:ext>
            </a:extLst>
          </p:cNvPr>
          <p:cNvGrpSpPr/>
          <p:nvPr/>
        </p:nvGrpSpPr>
        <p:grpSpPr>
          <a:xfrm>
            <a:off x="7050488" y="1200546"/>
            <a:ext cx="3273583" cy="3340279"/>
            <a:chOff x="5144977" y="929194"/>
            <a:chExt cx="2475022" cy="2525446"/>
          </a:xfrm>
          <a:solidFill>
            <a:srgbClr val="0056B8"/>
          </a:solidFill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ED582A6-CC9C-BEDE-0F9C-A15EC6542056}"/>
                </a:ext>
              </a:extLst>
            </p:cNvPr>
            <p:cNvSpPr/>
            <p:nvPr/>
          </p:nvSpPr>
          <p:spPr bwMode="auto">
            <a:xfrm rot="13500000">
              <a:off x="5633321" y="1875554"/>
              <a:ext cx="1090742" cy="2067430"/>
            </a:xfrm>
            <a:prstGeom prst="rect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  <p:sp>
          <p:nvSpPr>
            <p:cNvPr id="49" name="Isosceles Triangle 41">
              <a:extLst>
                <a:ext uri="{FF2B5EF4-FFF2-40B4-BE49-F238E27FC236}">
                  <a16:creationId xmlns:a16="http://schemas.microsoft.com/office/drawing/2014/main" id="{15C70C55-2B4E-7B7A-2D67-20DB7E096675}"/>
                </a:ext>
              </a:extLst>
            </p:cNvPr>
            <p:cNvSpPr/>
            <p:nvPr/>
          </p:nvSpPr>
          <p:spPr bwMode="auto">
            <a:xfrm rot="2700000">
              <a:off x="6247517" y="1454261"/>
              <a:ext cx="1897550" cy="847415"/>
            </a:xfrm>
            <a:prstGeom prst="triangle">
              <a:avLst>
                <a:gd name="adj" fmla="val 47444"/>
              </a:avLst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3FBD24A5-D3AC-65EC-0FE3-8B53D97671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88650" y="3040193"/>
            <a:ext cx="360090" cy="43180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55" name="Text Placeholder 53">
            <a:extLst>
              <a:ext uri="{FF2B5EF4-FFF2-40B4-BE49-F238E27FC236}">
                <a16:creationId xmlns:a16="http://schemas.microsoft.com/office/drawing/2014/main" id="{0A6F56E8-6CA4-F5B9-D34C-B4173EC7CC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83260" y="4060317"/>
            <a:ext cx="360090" cy="43180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6" name="Text Placeholder 53">
            <a:extLst>
              <a:ext uri="{FF2B5EF4-FFF2-40B4-BE49-F238E27FC236}">
                <a16:creationId xmlns:a16="http://schemas.microsoft.com/office/drawing/2014/main" id="{C227323E-EFE8-C86F-45C8-3882F0D1CA3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60519" y="3040193"/>
            <a:ext cx="360090" cy="43180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7" name="Text Placeholder 53">
            <a:extLst>
              <a:ext uri="{FF2B5EF4-FFF2-40B4-BE49-F238E27FC236}">
                <a16:creationId xmlns:a16="http://schemas.microsoft.com/office/drawing/2014/main" id="{AB33703D-2820-AA85-D38C-E7C7965D21E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55129" y="4060317"/>
            <a:ext cx="360090" cy="43180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8" name="Text Placeholder 53">
            <a:extLst>
              <a:ext uri="{FF2B5EF4-FFF2-40B4-BE49-F238E27FC236}">
                <a16:creationId xmlns:a16="http://schemas.microsoft.com/office/drawing/2014/main" id="{D4BF0C42-0962-18D7-79C1-2A230D4D54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20813" y="3040193"/>
            <a:ext cx="360090" cy="43180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9" name="Text Placeholder 53">
            <a:extLst>
              <a:ext uri="{FF2B5EF4-FFF2-40B4-BE49-F238E27FC236}">
                <a16:creationId xmlns:a16="http://schemas.microsoft.com/office/drawing/2014/main" id="{2CB1EDB3-6F32-A71F-BC7C-B9C8780C7A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15423" y="4060317"/>
            <a:ext cx="360090" cy="43180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4D4E548C-BABE-4198-5AA0-7DACACE93FB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49313" y="1459558"/>
            <a:ext cx="1338839" cy="3206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3" name="Text Placeholder 60">
            <a:extLst>
              <a:ext uri="{FF2B5EF4-FFF2-40B4-BE49-F238E27FC236}">
                <a16:creationId xmlns:a16="http://schemas.microsoft.com/office/drawing/2014/main" id="{37ACA4B4-89F2-2607-09DE-50B5168BC2F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49313" y="1810655"/>
            <a:ext cx="1338839" cy="320675"/>
          </a:xfrm>
          <a:prstGeom prst="rect">
            <a:avLst/>
          </a:prstGeom>
        </p:spPr>
        <p:txBody>
          <a:bodyPr/>
          <a:lstStyle>
            <a:lvl1pPr>
              <a:defRPr sz="1200" b="0"/>
            </a:lvl1pPr>
          </a:lstStyle>
          <a:p>
            <a:pPr lvl="0"/>
            <a:r>
              <a:rPr lang="en-US" dirty="0"/>
              <a:t>Description Here</a:t>
            </a:r>
          </a:p>
        </p:txBody>
      </p:sp>
      <p:sp>
        <p:nvSpPr>
          <p:cNvPr id="64" name="Text Placeholder 60">
            <a:extLst>
              <a:ext uri="{FF2B5EF4-FFF2-40B4-BE49-F238E27FC236}">
                <a16:creationId xmlns:a16="http://schemas.microsoft.com/office/drawing/2014/main" id="{2AB9F40D-CD2A-1276-EA94-4A372811D1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86458" y="1459558"/>
            <a:ext cx="1338839" cy="3206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5" name="Text Placeholder 60">
            <a:extLst>
              <a:ext uri="{FF2B5EF4-FFF2-40B4-BE49-F238E27FC236}">
                <a16:creationId xmlns:a16="http://schemas.microsoft.com/office/drawing/2014/main" id="{C0EC0157-4EF4-3F6C-C370-704141B9A2D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86458" y="1810655"/>
            <a:ext cx="1338839" cy="320675"/>
          </a:xfrm>
          <a:prstGeom prst="rect">
            <a:avLst/>
          </a:prstGeom>
        </p:spPr>
        <p:txBody>
          <a:bodyPr/>
          <a:lstStyle>
            <a:lvl1pPr>
              <a:defRPr sz="1200" b="0"/>
            </a:lvl1pPr>
          </a:lstStyle>
          <a:p>
            <a:pPr lvl="0"/>
            <a:r>
              <a:rPr lang="en-US" dirty="0"/>
              <a:t>Description Here</a:t>
            </a:r>
          </a:p>
        </p:txBody>
      </p:sp>
      <p:sp>
        <p:nvSpPr>
          <p:cNvPr id="66" name="Text Placeholder 60">
            <a:extLst>
              <a:ext uri="{FF2B5EF4-FFF2-40B4-BE49-F238E27FC236}">
                <a16:creationId xmlns:a16="http://schemas.microsoft.com/office/drawing/2014/main" id="{D1A5B84F-87E8-C16B-18EE-2FA03AF277E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12028" y="1459558"/>
            <a:ext cx="1338839" cy="3206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7" name="Text Placeholder 60">
            <a:extLst>
              <a:ext uri="{FF2B5EF4-FFF2-40B4-BE49-F238E27FC236}">
                <a16:creationId xmlns:a16="http://schemas.microsoft.com/office/drawing/2014/main" id="{A136323B-4A9C-D7E1-1184-8511B63E253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12028" y="1810655"/>
            <a:ext cx="1338839" cy="320675"/>
          </a:xfrm>
          <a:prstGeom prst="rect">
            <a:avLst/>
          </a:prstGeom>
        </p:spPr>
        <p:txBody>
          <a:bodyPr/>
          <a:lstStyle>
            <a:lvl1pPr>
              <a:defRPr sz="1200" b="0"/>
            </a:lvl1pPr>
          </a:lstStyle>
          <a:p>
            <a:pPr lvl="0"/>
            <a:r>
              <a:rPr lang="en-US" dirty="0"/>
              <a:t>Description Here</a:t>
            </a:r>
          </a:p>
        </p:txBody>
      </p:sp>
      <p:sp>
        <p:nvSpPr>
          <p:cNvPr id="68" name="Text Placeholder 60">
            <a:extLst>
              <a:ext uri="{FF2B5EF4-FFF2-40B4-BE49-F238E27FC236}">
                <a16:creationId xmlns:a16="http://schemas.microsoft.com/office/drawing/2014/main" id="{420F8C5A-8E72-C305-B719-03BAAB22DF1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53080" y="5406525"/>
            <a:ext cx="1338839" cy="3206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9" name="Text Placeholder 60">
            <a:extLst>
              <a:ext uri="{FF2B5EF4-FFF2-40B4-BE49-F238E27FC236}">
                <a16:creationId xmlns:a16="http://schemas.microsoft.com/office/drawing/2014/main" id="{56492350-B0A1-35C6-F320-8A8B919BD97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53080" y="5757622"/>
            <a:ext cx="1338839" cy="320675"/>
          </a:xfrm>
          <a:prstGeom prst="rect">
            <a:avLst/>
          </a:prstGeom>
        </p:spPr>
        <p:txBody>
          <a:bodyPr/>
          <a:lstStyle>
            <a:lvl1pPr>
              <a:defRPr sz="1200" b="0"/>
            </a:lvl1pPr>
          </a:lstStyle>
          <a:p>
            <a:pPr lvl="0"/>
            <a:r>
              <a:rPr lang="en-US" dirty="0"/>
              <a:t>Description Here</a:t>
            </a:r>
          </a:p>
        </p:txBody>
      </p:sp>
      <p:sp>
        <p:nvSpPr>
          <p:cNvPr id="70" name="Text Placeholder 60">
            <a:extLst>
              <a:ext uri="{FF2B5EF4-FFF2-40B4-BE49-F238E27FC236}">
                <a16:creationId xmlns:a16="http://schemas.microsoft.com/office/drawing/2014/main" id="{B0A3670B-EA54-14CA-D35B-69A22FCF889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90225" y="5406525"/>
            <a:ext cx="1338839" cy="3206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71" name="Text Placeholder 60">
            <a:extLst>
              <a:ext uri="{FF2B5EF4-FFF2-40B4-BE49-F238E27FC236}">
                <a16:creationId xmlns:a16="http://schemas.microsoft.com/office/drawing/2014/main" id="{FE113F80-3B82-C561-BC57-CABCE4E2957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490225" y="5757622"/>
            <a:ext cx="1338839" cy="320675"/>
          </a:xfrm>
          <a:prstGeom prst="rect">
            <a:avLst/>
          </a:prstGeom>
        </p:spPr>
        <p:txBody>
          <a:bodyPr/>
          <a:lstStyle>
            <a:lvl1pPr>
              <a:defRPr sz="1200" b="0"/>
            </a:lvl1pPr>
          </a:lstStyle>
          <a:p>
            <a:pPr lvl="0"/>
            <a:r>
              <a:rPr lang="en-US" dirty="0"/>
              <a:t>Description Here</a:t>
            </a:r>
          </a:p>
        </p:txBody>
      </p:sp>
      <p:sp>
        <p:nvSpPr>
          <p:cNvPr id="72" name="Text Placeholder 60">
            <a:extLst>
              <a:ext uri="{FF2B5EF4-FFF2-40B4-BE49-F238E27FC236}">
                <a16:creationId xmlns:a16="http://schemas.microsoft.com/office/drawing/2014/main" id="{EE475CDA-4A8B-E797-F6F4-001A4A7A082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515795" y="5406525"/>
            <a:ext cx="1338839" cy="3206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73" name="Text Placeholder 60">
            <a:extLst>
              <a:ext uri="{FF2B5EF4-FFF2-40B4-BE49-F238E27FC236}">
                <a16:creationId xmlns:a16="http://schemas.microsoft.com/office/drawing/2014/main" id="{40A9B852-784F-EE1A-7DB9-B683A55BF87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515795" y="5757622"/>
            <a:ext cx="1338839" cy="320675"/>
          </a:xfrm>
          <a:prstGeom prst="rect">
            <a:avLst/>
          </a:prstGeom>
        </p:spPr>
        <p:txBody>
          <a:bodyPr/>
          <a:lstStyle>
            <a:lvl1pPr>
              <a:defRPr sz="1200" b="0"/>
            </a:lvl1pPr>
          </a:lstStyle>
          <a:p>
            <a:pPr lvl="0"/>
            <a:r>
              <a:rPr lang="en-US" dirty="0"/>
              <a:t>Description Here</a:t>
            </a:r>
          </a:p>
        </p:txBody>
      </p:sp>
    </p:spTree>
    <p:extLst>
      <p:ext uri="{BB962C8B-B14F-4D97-AF65-F5344CB8AC3E}">
        <p14:creationId xmlns:p14="http://schemas.microsoft.com/office/powerpoint/2010/main" val="2152759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withou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45837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943CA4-1DCB-8430-AE76-6918F16D81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244" b="18214"/>
          <a:stretch/>
        </p:blipFill>
        <p:spPr>
          <a:xfrm>
            <a:off x="4029260" y="1007256"/>
            <a:ext cx="4133479" cy="406548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D5118FF-2F71-0B33-A8D7-7DE16C6732CE}"/>
              </a:ext>
            </a:extLst>
          </p:cNvPr>
          <p:cNvSpPr/>
          <p:nvPr userDrawn="1"/>
        </p:nvSpPr>
        <p:spPr>
          <a:xfrm>
            <a:off x="0" y="5542723"/>
            <a:ext cx="12758057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673100" indent="-914400" algn="ctr" defTabSz="457200">
              <a:defRPr sz="1800" b="1">
                <a:solidFill>
                  <a:srgbClr val="1270B8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rPr lang="de-DE" sz="1400" b="1" dirty="0">
                <a:solidFill>
                  <a:srgbClr val="1270B8"/>
                </a:solidFill>
                <a:latin typeface="Arial"/>
                <a:cs typeface="Arial"/>
                <a:sym typeface="Arial"/>
              </a:rPr>
              <a:t>Arabian Pipeline &amp; Services Co. Ltd. </a:t>
            </a:r>
            <a:r>
              <a:rPr lang="de-DE" sz="1400" b="1" dirty="0">
                <a:solidFill>
                  <a:srgbClr val="F28523"/>
                </a:solidFill>
                <a:latin typeface="Arial"/>
                <a:cs typeface="Arial"/>
                <a:sym typeface="Arial"/>
              </a:rPr>
              <a:t>(ANABEEB)</a:t>
            </a:r>
          </a:p>
          <a:p>
            <a:pPr marR="673100" indent="-914400" algn="ctr" defTabSz="457200">
              <a:defRPr sz="1800" b="1">
                <a:solidFill>
                  <a:srgbClr val="1270B8"/>
                </a:solidFill>
                <a:latin typeface="+mj-lt"/>
                <a:ea typeface="+mj-ea"/>
                <a:cs typeface="+mj-cs"/>
                <a:sym typeface="Arial"/>
              </a:defRPr>
            </a:pPr>
            <a:endParaRPr lang="de-DE" sz="1200" b="1" dirty="0">
              <a:solidFill>
                <a:srgbClr val="1270B8"/>
              </a:solidFill>
              <a:latin typeface="Arial"/>
              <a:cs typeface="Arial"/>
              <a:sym typeface="Arial"/>
            </a:endParaRPr>
          </a:p>
          <a:p>
            <a:pPr marR="673100" indent="-914400" algn="ctr" defTabSz="457200">
              <a:defRPr sz="1300">
                <a:solidFill>
                  <a:srgbClr val="929292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rPr lang="de-DE" dirty="0">
                <a:solidFill>
                  <a:srgbClr val="929292"/>
                </a:solidFill>
                <a:latin typeface="Arial"/>
                <a:cs typeface="Arial"/>
                <a:sym typeface="Arial"/>
              </a:rPr>
              <a:t>P.O. Box 234 Al Jubail      |     Tel:  +966 13 362 0556 	|    Fax: +966 13 361 4990    |     Email: </a:t>
            </a:r>
            <a:r>
              <a:rPr lang="de-DE" dirty="0">
                <a:solidFill>
                  <a:srgbClr val="929292"/>
                </a:solidFill>
                <a:latin typeface="Arial"/>
                <a:cs typeface="Arial"/>
                <a:sym typeface="Arial"/>
                <a:hlinkClick r:id="rId3"/>
              </a:rPr>
              <a:t>info@anabeeb.com</a:t>
            </a:r>
            <a:r>
              <a:rPr lang="de-DE" dirty="0">
                <a:solidFill>
                  <a:srgbClr val="929292"/>
                </a:solidFill>
                <a:latin typeface="Arial"/>
                <a:cs typeface="Arial"/>
                <a:sym typeface="Arial"/>
              </a:rPr>
              <a:t>	|    Website: www.anabeeb.com</a:t>
            </a:r>
            <a:endParaRPr lang="de-DE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61273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417285" y="6510339"/>
            <a:ext cx="464457" cy="365125"/>
          </a:xfrm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fld id="{5037CCFB-8CBF-422D-97B2-3E4D2CDC6F7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25863" y="108772"/>
            <a:ext cx="820017" cy="820017"/>
          </a:xfrm>
          <a:prstGeom prst="rect">
            <a:avLst/>
          </a:prstGeom>
        </p:spPr>
      </p:pic>
      <p:sp>
        <p:nvSpPr>
          <p:cNvPr id="27" name="Title Placeholder 26">
            <a:extLst>
              <a:ext uri="{FF2B5EF4-FFF2-40B4-BE49-F238E27FC236}">
                <a16:creationId xmlns:a16="http://schemas.microsoft.com/office/drawing/2014/main" id="{8200032C-7E8B-0AB5-A949-CF2BE339C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285" y="219101"/>
            <a:ext cx="10515600" cy="820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6777BA-ED8E-7B0D-E313-DA672AFCD8B4}"/>
              </a:ext>
            </a:extLst>
          </p:cNvPr>
          <p:cNvSpPr txBox="1"/>
          <p:nvPr userDrawn="1"/>
        </p:nvSpPr>
        <p:spPr>
          <a:xfrm>
            <a:off x="8865309" y="6082899"/>
            <a:ext cx="3013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 b="1" dirty="0">
                <a:solidFill>
                  <a:srgbClr val="0056B8"/>
                </a:solidFill>
                <a:latin typeface="Arial"/>
                <a:cs typeface="Arial"/>
                <a:sym typeface="Arial"/>
              </a:rPr>
              <a:t>END-TO-END SOLUTIONS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4F9FC9-64D9-0F04-E021-21F7D2B40B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77" b="-130026"/>
          <a:stretch/>
        </p:blipFill>
        <p:spPr>
          <a:xfrm>
            <a:off x="483691" y="6220378"/>
            <a:ext cx="8292916" cy="26512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C115D1A-933E-CE7C-E81D-D8678D60E0D9}"/>
              </a:ext>
            </a:extLst>
          </p:cNvPr>
          <p:cNvSpPr/>
          <p:nvPr userDrawn="1"/>
        </p:nvSpPr>
        <p:spPr>
          <a:xfrm>
            <a:off x="519763" y="956970"/>
            <a:ext cx="11165116" cy="74080"/>
          </a:xfrm>
          <a:prstGeom prst="rect">
            <a:avLst/>
          </a:prstGeom>
          <a:solidFill>
            <a:srgbClr val="F285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154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698" r:id="rId2"/>
    <p:sldLayoutId id="2147483713" r:id="rId3"/>
    <p:sldLayoutId id="2147483706" r:id="rId4"/>
    <p:sldLayoutId id="2147483707" r:id="rId5"/>
    <p:sldLayoutId id="2147483712" r:id="rId6"/>
    <p:sldLayoutId id="2147483704" r:id="rId7"/>
    <p:sldLayoutId id="2147483708" r:id="rId8"/>
    <p:sldLayoutId id="2147483711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56B8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b="1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ero Background" descr="Operator in orange water-jetting suit cleaning a large heat exchanger with a high pressure water lance at a desert refinery"/>
          <p:cNvPicPr>
            <a:picLocks noChangeAspect="1"/>
          </p:cNvPicPr>
          <p:nvPr/>
        </p:nvPicPr>
        <p:blipFill>
          <a:blip r:embed="rId3"/>
          <a:srcRect t="4688" b="1093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Overla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78000"/>
                </a:srgbClr>
              </a:gs>
              <a:gs pos="55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 rtlCol="0"/>
          <a:lstStyle/>
          <a:p>
            <a:endParaRPr lang="en-US"/>
          </a:p>
        </p:txBody>
      </p:sp>
      <p:pic>
        <p:nvPicPr>
          <p:cNvPr id="9" name="Footer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/>
          <a:srcRect l="28150" r="28150"/>
          <a:stretch/>
        </p:blipFill>
        <p:spPr>
          <a:xfrm>
            <a:off x="483691" y="6191194"/>
            <a:ext cx="8292916" cy="2651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65309" y="6053715"/>
            <a:ext cx="3013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 b="1">
                <a:solidFill>
                  <a:srgbClr val="F28523"/>
                </a:solidFill>
                <a:latin typeface="Arial"/>
                <a:cs typeface="Arial"/>
                <a:sym typeface="Arial"/>
              </a:rPr>
              <a:t>END-TO-END SOLUTIONS</a:t>
            </a:r>
          </a:p>
        </p:txBody>
      </p:sp>
      <p:pic>
        <p:nvPicPr>
          <p:cNvPr id="4" name="Anabeeb Logo" descr="Anabeeb logo"/>
          <p:cNvPicPr>
            <a:picLocks noChangeAspect="1"/>
          </p:cNvPicPr>
          <p:nvPr/>
        </p:nvPicPr>
        <p:blipFill>
          <a:blip r:embed="rId5" cstate="screen"/>
          <a:stretch>
            <a:fillRect/>
          </a:stretch>
        </p:blipFill>
        <p:spPr>
          <a:xfrm>
            <a:off x="10716846" y="286789"/>
            <a:ext cx="1091040" cy="1439386"/>
          </a:xfrm>
          <a:prstGeom prst="rect">
            <a:avLst/>
          </a:prstGeom>
        </p:spPr>
      </p:pic>
      <p:sp>
        <p:nvSpPr>
          <p:cNvPr id="10" name="Title"/>
          <p:cNvSpPr txBox="1"/>
          <p:nvPr/>
        </p:nvSpPr>
        <p:spPr>
          <a:xfrm>
            <a:off x="457200" y="2160000"/>
            <a:ext cx="7315200" cy="184626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5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Pressure Water Jetting</a:t>
            </a:r>
          </a:p>
        </p:txBody>
      </p:sp>
      <p:sp>
        <p:nvSpPr>
          <p:cNvPr id="12" name="Subtitle"/>
          <p:cNvSpPr txBox="1"/>
          <p:nvPr/>
        </p:nvSpPr>
        <p:spPr>
          <a:xfrm>
            <a:off x="457200" y="4086000"/>
            <a:ext cx="7315200" cy="1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2800" b="1">
                <a:solidFill>
                  <a:srgbClr val="F285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Basic Operator Training</a:t>
            </a:r>
          </a:p>
          <a:p>
            <a:r>
              <a:rPr lang="en-US" sz="1800" i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(Awareness &amp; Field Verification)</a:t>
            </a:r>
          </a:p>
          <a:p>
            <a:r>
              <a:rPr lang="en-US" sz="16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 1 – Safety Foundation, Hazards, Medical Response &amp; Controls</a:t>
            </a:r>
          </a:p>
        </p:txBody>
      </p:sp>
      <p:sp>
        <p:nvSpPr>
          <p:cNvPr id="21" name="Branding Line"/>
          <p:cNvSpPr txBox="1"/>
          <p:nvPr/>
        </p:nvSpPr>
        <p:spPr>
          <a:xfrm>
            <a:off x="457200" y="5580000"/>
            <a:ext cx="8000000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Anabeeb HSE &amp; Training  |  NEBOSH Verified Programme</a:t>
            </a:r>
          </a:p>
        </p:txBody>
      </p:sp>
    </p:spTree>
    <p:extLst>
      <p:ext uri="{BB962C8B-B14F-4D97-AF65-F5344CB8AC3E}">
        <p14:creationId xmlns:p14="http://schemas.microsoft.com/office/powerpoint/2010/main" val="2019260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7CCFB-8CBF-422D-97B2-3E4D2CDC6F78}" type="slidenum">
              <a:rPr lang="en-US" smtClean="0"/>
              <a:t>2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478831" y="1560000"/>
            <a:ext cx="5882211" cy="4320000"/>
          </a:xfrm>
        </p:spPr>
        <p:txBody>
          <a:bodyPr>
            <a:normAutofit/>
          </a:bodyPr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/>
              <a:t>This programme is delivered to NEBOSH Verified standards.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/>
              <a:t>It follows industry best practices and international standards for high pressure water jetting operations.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/>
              <a:t>You will receive an Anabeeb certificate and personal Medical Alert Card upon successful completion of the full 3-day programme and assessments.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/>
              <a:t>The NEBOSH Verified logo signifies training quality that meets recognised standards.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/>
              <a:t>This training enhances safety during shutdown and turnaround operations on oil and gas sites.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2400">
                <a:solidFill>
                  <a:srgbClr val="F28523"/>
                </a:solidFill>
              </a:rPr>
              <a:t>NEBOSH VERIFIED PROGRAMME</a:t>
            </a:r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417285" y="219101"/>
            <a:ext cx="10515600" cy="820017"/>
          </a:xfrm>
        </p:spPr>
        <p:txBody>
          <a:bodyPr>
            <a:normAutofit/>
          </a:bodyPr>
          <a:lstStyle/>
          <a:p>
            <a:r>
              <a:rPr lang="en-US"/>
              <a:t>HPWJ – WATER JETTING</a:t>
            </a:r>
          </a:p>
        </p:txBody>
      </p:sp>
      <p:pic>
        <p:nvPicPr>
          <p:cNvPr id="6" name="Oil and gas process plant" descr="A modern oil and gas process plant with distillation columns and silver piping under a clear sky in a Middle East desert sett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941" y="1400175"/>
            <a:ext cx="4400000" cy="4400000"/>
          </a:xfrm>
          <a:prstGeom prst="rect">
            <a:avLst/>
          </a:prstGeom>
        </p:spPr>
      </p:pic>
      <p:pic>
        <p:nvPicPr>
          <p:cNvPr id="8" name="NEBOSH Verified badge" descr="NEBOSH Verified programme badge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900941" y="2500175"/>
            <a:ext cx="2200000" cy="2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583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09A601-37F8-3C32-DE96-CBAF8B07A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7CCFB-8CBF-422D-97B2-3E4D2CDC6F78}" type="slidenum">
              <a:rPr lang="en-US" smtClean="0"/>
              <a:t>3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0384F-AFE6-E9BC-4992-24C7573424A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8831" y="1614819"/>
            <a:ext cx="5882211" cy="4425107"/>
          </a:xfrm>
        </p:spPr>
        <p:txBody>
          <a:bodyPr>
            <a:noAutofit/>
          </a:bodyPr>
          <a:lstStyle/>
          <a:p>
            <a:r>
              <a:rPr lang="en-US" sz="2000" b="1"/>
              <a:t>By the end of today you will be able to:</a:t>
            </a:r>
          </a:p>
          <a:p>
            <a:pPr marL="285750" indent="-285750">
              <a:buFont typeface="+mj-lt"/>
              <a:buAutoNum type="arabicPeriod"/>
            </a:pPr>
            <a:r>
              <a:rPr lang="en-US" sz="2000"/>
              <a:t>Understand why high pressure water jetting injuries are different and serious</a:t>
            </a:r>
          </a:p>
          <a:p>
            <a:pPr marL="285750" indent="-285750">
              <a:buFont typeface="+mj-lt"/>
              <a:buAutoNum type="arabicPeriod"/>
            </a:pPr>
            <a:r>
              <a:rPr lang="en-US" sz="2000"/>
              <a:t>Explain the Medical Alert Card and when to use it</a:t>
            </a:r>
          </a:p>
          <a:p>
            <a:pPr marL="285750" indent="-285750">
              <a:buFont typeface="+mj-lt"/>
              <a:buAutoNum type="arabicPeriod"/>
            </a:pPr>
            <a:r>
              <a:rPr lang="en-US" sz="2000"/>
              <a:t>Apply the hierarchy of controls and key site safety rules</a:t>
            </a:r>
          </a:p>
          <a:p>
            <a:pPr marL="285750" indent="-285750">
              <a:buFont typeface="+mj-lt"/>
              <a:buAutoNum type="arabicPeriod"/>
            </a:pPr>
            <a:r>
              <a:rPr lang="en-US" sz="2000"/>
              <a:t>Understand how the system creates pressure and why control of relief is critical</a:t>
            </a:r>
          </a:p>
          <a:p>
            <a:pPr marL="285750" indent="-285750">
              <a:buFont typeface="+mj-lt"/>
              <a:buAutoNum type="arabicPeriod"/>
            </a:pPr>
            <a:r>
              <a:rPr lang="en-US" sz="2000"/>
              <a:t>Recognise Stop Work Authority and when to use it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73631-461C-E1FB-1E09-8C09EE62AE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2400">
                <a:solidFill>
                  <a:srgbClr val="F28523"/>
                </a:solidFill>
              </a:rPr>
              <a:t>DAY 1 </a:t>
            </a:r>
            <a:r>
              <a:rPr lang="en-US" sz="2400" dirty="0">
                <a:solidFill>
                  <a:srgbClr val="F28523"/>
                </a:solidFill>
              </a:rPr>
              <a:t>LEARNING OUTCOMES</a:t>
            </a:r>
            <a:endParaRPr lang="en-US" dirty="0">
              <a:solidFill>
                <a:srgbClr val="F28523"/>
              </a:solidFill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ACD69ADC-EF3D-42D0-8763-1AC5882CA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285" y="219101"/>
            <a:ext cx="10515600" cy="820017"/>
          </a:xfrm>
        </p:spPr>
        <p:txBody>
          <a:bodyPr>
            <a:normAutofit/>
          </a:bodyPr>
          <a:lstStyle/>
          <a:p>
            <a:r>
              <a:rPr lang="en-US"/>
              <a:t>HPWJ </a:t>
            </a:r>
            <a:r>
              <a:rPr lang="en-US" dirty="0"/>
              <a:t>– </a:t>
            </a:r>
            <a:r>
              <a:rPr lang="en-US"/>
              <a:t>WATER JETTING</a:t>
            </a:r>
            <a:endParaRPr lang="en-US" dirty="0"/>
          </a:p>
        </p:txBody>
      </p:sp>
      <p:pic>
        <p:nvPicPr>
          <p:cNvPr id="6" name="Operator with Medical Alert Card" descr="Water jetting operator in orange suit holding a long-barrel gun and a red Medical Alert card">
            <a:extLst>
              <a:ext uri="{FF2B5EF4-FFF2-40B4-BE49-F238E27FC236}">
                <a16:creationId xmlns:a16="http://schemas.microsoft.com/office/drawing/2014/main" id="{7308E3B3-3A58-4D2A-A889-02FF3F7B4E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941" y="1400175"/>
            <a:ext cx="4400000" cy="4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939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09A601-37F8-3C32-DE96-CBAF8B07A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7CCFB-8CBF-422D-97B2-3E4D2CDC6F78}" type="slidenum">
              <a:rPr lang="en-US" smtClean="0"/>
              <a:t>4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0384F-AFE6-E9BC-4992-24C7573424A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8832" y="1747319"/>
            <a:ext cx="5632258" cy="4292607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This session is interactive, not just a lecture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You are welcome to ask questions at any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Please share your site experiences during discussions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Respect others when they are speaking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Mobile phones on silent during the session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73631-461C-E1FB-1E09-8C09EE62AE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ZA" sz="2400" kern="0" dirty="0">
                <a:solidFill>
                  <a:srgbClr val="F28523"/>
                </a:solidFill>
                <a:ea typeface="Times New Roman" panose="02020603050405020304" pitchFamily="18" charset="0"/>
              </a:rPr>
              <a:t>TRAINER INTRODUCTION &amp; HOUSE RULES</a:t>
            </a:r>
            <a:endParaRPr lang="en-US" sz="2400" dirty="0">
              <a:solidFill>
                <a:srgbClr val="F28523"/>
              </a:solidFill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601EA2F1-5526-4230-A4B2-7A0F46042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285" y="219101"/>
            <a:ext cx="10515600" cy="820017"/>
          </a:xfrm>
        </p:spPr>
        <p:txBody>
          <a:bodyPr>
            <a:normAutofit/>
          </a:bodyPr>
          <a:lstStyle/>
          <a:p>
            <a:r>
              <a:rPr lang="en-US"/>
              <a:t>HPWJ </a:t>
            </a:r>
            <a:r>
              <a:rPr lang="en-US" dirty="0"/>
              <a:t>– </a:t>
            </a:r>
            <a:r>
              <a:rPr lang="en-US"/>
              <a:t>WATER JETTING</a:t>
            </a:r>
            <a:endParaRPr lang="en-US" dirty="0"/>
          </a:p>
        </p:txBody>
      </p:sp>
      <p:pic>
        <p:nvPicPr>
          <p:cNvPr id="4" name="Toolbox talk training session" descr="Trainer leading a toolbox talk with workers in coveralls and hard hats in an industrial training room"/>
          <p:cNvPicPr>
            <a:picLocks noChangeAspect="1"/>
          </p:cNvPicPr>
          <p:nvPr/>
        </p:nvPicPr>
        <p:blipFill rotWithShape="1">
          <a:blip r:embed="rId2"/>
          <a:srcRect l="20297"/>
          <a:stretch>
            <a:fillRect/>
          </a:stretch>
        </p:blipFill>
        <p:spPr>
          <a:xfrm>
            <a:off x="6184900" y="1509531"/>
            <a:ext cx="5535610" cy="4630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318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7CCFB-8CBF-422D-97B2-3E4D2CDC6F78}" type="slidenum">
              <a:rPr lang="en-US" smtClean="0"/>
              <a:t>5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478831" y="1560000"/>
            <a:ext cx="5882211" cy="2520000"/>
          </a:xfrm>
        </p:spPr>
        <p:txBody>
          <a:bodyPr>
            <a:normAutofit fontScale="92500"/>
          </a:bodyPr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/>
              <a:t>High pressure water jetting uses a pump to move large volumes of water through a small nozzle.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/>
              <a:t>The nozzle creates the cutting or cleaning force.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/>
              <a:t>Pressures commonly reach 10,000 to 20,000 psi on Anabeeb work.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/>
              <a:t>It is used for surface cleaning, tube cleaning, pipe cleaning and more during shutdowns and maintenance.</a:t>
            </a:r>
          </a:p>
        </p:txBody>
      </p:sp>
      <p:sp>
        <p:nvSpPr>
          <p:cNvPr id="30" name="Key Principle Callout"/>
          <p:cNvSpPr/>
          <p:nvPr/>
        </p:nvSpPr>
        <p:spPr>
          <a:xfrm>
            <a:off x="478831" y="4230000"/>
            <a:ext cx="5882211" cy="1750000"/>
          </a:xfrm>
          <a:prstGeom prst="roundRect">
            <a:avLst>
              <a:gd name="adj" fmla="val 6000"/>
            </a:avLst>
          </a:prstGeom>
          <a:solidFill>
            <a:srgbClr val="FFF3CC"/>
          </a:solidFill>
          <a:ln w="19050">
            <a:solidFill>
              <a:srgbClr val="F28523"/>
            </a:solidFill>
          </a:ln>
        </p:spPr>
        <p:txBody>
          <a:bodyPr wrap="square" lIns="182880" tIns="109728" rIns="182880" bIns="109728" rtlCol="0">
            <a:normAutofit/>
          </a:bodyPr>
          <a:lstStyle/>
          <a:p>
            <a:r>
              <a:rPr lang="en-US" sz="1600" b="1">
                <a:solidFill>
                  <a:srgbClr val="C05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PRINCIPLE</a:t>
            </a:r>
          </a:p>
          <a:p>
            <a:r>
              <a:rPr lang="en-US" sz="160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pump moves the water. The nozzle turns that flow into extreme force. This is a controlled cutting tool – not just cleaning equipment.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2400">
                <a:solidFill>
                  <a:srgbClr val="F28523"/>
                </a:solidFill>
              </a:rPr>
              <a:t>WHAT IS HIGH PRESSURE WATER JETTING?</a:t>
            </a:r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417285" y="219101"/>
            <a:ext cx="10515600" cy="820017"/>
          </a:xfrm>
        </p:spPr>
        <p:txBody>
          <a:bodyPr>
            <a:normAutofit/>
          </a:bodyPr>
          <a:lstStyle/>
          <a:p>
            <a:r>
              <a:rPr lang="en-US"/>
              <a:t>HPWJ – WATER JETTING</a:t>
            </a:r>
          </a:p>
        </p:txBody>
      </p:sp>
      <p:pic>
        <p:nvPicPr>
          <p:cNvPr id="6" name="Water jetting nozzle in operation" descr="Close-up of a high pressure water jetting long-barrel gun nozzle cleaning a heat exchanger tube sheet, operator hands in heavy-duty glov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941" y="1400175"/>
            <a:ext cx="4400000" cy="4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939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7CCFB-8CBF-422D-97B2-3E4D2CDC6F78}" type="slidenum">
              <a:rPr lang="en-US" smtClean="0"/>
              <a:t>6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478831" y="1560000"/>
            <a:ext cx="5882211" cy="4350000"/>
          </a:xfrm>
        </p:spPr>
        <p:txBody>
          <a:bodyPr>
            <a:normAutofit/>
          </a:bodyPr>
          <a:lstStyle/>
          <a:p>
            <a:r>
              <a:rPr lang="en-US" sz="2000" b="1"/>
              <a:t>Common applications on Anabeeb and client sites: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000"/>
              <a:t>Heat exchanger and bundle cleaning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000"/>
              <a:t>Pipe and line cleaning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000"/>
              <a:t>Surface preparation before coating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000"/>
              <a:t>Vessel and tank cleaning</a:t>
            </a:r>
          </a:p>
          <a:p>
            <a:pPr>
              <a:spcBef>
                <a:spcPts val="1400"/>
              </a:spcBef>
            </a:pPr>
            <a:r>
              <a:rPr lang="en-US" sz="2000" b="1">
                <a:solidFill>
                  <a:srgbClr val="C05600"/>
                </a:solidFill>
              </a:rPr>
              <a:t>This work is always part of shutdown and turnaround activities. Strict controls are required every time.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2400">
                <a:solidFill>
                  <a:srgbClr val="F28523"/>
                </a:solidFill>
              </a:rPr>
              <a:t>WHERE HPWJ IS USED ON OUR SITES</a:t>
            </a:r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417285" y="219101"/>
            <a:ext cx="10515600" cy="820017"/>
          </a:xfrm>
        </p:spPr>
        <p:txBody>
          <a:bodyPr>
            <a:normAutofit/>
          </a:bodyPr>
          <a:lstStyle/>
          <a:p>
            <a:r>
              <a:rPr lang="en-US"/>
              <a:t>HPWJ – WATER JETTING</a:t>
            </a:r>
          </a:p>
        </p:txBody>
      </p:sp>
      <p:pic>
        <p:nvPicPr>
          <p:cNvPr id="6" name="Heat exchanger turnaround cleaning" descr="Operators in full orange PPE cleaning a large heat exchanger bundle with high pressure water jetting during a refinery turnaround, safety barricad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941" y="1400175"/>
            <a:ext cx="4400000" cy="4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939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7CCFB-8CBF-422D-97B2-3E4D2CDC6F78}" type="slidenum">
              <a:rPr lang="en-US" smtClean="0"/>
              <a:t>7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478831" y="1560000"/>
            <a:ext cx="5882211" cy="2620000"/>
          </a:xfrm>
        </p:spPr>
        <p:txBody>
          <a:bodyPr>
            <a:normAutofit/>
          </a:bodyPr>
          <a:lstStyle/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800"/>
              <a:t>Waterjet injuries are different from normal cuts or bruises.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800"/>
              <a:t>Even a small external wound can hide severe internal damage.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800"/>
              <a:t>Medical attention is required for </a:t>
            </a:r>
            <a:r>
              <a:rPr lang="en-US" sz="2000" b="1">
                <a:solidFill>
                  <a:srgbClr val="C00000"/>
                </a:solidFill>
              </a:rPr>
              <a:t>ALL suspected waterjet injuries – no exceptions.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800"/>
              <a:t>The Medical Alert Card tells medical staff exactly what to look for and what treatment is needed.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b="1"/>
              <a:t>It can save your life.</a:t>
            </a:r>
          </a:p>
        </p:txBody>
      </p:sp>
      <p:sp>
        <p:nvSpPr>
          <p:cNvPr id="30" name="Warning Callout"/>
          <p:cNvSpPr/>
          <p:nvPr/>
        </p:nvSpPr>
        <p:spPr>
          <a:xfrm>
            <a:off x="478831" y="4360000"/>
            <a:ext cx="5882211" cy="1560000"/>
          </a:xfrm>
          <a:prstGeom prst="roundRect">
            <a:avLst>
              <a:gd name="adj" fmla="val 6000"/>
            </a:avLst>
          </a:prstGeom>
          <a:solidFill>
            <a:srgbClr val="FDE7E7"/>
          </a:solidFill>
          <a:ln w="19050">
            <a:solidFill>
              <a:srgbClr val="C00000"/>
            </a:solidFill>
          </a:ln>
        </p:spPr>
        <p:txBody>
          <a:bodyPr rtlCol="0" anchor="ctr">
            <a:normAutofit/>
          </a:bodyPr>
          <a:lstStyle/>
          <a:p>
            <a:pPr algn="ctr"/>
            <a:r>
              <a:rPr lang="en-US" sz="1700" b="1">
                <a:solidFill>
                  <a:srgbClr val="C00000"/>
                </a:solidFill>
              </a:rPr>
              <a:t>NEVER assume an injury is minor. Always treat every suspected waterjet injury as serious.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2400">
                <a:solidFill>
                  <a:srgbClr val="F28523"/>
                </a:solidFill>
              </a:rPr>
              <a:t>WHY WATERJET INJURIES ARE DIFFERENT</a:t>
            </a:r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417285" y="219101"/>
            <a:ext cx="10515600" cy="820017"/>
          </a:xfrm>
        </p:spPr>
        <p:txBody>
          <a:bodyPr>
            <a:normAutofit/>
          </a:bodyPr>
          <a:lstStyle/>
          <a:p>
            <a:r>
              <a:rPr lang="en-US"/>
              <a:t>HPWJ – WATER JETTING</a:t>
            </a:r>
          </a:p>
        </p:txBody>
      </p:sp>
      <p:pic>
        <p:nvPicPr>
          <p:cNvPr id="6" name="Medical Alert Card in gloved hand" descr="A laminated red Medical Alert card held in a gloved hand against a soft-focus industrial oil and gas plant 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941" y="1400175"/>
            <a:ext cx="4400000" cy="4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939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7CCFB-8CBF-422D-97B2-3E4D2CDC6F78}" type="slidenum">
              <a:rPr lang="en-US" smtClean="0"/>
              <a:t>8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478831" y="1560000"/>
            <a:ext cx="5882211" cy="4350000"/>
          </a:xfrm>
        </p:spPr>
        <p:txBody>
          <a:bodyPr>
            <a:normAutofit/>
          </a:bodyPr>
          <a:lstStyle/>
          <a:p>
            <a:pPr marL="457200" indent="-457200">
              <a:spcBef>
                <a:spcPts val="900"/>
              </a:spcBef>
              <a:buFont typeface="+mj-lt"/>
              <a:buAutoNum type="arabicPeriod"/>
            </a:pPr>
            <a:r>
              <a:rPr lang="en-US" sz="2000" b="1"/>
              <a:t>Water-Cut </a:t>
            </a:r>
            <a:r>
              <a:rPr lang="en-US" sz="2000"/>
              <a:t>– direct injection of water into the body</a:t>
            </a:r>
          </a:p>
          <a:p>
            <a:pPr marL="457200" indent="-457200">
              <a:spcBef>
                <a:spcPts val="900"/>
              </a:spcBef>
              <a:buFont typeface="+mj-lt"/>
              <a:buAutoNum type="arabicPeriod"/>
            </a:pPr>
            <a:r>
              <a:rPr lang="en-US" sz="2000" b="1"/>
              <a:t>Water-Burst </a:t>
            </a:r>
            <a:r>
              <a:rPr lang="en-US" sz="2000"/>
              <a:t>– sudden high-velocity burst penetrating tissue</a:t>
            </a:r>
          </a:p>
          <a:p>
            <a:pPr marL="457200" indent="-457200">
              <a:spcBef>
                <a:spcPts val="900"/>
              </a:spcBef>
              <a:buFont typeface="+mj-lt"/>
              <a:buAutoNum type="arabicPeriod"/>
            </a:pPr>
            <a:r>
              <a:rPr lang="en-US" sz="2000" b="1"/>
              <a:t>Struck-By </a:t>
            </a:r>
            <a:r>
              <a:rPr lang="en-US" sz="2000"/>
              <a:t>– hose, tool or debris hitting the body</a:t>
            </a:r>
          </a:p>
          <a:p>
            <a:pPr>
              <a:spcBef>
                <a:spcPts val="1600"/>
              </a:spcBef>
            </a:pPr>
            <a:r>
              <a:rPr lang="en-US" sz="2000" b="1">
                <a:solidFill>
                  <a:srgbClr val="C05600"/>
                </a:solidFill>
              </a:rPr>
              <a:t>All three must be treated seriously – the Medical Alert Card covers all types.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2400">
                <a:solidFill>
                  <a:srgbClr val="F28523"/>
                </a:solidFill>
              </a:rPr>
              <a:t>TYPES OF WATERJET INJURY</a:t>
            </a:r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417285" y="219101"/>
            <a:ext cx="10515600" cy="820017"/>
          </a:xfrm>
        </p:spPr>
        <p:txBody>
          <a:bodyPr>
            <a:normAutofit/>
          </a:bodyPr>
          <a:lstStyle/>
          <a:p>
            <a:r>
              <a:rPr lang="en-US"/>
              <a:t>HPWJ – WATER JETTING</a:t>
            </a:r>
          </a:p>
        </p:txBody>
      </p:sp>
      <p:pic>
        <p:nvPicPr>
          <p:cNvPr id="6" name="Waterjet hazard warning" descr="Safety warning image showing a high pressure water jet cutting a metal surface beside a hazard warning tria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941" y="1400175"/>
            <a:ext cx="4400000" cy="4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939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7CCFB-8CBF-422D-97B2-3E4D2CDC6F78}" type="slidenum">
              <a:rPr lang="en-US" smtClean="0"/>
              <a:t>9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478831" y="1560000"/>
            <a:ext cx="5882211" cy="2450000"/>
          </a:xfrm>
        </p:spPr>
        <p:txBody>
          <a:bodyPr>
            <a:normAutofit/>
          </a:bodyPr>
          <a:lstStyle/>
          <a:p>
            <a:r>
              <a:rPr lang="en-US" sz="2000" b="1"/>
              <a:t>Real incidents have happened in the industry: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000"/>
              <a:t>Hose failure causing struck-by injury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000"/>
              <a:t>Jet cutting through PPE and causing internal damage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000"/>
              <a:t>Delayed medical treatment because the injury looked minor</a:t>
            </a:r>
          </a:p>
        </p:txBody>
      </p:sp>
      <p:sp>
        <p:nvSpPr>
          <p:cNvPr id="30" name="Lesson Callout"/>
          <p:cNvSpPr/>
          <p:nvPr/>
        </p:nvSpPr>
        <p:spPr>
          <a:xfrm>
            <a:off x="478831" y="4230000"/>
            <a:ext cx="5882211" cy="1620000"/>
          </a:xfrm>
          <a:prstGeom prst="roundRect">
            <a:avLst>
              <a:gd name="adj" fmla="val 6000"/>
            </a:avLst>
          </a:prstGeom>
          <a:solidFill>
            <a:srgbClr val="E2EFDA"/>
          </a:solidFill>
          <a:ln w="19050">
            <a:solidFill>
              <a:srgbClr val="548235"/>
            </a:solidFill>
          </a:ln>
        </p:spPr>
        <p:txBody>
          <a:bodyPr wrap="square" lIns="182880" tIns="109728" rIns="182880" bIns="109728" rtlCol="0">
            <a:normAutofit/>
          </a:bodyPr>
          <a:lstStyle/>
          <a:p>
            <a:r>
              <a:rPr lang="en-US" sz="1600" b="1">
                <a:solidFill>
                  <a:srgbClr val="3756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LESSON</a:t>
            </a:r>
          </a:p>
          <a:p>
            <a:r>
              <a:rPr lang="en-US" sz="160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Proper controls, pre-use inspection and immediate medical response save lives. We study these incidents so we never repeat them.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2400">
                <a:solidFill>
                  <a:srgbClr val="F28523"/>
                </a:solidFill>
              </a:rPr>
              <a:t>REAL INCIDENT EXAMPLES – NEVER AGAIN</a:t>
            </a:r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417285" y="219101"/>
            <a:ext cx="10515600" cy="820017"/>
          </a:xfrm>
        </p:spPr>
        <p:txBody>
          <a:bodyPr>
            <a:normAutofit/>
          </a:bodyPr>
          <a:lstStyle/>
          <a:p>
            <a:r>
              <a:rPr lang="en-US"/>
              <a:t>HPWJ – WATER JETTING</a:t>
            </a:r>
          </a:p>
        </p:txBody>
      </p:sp>
      <p:pic>
        <p:nvPicPr>
          <p:cNvPr id="6" name="Damaged high pressure hose" descr="A damaged high pressure hose with a safety whip-check restraint still attached in a barricaded industrial work ar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941" y="1400175"/>
            <a:ext cx="4400000" cy="4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939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7CCFB-8CBF-422D-97B2-3E4D2CDC6F78}" type="slidenum">
              <a:rPr lang="en-US" smtClean="0"/>
              <a:t>10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478831" y="1560000"/>
            <a:ext cx="5882211" cy="2560000"/>
          </a:xfrm>
        </p:spPr>
        <p:txBody>
          <a:bodyPr>
            <a:normAutofit/>
          </a:bodyPr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/>
              <a:t>Issued today – you must carry it on every high pressure water jetting job.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/>
              <a:t>Waterproof and easy to access.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/>
              <a:t>Tells medical staff exactly what treatment is needed.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/>
              <a:t>External appearance cannot predict internal damage.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b="1"/>
              <a:t>This is a mandatory safety requirement – not optional.</a:t>
            </a:r>
          </a:p>
        </p:txBody>
      </p:sp>
      <p:sp>
        <p:nvSpPr>
          <p:cNvPr id="30" name="Lifeline Callout"/>
          <p:cNvSpPr/>
          <p:nvPr/>
        </p:nvSpPr>
        <p:spPr>
          <a:xfrm>
            <a:off x="478831" y="4300000"/>
            <a:ext cx="5882211" cy="1560000"/>
          </a:xfrm>
          <a:prstGeom prst="roundRect">
            <a:avLst>
              <a:gd name="adj" fmla="val 6000"/>
            </a:avLst>
          </a:prstGeom>
          <a:solidFill>
            <a:srgbClr val="FDE7E7"/>
          </a:solidFill>
          <a:ln w="19050">
            <a:solidFill>
              <a:srgbClr val="C00000"/>
            </a:solidFill>
          </a:ln>
        </p:spPr>
        <p:txBody>
          <a:bodyPr wrap="square" lIns="182880" tIns="109728" rIns="182880" bIns="109728" rtlCol="0" anchor="ctr">
            <a:normAutofit/>
          </a:bodyPr>
          <a:lstStyle/>
          <a:p>
            <a:r>
              <a:rPr lang="en-US" sz="17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this moment you are never allowed on a HPWJ job without this card in your possession.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2400">
                <a:solidFill>
                  <a:srgbClr val="F28523"/>
                </a:solidFill>
              </a:rPr>
              <a:t>THE MEDICAL ALERT CARD – YOUR LIFELINE</a:t>
            </a:r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417285" y="219101"/>
            <a:ext cx="10515600" cy="820017"/>
          </a:xfrm>
        </p:spPr>
        <p:txBody>
          <a:bodyPr>
            <a:normAutofit/>
          </a:bodyPr>
          <a:lstStyle/>
          <a:p>
            <a:r>
              <a:rPr lang="en-US"/>
              <a:t>HPWJ – WATER JETTING</a:t>
            </a:r>
          </a:p>
        </p:txBody>
      </p:sp>
      <p:pic>
        <p:nvPicPr>
          <p:cNvPr id="6" name="Medical Alert Card scan front" descr="Scanned copy of the Waterjet Medical Alert Card, physician note in English and Arab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941" y="1560000"/>
            <a:ext cx="2449529" cy="3464327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pic>
        <p:nvPicPr>
          <p:cNvPr id="8" name="Medical Alert Card scan back" descr="Scanned copy of the Waterjet Medical Alert Card first-aid guidance in English and Arabi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0470" y="1560000"/>
            <a:ext cx="2449529" cy="3464327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9" name="Scan Caption"/>
          <p:cNvSpPr txBox="1"/>
          <p:nvPr/>
        </p:nvSpPr>
        <p:spPr>
          <a:xfrm>
            <a:off x="6800941" y="5060000"/>
            <a:ext cx="5099059" cy="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sz="1200" i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Waterjet Medical Alert Card – physician note (English &amp; Arabic)</a:t>
            </a:r>
          </a:p>
        </p:txBody>
      </p:sp>
    </p:spTree>
    <p:extLst>
      <p:ext uri="{BB962C8B-B14F-4D97-AF65-F5344CB8AC3E}">
        <p14:creationId xmlns:p14="http://schemas.microsoft.com/office/powerpoint/2010/main" val="4153939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7CCFB-8CBF-422D-97B2-3E4D2CDC6F78}" type="slidenum">
              <a:rPr lang="en-US" smtClean="0"/>
              <a:t>11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478831" y="1560000"/>
            <a:ext cx="5882211" cy="2760000"/>
          </a:xfrm>
        </p:spPr>
        <p:txBody>
          <a:bodyPr>
            <a:normAutofit/>
          </a:bodyPr>
          <a:lstStyle/>
          <a:p>
            <a:pPr>
              <a:spcBef>
                <a:spcPts val="300"/>
              </a:spcBef>
            </a:pPr>
            <a:r>
              <a:rPr lang="en-US" sz="1800" b="1"/>
              <a:t>Trainer will now issue one Medical Alert Card to each participant.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700"/>
              <a:t>Sign the training roster to confirm receipt and understanding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700"/>
              <a:t>Read the card aloud together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700"/>
              <a:t>Photograph each participant holding their card for records</a:t>
            </a:r>
          </a:p>
        </p:txBody>
      </p:sp>
      <p:sp>
        <p:nvSpPr>
          <p:cNvPr id="30" name="Mandatory Callout"/>
          <p:cNvSpPr/>
          <p:nvPr/>
        </p:nvSpPr>
        <p:spPr>
          <a:xfrm>
            <a:off x="478831" y="4460000"/>
            <a:ext cx="5882211" cy="1300000"/>
          </a:xfrm>
          <a:prstGeom prst="roundRect">
            <a:avLst>
              <a:gd name="adj" fmla="val 6000"/>
            </a:avLst>
          </a:prstGeom>
          <a:solidFill>
            <a:srgbClr val="FFF3CC"/>
          </a:solidFill>
          <a:ln w="19050">
            <a:solidFill>
              <a:srgbClr val="F28523"/>
            </a:solidFill>
          </a:ln>
        </p:spPr>
        <p:txBody>
          <a:bodyPr wrap="square" lIns="182880" tIns="109728" rIns="182880" bIns="109728" rtlCol="0" anchor="ctr">
            <a:normAutofit/>
          </a:bodyPr>
          <a:lstStyle/>
          <a:p>
            <a:r>
              <a:rPr lang="en-US" sz="1700" b="1">
                <a:solidFill>
                  <a:srgbClr val="C05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this moment the card must be with you on every HPWJ job. It is your responsibility.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2400">
                <a:solidFill>
                  <a:srgbClr val="F28523"/>
                </a:solidFill>
              </a:rPr>
              <a:t>ACTIVITY – ISSUE MEDICAL ALERT CARDS</a:t>
            </a:r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417285" y="219101"/>
            <a:ext cx="10515600" cy="820017"/>
          </a:xfrm>
        </p:spPr>
        <p:txBody>
          <a:bodyPr>
            <a:normAutofit/>
          </a:bodyPr>
          <a:lstStyle/>
          <a:p>
            <a:r>
              <a:rPr lang="en-US"/>
              <a:t>HPWJ – WATER JETTING</a:t>
            </a:r>
          </a:p>
        </p:txBody>
      </p:sp>
      <p:pic>
        <p:nvPicPr>
          <p:cNvPr id="6" name="Issuing Medical Alert Cards" descr="Safety trainer handing a red Medical Alert card to an operator in orange coveralls, with a group of operators holding their cards in a training roo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941" y="1400175"/>
            <a:ext cx="4400000" cy="4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939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7CCFB-8CBF-422D-97B2-3E4D2CDC6F78}" type="slidenum">
              <a:rPr lang="en-US" smtClean="0"/>
              <a:t>12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478831" y="1560000"/>
            <a:ext cx="5882211" cy="4320000"/>
          </a:xfrm>
        </p:spPr>
        <p:txBody>
          <a:bodyPr>
            <a:normAutofit/>
          </a:bodyPr>
          <a:lstStyle/>
          <a:p>
            <a:pPr>
              <a:spcBef>
                <a:spcPts val="300"/>
              </a:spcBef>
            </a:pPr>
            <a:r>
              <a:rPr lang="en-US" sz="1800" b="1"/>
              <a:t>We always apply the hierarchy of controls:</a:t>
            </a:r>
          </a:p>
          <a:p>
            <a:pPr marL="457200" indent="-457200">
              <a:spcBef>
                <a:spcPts val="700"/>
              </a:spcBef>
              <a:buFont typeface="+mj-lt"/>
              <a:buAutoNum type="arabicPeriod"/>
            </a:pPr>
            <a:r>
              <a:rPr lang="en-US" sz="1800" b="1"/>
              <a:t>Elimination / Substitution </a:t>
            </a:r>
            <a:r>
              <a:rPr lang="en-US" sz="1800"/>
              <a:t>– remove the hazard where possible</a:t>
            </a:r>
          </a:p>
          <a:p>
            <a:pPr marL="457200" indent="-457200">
              <a:spcBef>
                <a:spcPts val="700"/>
              </a:spcBef>
              <a:buFont typeface="+mj-lt"/>
              <a:buAutoNum type="arabicPeriod"/>
            </a:pPr>
            <a:r>
              <a:rPr lang="en-US" sz="1800" b="1"/>
              <a:t>Engineering Controls </a:t>
            </a:r>
            <a:r>
              <a:rPr lang="en-US" sz="1800"/>
              <a:t>– automation, mechanised systems, guards</a:t>
            </a:r>
          </a:p>
          <a:p>
            <a:pPr marL="457200" indent="-457200">
              <a:spcBef>
                <a:spcPts val="700"/>
              </a:spcBef>
              <a:buFont typeface="+mj-lt"/>
              <a:buAutoNum type="arabicPeriod"/>
            </a:pPr>
            <a:r>
              <a:rPr lang="en-US" sz="1800" b="1"/>
              <a:t>Administrative Controls </a:t>
            </a:r>
            <a:r>
              <a:rPr lang="en-US" sz="1800"/>
              <a:t>– permits, JSA, procedures, training</a:t>
            </a:r>
          </a:p>
          <a:p>
            <a:pPr marL="457200" indent="-457200">
              <a:spcBef>
                <a:spcPts val="700"/>
              </a:spcBef>
              <a:buFont typeface="+mj-lt"/>
              <a:buAutoNum type="arabicPeriod"/>
            </a:pPr>
            <a:r>
              <a:rPr lang="en-US" sz="1800" b="1"/>
              <a:t>PPE </a:t>
            </a:r>
            <a:r>
              <a:rPr lang="en-US" sz="1800"/>
              <a:t>– last line of defence, never the only control</a:t>
            </a:r>
          </a:p>
          <a:p>
            <a:pPr>
              <a:spcBef>
                <a:spcPts val="1100"/>
              </a:spcBef>
            </a:pPr>
            <a:r>
              <a:rPr lang="en-US" sz="1800" b="1">
                <a:solidFill>
                  <a:srgbClr val="1F3864"/>
                </a:solidFill>
              </a:rPr>
              <a:t>Safer automated or mechanised methods are always preferred where reasonably practicable.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2400">
                <a:solidFill>
                  <a:srgbClr val="F28523"/>
                </a:solidFill>
              </a:rPr>
              <a:t>HIERARCHY OF CONTROLS</a:t>
            </a:r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417285" y="219101"/>
            <a:ext cx="10515600" cy="820017"/>
          </a:xfrm>
        </p:spPr>
        <p:txBody>
          <a:bodyPr>
            <a:normAutofit/>
          </a:bodyPr>
          <a:lstStyle/>
          <a:p>
            <a:r>
              <a:rPr lang="en-US"/>
              <a:t>HPWJ – WATER JETTING</a:t>
            </a:r>
          </a:p>
        </p:txBody>
      </p:sp>
      <p:sp>
        <p:nvSpPr>
          <p:cNvPr id="41" name="Hierarchy L1"/>
          <p:cNvSpPr/>
          <p:nvPr/>
        </p:nvSpPr>
        <p:spPr>
          <a:xfrm>
            <a:off x="6800941" y="1600000"/>
            <a:ext cx="4400000" cy="850000"/>
          </a:xfrm>
          <a:prstGeom prst="roundRect">
            <a:avLst>
              <a:gd name="adj" fmla="val 8000"/>
            </a:avLst>
          </a:prstGeom>
          <a:solidFill>
            <a:srgbClr val="70AD47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· Elimination / Substitution</a:t>
            </a:r>
          </a:p>
        </p:txBody>
      </p:sp>
      <p:sp>
        <p:nvSpPr>
          <p:cNvPr id="42" name="Hierarchy L2"/>
          <p:cNvSpPr/>
          <p:nvPr/>
        </p:nvSpPr>
        <p:spPr>
          <a:xfrm>
            <a:off x="7160941" y="2560000"/>
            <a:ext cx="3680000" cy="850000"/>
          </a:xfrm>
          <a:prstGeom prst="roundRect">
            <a:avLst>
              <a:gd name="adj" fmla="val 8000"/>
            </a:avLst>
          </a:prstGeom>
          <a:solidFill>
            <a:srgbClr val="4472C4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· Engineering Controls</a:t>
            </a:r>
          </a:p>
        </p:txBody>
      </p:sp>
      <p:sp>
        <p:nvSpPr>
          <p:cNvPr id="43" name="Hierarchy L3"/>
          <p:cNvSpPr/>
          <p:nvPr/>
        </p:nvSpPr>
        <p:spPr>
          <a:xfrm>
            <a:off x="7520941" y="3520000"/>
            <a:ext cx="2960000" cy="8500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· Administrative Controls</a:t>
            </a:r>
          </a:p>
        </p:txBody>
      </p:sp>
      <p:sp>
        <p:nvSpPr>
          <p:cNvPr id="44" name="Hierarchy L4"/>
          <p:cNvSpPr/>
          <p:nvPr/>
        </p:nvSpPr>
        <p:spPr>
          <a:xfrm>
            <a:off x="7880941" y="4480000"/>
            <a:ext cx="2240000" cy="85000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· PPE</a:t>
            </a:r>
          </a:p>
        </p:txBody>
      </p:sp>
      <p:sp>
        <p:nvSpPr>
          <p:cNvPr id="45" name="Pyramid Caption"/>
          <p:cNvSpPr txBox="1"/>
          <p:nvPr/>
        </p:nvSpPr>
        <p:spPr>
          <a:xfrm>
            <a:off x="6800941" y="5470000"/>
            <a:ext cx="4400000" cy="38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sz="1200" i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 effective at the top – PPE is the last line of defence</a:t>
            </a:r>
          </a:p>
        </p:txBody>
      </p:sp>
    </p:spTree>
    <p:extLst>
      <p:ext uri="{BB962C8B-B14F-4D97-AF65-F5344CB8AC3E}">
        <p14:creationId xmlns:p14="http://schemas.microsoft.com/office/powerpoint/2010/main" val="4153939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7CCFB-8CBF-422D-97B2-3E4D2CDC6F78}" type="slidenum">
              <a:rPr lang="en-US" smtClean="0"/>
              <a:t>13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478831" y="1560000"/>
            <a:ext cx="5882211" cy="2760000"/>
          </a:xfrm>
        </p:spPr>
        <p:txBody>
          <a:bodyPr>
            <a:normAutofit/>
          </a:bodyPr>
          <a:lstStyle/>
          <a:p>
            <a:pPr>
              <a:spcBef>
                <a:spcPts val="300"/>
              </a:spcBef>
            </a:pPr>
            <a:r>
              <a:rPr lang="en-US" sz="1700" b="1"/>
              <a:t>On Anabeeb and client sites we require: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700"/>
              <a:t>Valid permit-to-work before any pressurised work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700"/>
              <a:t>Job Safety Analysis (JSA) completed and reviewed by the team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700"/>
              <a:t>Buddy system – no lone working allowed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700"/>
              <a:t>Proper barricading and exclusion zones (minimum safe distance)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700"/>
              <a:t>Heat stress controls and work-rest rotation</a:t>
            </a:r>
          </a:p>
        </p:txBody>
      </p:sp>
      <p:sp>
        <p:nvSpPr>
          <p:cNvPr id="30" name="Mandatory Callout"/>
          <p:cNvSpPr/>
          <p:nvPr/>
        </p:nvSpPr>
        <p:spPr>
          <a:xfrm>
            <a:off x="478831" y="4460000"/>
            <a:ext cx="5882211" cy="1150000"/>
          </a:xfrm>
          <a:prstGeom prst="roundRect">
            <a:avLst>
              <a:gd name="adj" fmla="val 6000"/>
            </a:avLst>
          </a:prstGeom>
          <a:solidFill>
            <a:srgbClr val="FFF3CC"/>
          </a:solidFill>
          <a:ln w="19050">
            <a:solidFill>
              <a:srgbClr val="F28523"/>
            </a:solidFill>
          </a:ln>
        </p:spPr>
        <p:txBody>
          <a:bodyPr wrap="square" lIns="182880" tIns="109728" rIns="182880" bIns="109728" rtlCol="0" anchor="ctr">
            <a:normAutofit/>
          </a:bodyPr>
          <a:lstStyle/>
          <a:p>
            <a:r>
              <a:rPr lang="en-US" sz="1700" b="1">
                <a:solidFill>
                  <a:srgbClr val="C05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are mandatory requirements – not optional.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2400">
                <a:solidFill>
                  <a:srgbClr val="F28523"/>
                </a:solidFill>
              </a:rPr>
              <a:t>KEY SITE SAFETY REQUIREMENTS</a:t>
            </a:r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417285" y="219101"/>
            <a:ext cx="10515600" cy="820017"/>
          </a:xfrm>
        </p:spPr>
        <p:txBody>
          <a:bodyPr>
            <a:normAutofit/>
          </a:bodyPr>
          <a:lstStyle/>
          <a:p>
            <a:r>
              <a:rPr lang="en-US"/>
              <a:t>HPWJ – WATER JETTING</a:t>
            </a:r>
          </a:p>
        </p:txBody>
      </p:sp>
      <p:pic>
        <p:nvPicPr>
          <p:cNvPr id="6" name="Permit review at barricaded work area" descr="Oil and gas operators in full orange PPE reviewing a permit-to-work clipboard at a barricaded high pressure water jetting work ar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941" y="1400175"/>
            <a:ext cx="4400000" cy="4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939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7CCFB-8CBF-422D-97B2-3E4D2CDC6F78}" type="slidenum">
              <a:rPr lang="en-US" smtClean="0"/>
              <a:t>14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478831" y="1560000"/>
            <a:ext cx="5882211" cy="2760000"/>
          </a:xfrm>
        </p:spPr>
        <p:txBody>
          <a:bodyPr>
            <a:normAutofit/>
          </a:bodyPr>
          <a:lstStyle/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700"/>
              <a:t>Temporary barricades must be erected before any pressurised work.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700"/>
              <a:t>Minimum safe distance follows industry best practice (typically 6 metres in all directions).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700"/>
              <a:t>Use red barricade tape with clear “DANGER – HIGH PRESSURE WATER JETTING IN PROGRESS” signage.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700"/>
              <a:t>Only authorised personnel inside the barricaded area.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700"/>
              <a:t>If full distance cannot be achieved, additional controls (shrouds, shielding) must be used.</a:t>
            </a:r>
          </a:p>
        </p:txBody>
      </p:sp>
      <p:sp>
        <p:nvSpPr>
          <p:cNvPr id="30" name="Barricading Warning Callout"/>
          <p:cNvSpPr/>
          <p:nvPr/>
        </p:nvSpPr>
        <p:spPr>
          <a:xfrm>
            <a:off x="478831" y="4460000"/>
            <a:ext cx="5882211" cy="1150000"/>
          </a:xfrm>
          <a:prstGeom prst="roundRect">
            <a:avLst>
              <a:gd name="adj" fmla="val 6000"/>
            </a:avLst>
          </a:prstGeom>
          <a:solidFill>
            <a:srgbClr val="FDE7E7"/>
          </a:solidFill>
          <a:ln w="19050">
            <a:solidFill>
              <a:srgbClr val="C00000"/>
            </a:solidFill>
          </a:ln>
        </p:spPr>
        <p:txBody>
          <a:bodyPr wrap="square" lIns="182880" tIns="109728" rIns="182880" bIns="109728" rtlCol="0" anchor="ctr">
            <a:normAutofit/>
          </a:bodyPr>
          <a:lstStyle/>
          <a:p>
            <a:r>
              <a:rPr lang="en-US" sz="17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Never start work without proper barricading.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2400">
                <a:solidFill>
                  <a:srgbClr val="F28523"/>
                </a:solidFill>
              </a:rPr>
              <a:t>BARRICADING AND EXCLUSION ZONES</a:t>
            </a:r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417285" y="219101"/>
            <a:ext cx="10515600" cy="820017"/>
          </a:xfrm>
        </p:spPr>
        <p:txBody>
          <a:bodyPr>
            <a:normAutofit/>
          </a:bodyPr>
          <a:lstStyle/>
          <a:p>
            <a:r>
              <a:rPr lang="en-US"/>
              <a:t>HPWJ – WATER JETTING</a:t>
            </a:r>
          </a:p>
        </p:txBody>
      </p:sp>
      <p:pic>
        <p:nvPicPr>
          <p:cNvPr id="6" name="Barricaded exclusion zone" descr="A properly barricaded high pressure water jetting exclusion zone with red and white barrier tape and a DANGER high pressure water jetting sign, operators working ins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941" y="1400175"/>
            <a:ext cx="4400000" cy="4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939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7CCFB-8CBF-422D-97B2-3E4D2CDC6F78}" type="slidenum">
              <a:rPr lang="en-US" smtClean="0"/>
              <a:t>15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478831" y="1560000"/>
            <a:ext cx="5882211" cy="2760000"/>
          </a:xfrm>
        </p:spPr>
        <p:txBody>
          <a:bodyPr>
            <a:normAutofit/>
          </a:bodyPr>
          <a:lstStyle/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700"/>
              <a:t>KSA weather can be extremely hot. Heat stress is a real hazard during HPWJ work.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700"/>
              <a:t>Mandatory work-rest regimen and rotation of duties.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700"/>
              <a:t>Watch each other for early signs of heat exhaustion.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700"/>
              <a:t>Use hydration stations and shaded rest areas.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700"/>
              <a:t>On practical days we rotate frequently to keep everyone safe.</a:t>
            </a:r>
          </a:p>
        </p:txBody>
      </p:sp>
      <p:sp>
        <p:nvSpPr>
          <p:cNvPr id="30" name="Heat Care Callout"/>
          <p:cNvSpPr/>
          <p:nvPr/>
        </p:nvSpPr>
        <p:spPr>
          <a:xfrm>
            <a:off x="478831" y="4460000"/>
            <a:ext cx="5882211" cy="1150000"/>
          </a:xfrm>
          <a:prstGeom prst="roundRect">
            <a:avLst>
              <a:gd name="adj" fmla="val 6000"/>
            </a:avLst>
          </a:prstGeom>
          <a:solidFill>
            <a:srgbClr val="E2EFDA"/>
          </a:solidFill>
          <a:ln w="19050">
            <a:solidFill>
              <a:srgbClr val="548235"/>
            </a:solidFill>
          </a:ln>
        </p:spPr>
        <p:txBody>
          <a:bodyPr wrap="square" lIns="182880" tIns="109728" rIns="182880" bIns="109728" rtlCol="0" anchor="ctr">
            <a:normAutofit/>
          </a:bodyPr>
          <a:lstStyle/>
          <a:p>
            <a:r>
              <a:rPr lang="en-US" sz="1700" b="1">
                <a:solidFill>
                  <a:srgbClr val="3756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Safety includes looking after each other in the heat.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2400">
                <a:solidFill>
                  <a:srgbClr val="F28523"/>
                </a:solidFill>
              </a:rPr>
              <a:t>HEAT STRESS &amp; WORK ROTATION</a:t>
            </a:r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417285" y="219101"/>
            <a:ext cx="10515600" cy="820017"/>
          </a:xfrm>
        </p:spPr>
        <p:txBody>
          <a:bodyPr>
            <a:normAutofit/>
          </a:bodyPr>
          <a:lstStyle/>
          <a:p>
            <a:r>
              <a:rPr lang="en-US"/>
              <a:t>HPWJ – WATER JETTING</a:t>
            </a:r>
          </a:p>
        </p:txBody>
      </p:sp>
      <p:pic>
        <p:nvPicPr>
          <p:cNvPr id="6" name="Shaded rest and hydration" descr="Oil and gas turnaround workers resting in a shaded area with a hydration station and water bottles during a hot day at a refiner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941" y="1400175"/>
            <a:ext cx="4400000" cy="4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9394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7CCFB-8CBF-422D-97B2-3E4D2CDC6F78}" type="slidenum">
              <a:rPr lang="en-US" smtClean="0"/>
              <a:t>16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478831" y="1560000"/>
            <a:ext cx="5882211" cy="2200000"/>
          </a:xfrm>
        </p:spPr>
        <p:txBody>
          <a:bodyPr>
            <a:normAutofit/>
          </a:bodyPr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/>
              <a:t>The pump moves (displaces) water – it does not create pressure by itself.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/>
              <a:t>Pressure is created only when the flow is restricted at the nozzle.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/>
              <a:t>Higher pressure with a smaller orifice gives greater cutting power but also greater reaction force on the operator.</a:t>
            </a:r>
          </a:p>
        </p:txBody>
      </p:sp>
      <p:sp>
        <p:nvSpPr>
          <p:cNvPr id="30" name="Key Rule Callout"/>
          <p:cNvSpPr/>
          <p:nvPr/>
        </p:nvSpPr>
        <p:spPr>
          <a:xfrm>
            <a:off x="478831" y="3900000"/>
            <a:ext cx="5882211" cy="1750000"/>
          </a:xfrm>
          <a:prstGeom prst="roundRect">
            <a:avLst>
              <a:gd name="adj" fmla="val 6000"/>
            </a:avLst>
          </a:prstGeom>
          <a:solidFill>
            <a:srgbClr val="FFF3CC"/>
          </a:solidFill>
          <a:ln w="19050">
            <a:solidFill>
              <a:srgbClr val="F28523"/>
            </a:solidFill>
          </a:ln>
        </p:spPr>
        <p:txBody>
          <a:bodyPr wrap="square" lIns="182880" tIns="109728" rIns="182880" bIns="109728" rtlCol="0">
            <a:normAutofit/>
          </a:bodyPr>
          <a:lstStyle/>
          <a:p>
            <a:r>
              <a:rPr lang="en-US" sz="1600" b="1">
                <a:solidFill>
                  <a:srgbClr val="C05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RULE</a:t>
            </a:r>
          </a:p>
          <a:p>
            <a:r>
              <a:rPr lang="en-US" sz="160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nozzle operator must always have control of the pressure relief. Know exactly where the water is going at all times.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2400">
                <a:solidFill>
                  <a:srgbClr val="F28523"/>
                </a:solidFill>
              </a:rPr>
              <a:t>SYSTEM FUNDAMENTALS – PRESSURE VS FLOW</a:t>
            </a:r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417285" y="219101"/>
            <a:ext cx="10515600" cy="820017"/>
          </a:xfrm>
        </p:spPr>
        <p:txBody>
          <a:bodyPr>
            <a:normAutofit/>
          </a:bodyPr>
          <a:lstStyle/>
          <a:p>
            <a:r>
              <a:rPr lang="en-US"/>
              <a:t>HPWJ – WATER JETTING</a:t>
            </a:r>
          </a:p>
        </p:txBody>
      </p:sp>
      <p:pic>
        <p:nvPicPr>
          <p:cNvPr id="6" name="Pump hose and long barrel gun" descr="A high pressure triplex water jetting pump connected by a hose to a long barrel water jetting gun laid out at an industrial oil and gas pla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941" y="1400175"/>
            <a:ext cx="4400000" cy="4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9394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7CCFB-8CBF-422D-97B2-3E4D2CDC6F78}" type="slidenum">
              <a:rPr lang="en-US" smtClean="0"/>
              <a:t>17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478831" y="1560000"/>
            <a:ext cx="5882211" cy="4350000"/>
          </a:xfrm>
        </p:spPr>
        <p:txBody>
          <a:bodyPr>
            <a:normAutofit/>
          </a:bodyPr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/>
              <a:t>Different pressure relief control styles exist on site (standard dump, pneumatic, electrical).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/>
              <a:t>The nozzle operator must always have positive control of the pressure relief method.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/>
              <a:t>Different styles may add extra steps but never change the safety sequence.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rgbClr val="C00000"/>
                </a:solidFill>
              </a:rPr>
              <a:t>Never start work if you do not fully understand and control the relief system on the equipment you are using.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2400">
                <a:solidFill>
                  <a:srgbClr val="F28523"/>
                </a:solidFill>
              </a:rPr>
              <a:t>PRESSURE RELIEF CONTROL &amp; OPERATOR RESPONSIBILITY</a:t>
            </a:r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417285" y="219101"/>
            <a:ext cx="10515600" cy="820017"/>
          </a:xfrm>
        </p:spPr>
        <p:txBody>
          <a:bodyPr>
            <a:normAutofit/>
          </a:bodyPr>
          <a:lstStyle/>
          <a:p>
            <a:r>
              <a:rPr lang="en-US"/>
              <a:t>HPWJ – WATER JETTING</a:t>
            </a:r>
          </a:p>
        </p:txBody>
      </p:sp>
      <p:pic>
        <p:nvPicPr>
          <p:cNvPr id="6" name="Dump valve pressure relief control" descr="Close-up of a gloved hand operating a high pressure water jetting dump valve pressure relief control at an industrial oil and gas pla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941" y="1400175"/>
            <a:ext cx="4400000" cy="4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939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7CCFB-8CBF-422D-97B2-3E4D2CDC6F78}" type="slidenum">
              <a:rPr lang="en-US" smtClean="0"/>
              <a:t>18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478831" y="1560000"/>
            <a:ext cx="5882211" cy="2760000"/>
          </a:xfrm>
        </p:spPr>
        <p:txBody>
          <a:bodyPr>
            <a:normAutofit/>
          </a:bodyPr>
          <a:lstStyle/>
          <a:p>
            <a:pPr>
              <a:spcBef>
                <a:spcPts val="300"/>
              </a:spcBef>
            </a:pPr>
            <a:r>
              <a:rPr lang="en-US" sz="1800" b="1"/>
              <a:t>You have the authority and the duty to stop work if conditions are unsafe.</a:t>
            </a:r>
          </a:p>
          <a:p>
            <a:pPr>
              <a:spcBef>
                <a:spcPts val="700"/>
              </a:spcBef>
            </a:pPr>
            <a:r>
              <a:rPr lang="en-US" sz="1800" b="1"/>
              <a:t>Stop work if: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700"/>
              <a:t>Equipment is not properly inspected or barricaded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700"/>
              <a:t>You are unsure about any control or procedure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700"/>
              <a:t>Heat stress or fatigue is affecting the team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700"/>
              <a:t>Any team member raises a concern</a:t>
            </a:r>
          </a:p>
        </p:txBody>
      </p:sp>
      <p:sp>
        <p:nvSpPr>
          <p:cNvPr id="30" name="SWA Callout"/>
          <p:cNvSpPr/>
          <p:nvPr/>
        </p:nvSpPr>
        <p:spPr>
          <a:xfrm>
            <a:off x="478831" y="4460000"/>
            <a:ext cx="5882211" cy="1300000"/>
          </a:xfrm>
          <a:prstGeom prst="roundRect">
            <a:avLst>
              <a:gd name="adj" fmla="val 6000"/>
            </a:avLst>
          </a:prstGeom>
          <a:solidFill>
            <a:srgbClr val="E2EFDA"/>
          </a:solidFill>
          <a:ln w="19050">
            <a:solidFill>
              <a:srgbClr val="548235"/>
            </a:solidFill>
          </a:ln>
        </p:spPr>
        <p:txBody>
          <a:bodyPr wrap="square" lIns="182880" tIns="109728" rIns="182880" bIns="109728" rtlCol="0" anchor="ctr">
            <a:normAutofit/>
          </a:bodyPr>
          <a:lstStyle/>
          <a:p>
            <a:r>
              <a:rPr lang="en-US" sz="1700" b="1">
                <a:solidFill>
                  <a:srgbClr val="3756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is no penalty for stopping work for safety reasons. Use your SWA – it protects you and your team.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2400">
                <a:solidFill>
                  <a:srgbClr val="F28523"/>
                </a:solidFill>
              </a:rPr>
              <a:t>STOP WORK AUTHORITY (SWA)</a:t>
            </a:r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417285" y="219101"/>
            <a:ext cx="10515600" cy="820017"/>
          </a:xfrm>
        </p:spPr>
        <p:txBody>
          <a:bodyPr>
            <a:normAutofit/>
          </a:bodyPr>
          <a:lstStyle/>
          <a:p>
            <a:r>
              <a:rPr lang="en-US"/>
              <a:t>HPWJ – WATER JETTING</a:t>
            </a:r>
          </a:p>
        </p:txBody>
      </p:sp>
      <p:pic>
        <p:nvPicPr>
          <p:cNvPr id="6" name="Stop work gesture" descr="Worker in full orange PPE raising a hand in a clear stop gesture at a high pressure water jetting site with barricading and equipment in the 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941" y="1400175"/>
            <a:ext cx="4400000" cy="4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9394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7CCFB-8CBF-422D-97B2-3E4D2CDC6F78}" type="slidenum">
              <a:rPr lang="en-US" smtClean="0"/>
              <a:t>19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478831" y="1560000"/>
            <a:ext cx="5882211" cy="2820000"/>
          </a:xfrm>
        </p:spPr>
        <p:txBody>
          <a:bodyPr>
            <a:normAutofit/>
          </a:bodyPr>
          <a:lstStyle/>
          <a:p>
            <a:pPr>
              <a:spcBef>
                <a:spcPts val="200"/>
              </a:spcBef>
            </a:pPr>
            <a:r>
              <a:rPr lang="en-US" sz="1700" b="1"/>
              <a:t>Key points from today: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Waterjet injuries can be severe even when they look minor – always use the Medical Alert Card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600"/>
              <a:t>Follow the hierarchy of controls – safer methods first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600"/>
              <a:t>Mandatory controls: PTW, JSA, buddy system, barricading, heat stress rotation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600"/>
              <a:t>The nozzle operator must control pressure relief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600"/>
              <a:t>You have Stop Work Authority – use it</a:t>
            </a:r>
          </a:p>
        </p:txBody>
      </p:sp>
      <p:sp>
        <p:nvSpPr>
          <p:cNvPr id="30" name="Tomorrow Callout"/>
          <p:cNvSpPr/>
          <p:nvPr/>
        </p:nvSpPr>
        <p:spPr>
          <a:xfrm>
            <a:off x="478831" y="4460000"/>
            <a:ext cx="5882211" cy="1300000"/>
          </a:xfrm>
          <a:prstGeom prst="roundRect">
            <a:avLst>
              <a:gd name="adj" fmla="val 6000"/>
            </a:avLst>
          </a:prstGeom>
          <a:solidFill>
            <a:srgbClr val="D6EAF8"/>
          </a:solidFill>
          <a:ln w="19050">
            <a:solidFill>
              <a:srgbClr val="2E75B6"/>
            </a:solidFill>
          </a:ln>
        </p:spPr>
        <p:txBody>
          <a:bodyPr wrap="square" lIns="182880" tIns="109728" rIns="182880" bIns="109728" rtlCol="0" anchor="ctr">
            <a:normAutofit/>
          </a:bodyPr>
          <a:lstStyle/>
          <a:p>
            <a:r>
              <a:rPr lang="en-US" sz="1700" b="1">
                <a:solidFill>
                  <a:srgbClr val="1F4E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Tomorrow: Equipment, Pre-Use Inspection, PPE and Job Planning + practical work with the long-barrel gun.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2400">
                <a:solidFill>
                  <a:srgbClr val="F28523"/>
                </a:solidFill>
              </a:rPr>
              <a:t>DAY 1 SUMMARY &amp; KEY TAKEAWAYS</a:t>
            </a:r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417285" y="219101"/>
            <a:ext cx="10515600" cy="820017"/>
          </a:xfrm>
        </p:spPr>
        <p:txBody>
          <a:bodyPr>
            <a:normAutofit/>
          </a:bodyPr>
          <a:lstStyle/>
          <a:p>
            <a:r>
              <a:rPr lang="en-US"/>
              <a:t>HPWJ – WATER JETTING</a:t>
            </a:r>
          </a:p>
        </p:txBody>
      </p:sp>
      <p:pic>
        <p:nvPicPr>
          <p:cNvPr id="6" name="Day 1 training group" descr="Group of oil and gas operators in orange coveralls and hard hats standing together at the end of a training day at an industrial pla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941" y="1400175"/>
            <a:ext cx="4400000" cy="4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9394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ero Background" descr="Diesel-driven triplex high pressure pump unit with hoses connected at a Middle East oil and gas plant during a turnaround, operators in PPE in the background"/>
          <p:cNvPicPr>
            <a:picLocks noChangeAspect="1"/>
          </p:cNvPicPr>
          <p:nvPr/>
        </p:nvPicPr>
        <p:blipFill>
          <a:blip r:embed="rId2"/>
          <a:srcRect t="4688" b="1093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Overla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78000"/>
                </a:srgbClr>
              </a:gs>
              <a:gs pos="55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 rtlCol="0"/>
          <a:lstStyle/>
          <a:p>
            <a:endParaRPr lang="en-US"/>
          </a:p>
        </p:txBody>
      </p:sp>
      <p:pic>
        <p:nvPicPr>
          <p:cNvPr id="9" name="Footer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/>
          <a:srcRect l="28150" r="28150"/>
          <a:stretch/>
        </p:blipFill>
        <p:spPr>
          <a:xfrm>
            <a:off x="483691" y="6191194"/>
            <a:ext cx="8292916" cy="2651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65309" y="6053715"/>
            <a:ext cx="3013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 b="1">
                <a:solidFill>
                  <a:srgbClr val="F28523"/>
                </a:solidFill>
                <a:latin typeface="Arial"/>
                <a:cs typeface="Arial"/>
                <a:sym typeface="Arial"/>
              </a:rPr>
              <a:t>END-TO-END SOLUTIONS</a:t>
            </a:r>
          </a:p>
        </p:txBody>
      </p:sp>
      <p:pic>
        <p:nvPicPr>
          <p:cNvPr id="4" name="Anabeeb Logo" descr="Anabeeb logo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10716846" y="286789"/>
            <a:ext cx="1091040" cy="1439386"/>
          </a:xfrm>
          <a:prstGeom prst="rect">
            <a:avLst/>
          </a:prstGeom>
        </p:spPr>
      </p:pic>
      <p:sp>
        <p:nvSpPr>
          <p:cNvPr id="10" name="Title"/>
          <p:cNvSpPr txBox="1"/>
          <p:nvPr/>
        </p:nvSpPr>
        <p:spPr>
          <a:xfrm>
            <a:off x="457200" y="2160000"/>
            <a:ext cx="7315200" cy="184626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5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Pressure Water Jetting</a:t>
            </a:r>
          </a:p>
        </p:txBody>
      </p:sp>
      <p:sp>
        <p:nvSpPr>
          <p:cNvPr id="12" name="Subtitle"/>
          <p:cNvSpPr txBox="1"/>
          <p:nvPr/>
        </p:nvSpPr>
        <p:spPr>
          <a:xfrm>
            <a:off x="457200" y="4086000"/>
            <a:ext cx="7315200" cy="1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2800" b="1">
                <a:solidFill>
                  <a:srgbClr val="F285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Basic Operator Training</a:t>
            </a:r>
          </a:p>
          <a:p>
            <a:r>
              <a:rPr lang="en-US" sz="1800" i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(Awareness &amp; Field Verification)</a:t>
            </a:r>
          </a:p>
          <a:p>
            <a:r>
              <a:rPr lang="en-US" sz="16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 2 – Equipment, Pre-Use Inspection, PPE &amp; Long Barrel Gun Practical</a:t>
            </a:r>
          </a:p>
        </p:txBody>
      </p:sp>
      <p:sp>
        <p:nvSpPr>
          <p:cNvPr id="21" name="Branding Line"/>
          <p:cNvSpPr txBox="1"/>
          <p:nvPr/>
        </p:nvSpPr>
        <p:spPr>
          <a:xfrm>
            <a:off x="457200" y="5580000"/>
            <a:ext cx="8000000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Anabeeb HSE &amp; Training  |  NEBOSH Verified Programme</a:t>
            </a:r>
          </a:p>
        </p:txBody>
      </p:sp>
    </p:spTree>
    <p:extLst>
      <p:ext uri="{BB962C8B-B14F-4D97-AF65-F5344CB8AC3E}">
        <p14:creationId xmlns:p14="http://schemas.microsoft.com/office/powerpoint/2010/main" val="20192602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09A601-37F8-3C32-DE96-CBAF8B07A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7CCFB-8CBF-422D-97B2-3E4D2CDC6F78}" type="slidenum">
              <a:rPr lang="en-US" smtClean="0"/>
              <a:t>21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0384F-AFE6-E9BC-4992-24C7573424A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8831" y="1614819"/>
            <a:ext cx="5882211" cy="4425107"/>
          </a:xfrm>
        </p:spPr>
        <p:txBody>
          <a:bodyPr>
            <a:normAutofit/>
          </a:bodyPr>
          <a:lstStyle/>
          <a:p>
            <a:r>
              <a:rPr lang="en-US" sz="1800" b="1"/>
              <a:t>By the end of today you will be able to:</a:t>
            </a:r>
          </a:p>
          <a:p>
            <a:pPr marL="285750" indent="-285750">
              <a:buFont typeface="+mj-lt"/>
              <a:buAutoNum type="arabicPeriod"/>
            </a:pPr>
            <a:r>
              <a:rPr lang="en-US" sz="1800"/>
              <a:t>Identify all major components of a diesel-driven triplex HP pump and the long-barrel gun system</a:t>
            </a:r>
          </a:p>
          <a:p>
            <a:pPr marL="285750" indent="-285750">
              <a:buFont typeface="+mj-lt"/>
              <a:buAutoNum type="arabicPeriod"/>
            </a:pPr>
            <a:r>
              <a:rPr lang="en-US" sz="1800"/>
              <a:t>Perform a complete pre-use inspection of pump, hoses, fittings, whip-checks, gun and PPE</a:t>
            </a:r>
          </a:p>
          <a:p>
            <a:pPr marL="285750" indent="-285750">
              <a:buFont typeface="+mj-lt"/>
              <a:buAutoNum type="arabicPeriod"/>
            </a:pPr>
            <a:r>
              <a:rPr lang="en-US" sz="1800"/>
              <a:t>Correctly line-up, air-bleed, start-up and shut-down the system following the approved sequence</a:t>
            </a:r>
          </a:p>
          <a:p>
            <a:pPr marL="285750" indent="-285750">
              <a:buFont typeface="+mj-lt"/>
              <a:buAutoNum type="arabicPeriod"/>
            </a:pPr>
            <a:r>
              <a:rPr lang="en-US" sz="1800"/>
              <a:t>Demonstrate safe long-barrel gun stance, trigger control, reaction-force management and hand-signal communication</a:t>
            </a:r>
          </a:p>
          <a:p>
            <a:pPr marL="285750" indent="-285750">
              <a:buFont typeface="+mj-lt"/>
              <a:buAutoNum type="arabicPeriod"/>
            </a:pPr>
            <a:r>
              <a:rPr lang="en-US" sz="1800"/>
              <a:t>Complete the Day 2 practical competency checklist to the required standard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73631-461C-E1FB-1E09-8C09EE62AE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2400">
                <a:solidFill>
                  <a:srgbClr val="F28523"/>
                </a:solidFill>
              </a:rPr>
              <a:t>DAY 2 LEARNING OUTCOMES</a:t>
            </a:r>
            <a:endParaRPr lang="en-US">
              <a:solidFill>
                <a:srgbClr val="F28523"/>
              </a:solidFill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ACD69ADC-EF3D-42D0-8763-1AC5882CA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285" y="219101"/>
            <a:ext cx="10515600" cy="820017"/>
          </a:xfrm>
        </p:spPr>
        <p:txBody>
          <a:bodyPr>
            <a:normAutofit/>
          </a:bodyPr>
          <a:lstStyle/>
          <a:p>
            <a:r>
              <a:rPr lang="en-US"/>
              <a:t>HPWJ – WATER JETTING</a:t>
            </a:r>
          </a:p>
        </p:txBody>
      </p:sp>
      <p:pic>
        <p:nvPicPr>
          <p:cNvPr id="6" name="Operators inspecting equipment" descr="Two operators in orange PPE inspecting high pressure water jetting pump equipment and PPE together on an industrial site">
            <a:extLst>
              <a:ext uri="{FF2B5EF4-FFF2-40B4-BE49-F238E27FC236}">
                <a16:creationId xmlns:a16="http://schemas.microsoft.com/office/drawing/2014/main" id="{7308E3B3-3A58-4D2A-A889-02FF3F7B4E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941" y="1400175"/>
            <a:ext cx="4400000" cy="4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9393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7CCFB-8CBF-422D-97B2-3E4D2CDC6F78}" type="slidenum">
              <a:rPr lang="en-US" smtClean="0"/>
              <a:t>22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478831" y="1560000"/>
            <a:ext cx="5882211" cy="4350000"/>
          </a:xfrm>
        </p:spPr>
        <p:txBody>
          <a:bodyPr>
            <a:normAutofit/>
          </a:bodyPr>
          <a:lstStyle/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000"/>
              <a:t>A High-Pressure (HP) Pump is a positive displacement pump designed to convert mechanical energy from a diesel engine into high-pressure water.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/>
              <a:t>The pump delivers water at pressures ranging from 10,000 psi (690 bar) to 20,000 psi (1,379 bar) or higher.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/>
              <a:t>It is used for industrial cleaning applications during shutdowns and maintenance.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2400">
                <a:solidFill>
                  <a:srgbClr val="F28523"/>
                </a:solidFill>
              </a:rPr>
              <a:t>INTRODUCTION TO THE HIGH-PRESSURE PUMP</a:t>
            </a:r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417285" y="219101"/>
            <a:ext cx="10515600" cy="820017"/>
          </a:xfrm>
        </p:spPr>
        <p:txBody>
          <a:bodyPr>
            <a:normAutofit/>
          </a:bodyPr>
          <a:lstStyle/>
          <a:p>
            <a:r>
              <a:rPr lang="en-US"/>
              <a:t>HPWJ – WATER JETTING</a:t>
            </a:r>
          </a:p>
        </p:txBody>
      </p:sp>
      <p:pic>
        <p:nvPicPr>
          <p:cNvPr id="6" name="High pressure pump skid" descr="Diesel-driven high pressure triplex pump skid unit used for industrial water jetting on an industrial si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941" y="1400175"/>
            <a:ext cx="4400000" cy="4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9393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7CCFB-8CBF-422D-97B2-3E4D2CDC6F78}" type="slidenum">
              <a:rPr lang="en-US" smtClean="0"/>
              <a:t>23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478831" y="1560000"/>
            <a:ext cx="5882211" cy="4350000"/>
          </a:xfrm>
        </p:spPr>
        <p:txBody>
          <a:bodyPr>
            <a:normAutofit/>
          </a:bodyPr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500" b="1"/>
              <a:t>Power Unit (Diesel Engine) </a:t>
            </a:r>
            <a:r>
              <a:rPr lang="en-US" sz="1500"/>
              <a:t>– Drives the pump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500" b="1"/>
              <a:t>Triplex Plunger Pump </a:t>
            </a:r>
            <a:r>
              <a:rPr lang="en-US" sz="1500"/>
              <a:t>– Produces high-pressure water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500" b="1"/>
              <a:t>Plungers </a:t>
            </a:r>
            <a:r>
              <a:rPr lang="en-US" sz="1500"/>
              <a:t>– Compress water to high pressure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500" b="1"/>
              <a:t>Suction &amp; Discharge Valves </a:t>
            </a:r>
            <a:r>
              <a:rPr lang="en-US" sz="1500"/>
              <a:t>– Control water flow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500" b="1"/>
              <a:t>Pressure Regulator / Unloader Valve </a:t>
            </a:r>
            <a:r>
              <a:rPr lang="en-US" sz="1500"/>
              <a:t>– Controls operating pressure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500" b="1"/>
              <a:t>Pressure Relief Valve </a:t>
            </a:r>
            <a:r>
              <a:rPr lang="en-US" sz="1500"/>
              <a:t>– Prevents over-pressure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500" b="1"/>
              <a:t>Pressure Gauge </a:t>
            </a:r>
            <a:r>
              <a:rPr lang="en-US" sz="1500"/>
              <a:t>– Displays operating pressure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500" b="1"/>
              <a:t>Emergency Stop Button </a:t>
            </a:r>
            <a:r>
              <a:rPr lang="en-US" sz="1500"/>
              <a:t>– Immediately shuts down the system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2400">
                <a:solidFill>
                  <a:srgbClr val="F28523"/>
                </a:solidFill>
              </a:rPr>
              <a:t>MAIN PARTS OF AN HP PUMP</a:t>
            </a:r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417285" y="219101"/>
            <a:ext cx="10515600" cy="820017"/>
          </a:xfrm>
        </p:spPr>
        <p:txBody>
          <a:bodyPr>
            <a:normAutofit/>
          </a:bodyPr>
          <a:lstStyle/>
          <a:p>
            <a:r>
              <a:rPr lang="en-US"/>
              <a:t>HPWJ – WATER JETTING</a:t>
            </a:r>
          </a:p>
        </p:txBody>
      </p:sp>
      <p:pic>
        <p:nvPicPr>
          <p:cNvPr id="6" name="HP pump components" descr="Close-up of a diesel-driven triplex high pressure pump showing plunger pump, valves, pressure gauge and control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941" y="1400175"/>
            <a:ext cx="4400000" cy="4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9393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7CCFB-8CBF-422D-97B2-3E4D2CDC6F78}" type="slidenum">
              <a:rPr lang="en-US" smtClean="0"/>
              <a:t>24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478831" y="1500000"/>
            <a:ext cx="5882211" cy="2900000"/>
          </a:xfrm>
        </p:spPr>
        <p:txBody>
          <a:bodyPr>
            <a:normAutofit/>
          </a:bodyPr>
          <a:lstStyle/>
          <a:p>
            <a:pPr>
              <a:spcBef>
                <a:spcPts val="200"/>
              </a:spcBef>
            </a:pPr>
            <a:r>
              <a:rPr lang="en-US" sz="1400" b="1"/>
              <a:t>Before operating the HP pump, perform the following inspections: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300"/>
              <a:t>Barricades installed and signage in place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300"/>
              <a:t>Engine oil level correct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300"/>
              <a:t>Pump oil level correct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300"/>
              <a:t>Fuel level adequate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300"/>
              <a:t>Cooling system condition good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300"/>
              <a:t>Battery condition good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300"/>
              <a:t>Belts and couplings in good condition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300"/>
              <a:t>No oil or water leaks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300"/>
              <a:t>Pressure gauge calibrated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300"/>
              <a:t>Emergency stop button functional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300"/>
              <a:t>Safety relief valve installed and operational</a:t>
            </a:r>
          </a:p>
        </p:txBody>
      </p:sp>
      <p:sp>
        <p:nvSpPr>
          <p:cNvPr id="30" name="Mandatory Callout"/>
          <p:cNvSpPr/>
          <p:nvPr/>
        </p:nvSpPr>
        <p:spPr>
          <a:xfrm>
            <a:off x="478831" y="4460000"/>
            <a:ext cx="5882211" cy="1150000"/>
          </a:xfrm>
          <a:prstGeom prst="roundRect">
            <a:avLst>
              <a:gd name="adj" fmla="val 6000"/>
            </a:avLst>
          </a:prstGeom>
          <a:solidFill>
            <a:srgbClr val="FFF3CC"/>
          </a:solidFill>
          <a:ln w="19050">
            <a:solidFill>
              <a:srgbClr val="F28523"/>
            </a:solidFill>
          </a:ln>
        </p:spPr>
        <p:txBody>
          <a:bodyPr wrap="square" lIns="182880" tIns="109728" rIns="182880" bIns="109728" rtlCol="0" anchor="ctr">
            <a:normAutofit/>
          </a:bodyPr>
          <a:lstStyle/>
          <a:p>
            <a:r>
              <a:rPr lang="en-US" sz="1700" b="1">
                <a:solidFill>
                  <a:srgbClr val="C05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Never start the pump until all pre-start checks are complete and satisfactory.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2400">
                <a:solidFill>
                  <a:srgbClr val="F28523"/>
                </a:solidFill>
              </a:rPr>
              <a:t>PRE-START INSPECTION OF THE HP PUMP</a:t>
            </a:r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417285" y="219101"/>
            <a:ext cx="10515600" cy="820017"/>
          </a:xfrm>
        </p:spPr>
        <p:txBody>
          <a:bodyPr>
            <a:normAutofit/>
          </a:bodyPr>
          <a:lstStyle/>
          <a:p>
            <a:r>
              <a:rPr lang="en-US"/>
              <a:t>HPWJ – WATER JETTING</a:t>
            </a:r>
          </a:p>
        </p:txBody>
      </p:sp>
      <p:pic>
        <p:nvPicPr>
          <p:cNvPr id="6" name="Operator inspecting HP pump before start" descr="Operator in orange PPE carrying out a pre-start inspection of a diesel-driven high pressure pump, checking oil levels and gaug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941" y="1400175"/>
            <a:ext cx="4400000" cy="4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9394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7CCFB-8CBF-422D-97B2-3E4D2CDC6F78}" type="slidenum">
              <a:rPr lang="en-US" smtClean="0"/>
              <a:t>25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478831" y="1500000"/>
            <a:ext cx="5882211" cy="2900000"/>
          </a:xfrm>
        </p:spPr>
        <p:txBody>
          <a:bodyPr>
            <a:normAutofit/>
          </a:bodyPr>
          <a:lstStyle/>
          <a:p>
            <a:pPr>
              <a:spcBef>
                <a:spcPts val="200"/>
              </a:spcBef>
            </a:pPr>
            <a:r>
              <a:rPr lang="en-US" sz="1500" b="1"/>
              <a:t>Before use, inspect all high-pressure hoses: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400"/>
              <a:t>Correct pressure rating for the job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400"/>
              <a:t>No cuts, abrasions or damage to the outer cover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400"/>
              <a:t>No bulges or soft spots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400"/>
              <a:t>No damaged or leaking fittings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400"/>
              <a:t>Safety whip checks installed and in good condition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400"/>
              <a:t>Hose restraints installed where required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400"/>
              <a:t>Hose routed safely with no kinks or sharp bends</a:t>
            </a:r>
          </a:p>
        </p:txBody>
      </p:sp>
      <p:sp>
        <p:nvSpPr>
          <p:cNvPr id="30" name="Callout"/>
          <p:cNvSpPr/>
          <p:nvPr/>
        </p:nvSpPr>
        <p:spPr>
          <a:xfrm>
            <a:off x="478831" y="4460000"/>
            <a:ext cx="5882211" cy="1150000"/>
          </a:xfrm>
          <a:prstGeom prst="roundRect">
            <a:avLst>
              <a:gd name="adj" fmla="val 6000"/>
            </a:avLst>
          </a:prstGeom>
          <a:solidFill>
            <a:srgbClr val="FDE7E7"/>
          </a:solidFill>
          <a:ln w="19050">
            <a:solidFill>
              <a:srgbClr val="C00000"/>
            </a:solidFill>
          </a:ln>
        </p:spPr>
        <p:txBody>
          <a:bodyPr wrap="square" lIns="182880" tIns="109728" rIns="182880" bIns="109728" rtlCol="0" anchor="ctr">
            <a:normAutofit/>
          </a:bodyPr>
          <a:lstStyle/>
          <a:p>
            <a:r>
              <a:rPr lang="en-US" sz="17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Never use a damaged or suspect hose. Replace immediately.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2400">
                <a:solidFill>
                  <a:srgbClr val="F28523"/>
                </a:solidFill>
              </a:rPr>
              <a:t>HP HOSE INSPECTION</a:t>
            </a:r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417285" y="219101"/>
            <a:ext cx="10515600" cy="820017"/>
          </a:xfrm>
        </p:spPr>
        <p:txBody>
          <a:bodyPr>
            <a:normAutofit/>
          </a:bodyPr>
          <a:lstStyle/>
          <a:p>
            <a:r>
              <a:rPr lang="en-US"/>
              <a:t>HPWJ – WATER JETTING</a:t>
            </a:r>
          </a:p>
        </p:txBody>
      </p:sp>
      <p:pic>
        <p:nvPicPr>
          <p:cNvPr id="6" name="Inspecting a high pressure hose" descr="Close-up of an operator in orange PPE inspecting a high pressure water jetting hose for cuts, whip checks and fitting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941" y="1400175"/>
            <a:ext cx="4400000" cy="4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9394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7CCFB-8CBF-422D-97B2-3E4D2CDC6F78}" type="slidenum">
              <a:rPr lang="en-US" smtClean="0"/>
              <a:t>26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478831" y="1560000"/>
            <a:ext cx="5882211" cy="4350000"/>
          </a:xfrm>
        </p:spPr>
        <p:txBody>
          <a:bodyPr>
            <a:normAutofit/>
          </a:bodyPr>
          <a:lstStyle/>
          <a:p>
            <a:pPr>
              <a:spcBef>
                <a:spcPts val="200"/>
              </a:spcBef>
            </a:pPr>
            <a:r>
              <a:rPr lang="en-US" sz="1700" b="1"/>
              <a:t>Before use, inspect the gun and accessories:</a:t>
            </a:r>
          </a:p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1700"/>
              <a:t>Trigger functioning smoothly</a:t>
            </a:r>
          </a:p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1700"/>
              <a:t>Trigger guard in place and undamaged</a:t>
            </a:r>
          </a:p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1700"/>
              <a:t>Safety latch / lock working correctly</a:t>
            </a:r>
          </a:p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1700"/>
              <a:t>Correct nozzle fitted and secure</a:t>
            </a:r>
          </a:p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1700"/>
              <a:t>Lance straight and undamaged</a:t>
            </a:r>
          </a:p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sz="1700"/>
              <a:t>All connections tight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2400">
                <a:solidFill>
                  <a:srgbClr val="F28523"/>
                </a:solidFill>
              </a:rPr>
              <a:t>GUN / TOOL INSPECTION</a:t>
            </a:r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417285" y="219101"/>
            <a:ext cx="10515600" cy="820017"/>
          </a:xfrm>
        </p:spPr>
        <p:txBody>
          <a:bodyPr>
            <a:normAutofit/>
          </a:bodyPr>
          <a:lstStyle/>
          <a:p>
            <a:r>
              <a:rPr lang="en-US"/>
              <a:t>HPWJ – WATER JETTING</a:t>
            </a:r>
          </a:p>
        </p:txBody>
      </p:sp>
      <p:pic>
        <p:nvPicPr>
          <p:cNvPr id="6" name="Inspecting a water jetting gun" descr="Close-up of a long-barrel high pressure water jetting gun being inspected, showing trigger, safety latch and nozz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941" y="1400175"/>
            <a:ext cx="4400000" cy="4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9394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7CCFB-8CBF-422D-97B2-3E4D2CDC6F78}" type="slidenum">
              <a:rPr lang="en-US" smtClean="0"/>
              <a:t>27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478831" y="1500000"/>
            <a:ext cx="5882211" cy="2900000"/>
          </a:xfrm>
        </p:spPr>
        <p:txBody>
          <a:bodyPr>
            <a:normAutofit/>
          </a:bodyPr>
          <a:lstStyle/>
          <a:p>
            <a:pPr>
              <a:spcBef>
                <a:spcPts val="200"/>
              </a:spcBef>
            </a:pPr>
            <a:r>
              <a:rPr lang="en-US" sz="1500" b="1"/>
              <a:t>The following PPE is mandatory for high pressure water jetting work: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400"/>
              <a:t>Safety helmet with face shield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400"/>
              <a:t>Safety goggles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400"/>
              <a:t>Hearing protection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400"/>
              <a:t>TST water jetting suit (correct rating)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400"/>
              <a:t>Cut-resistant gloves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400"/>
              <a:t>Steel-toe safety boots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400"/>
              <a:t>Waterproof clothing where required</a:t>
            </a:r>
          </a:p>
        </p:txBody>
      </p:sp>
      <p:sp>
        <p:nvSpPr>
          <p:cNvPr id="30" name="Callout"/>
          <p:cNvSpPr/>
          <p:nvPr/>
        </p:nvSpPr>
        <p:spPr>
          <a:xfrm>
            <a:off x="478831" y="4460000"/>
            <a:ext cx="5882211" cy="1150000"/>
          </a:xfrm>
          <a:prstGeom prst="roundRect">
            <a:avLst>
              <a:gd name="adj" fmla="val 6000"/>
            </a:avLst>
          </a:prstGeom>
          <a:solidFill>
            <a:srgbClr val="FFF3CC"/>
          </a:solidFill>
          <a:ln w="19050">
            <a:solidFill>
              <a:srgbClr val="F28523"/>
            </a:solidFill>
          </a:ln>
        </p:spPr>
        <p:txBody>
          <a:bodyPr wrap="square" lIns="182880" tIns="109728" rIns="182880" bIns="109728" rtlCol="0" anchor="ctr">
            <a:normAutofit/>
          </a:bodyPr>
          <a:lstStyle/>
          <a:p>
            <a:r>
              <a:rPr lang="en-US" sz="1700" b="1">
                <a:solidFill>
                  <a:srgbClr val="C05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TST suits are the primary protection against high-pressure water jet injuries.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2400">
                <a:solidFill>
                  <a:srgbClr val="F28523"/>
                </a:solidFill>
              </a:rPr>
              <a:t>REQUIRED PPE FOR HPWJ</a:t>
            </a:r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417285" y="219101"/>
            <a:ext cx="10515600" cy="820017"/>
          </a:xfrm>
        </p:spPr>
        <p:txBody>
          <a:bodyPr>
            <a:normAutofit/>
          </a:bodyPr>
          <a:lstStyle/>
          <a:p>
            <a:r>
              <a:rPr lang="en-US"/>
              <a:t>HPWJ – WATER JETTING</a:t>
            </a:r>
          </a:p>
        </p:txBody>
      </p:sp>
      <p:pic>
        <p:nvPicPr>
          <p:cNvPr id="6" name="Full set of HPWJ PPE" descr="Full set of high pressure water jetting personal protective equipment laid out, including a TST water jetting suit, helmet, gloves and boo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941" y="1400175"/>
            <a:ext cx="4400000" cy="4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9394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7CCFB-8CBF-422D-97B2-3E4D2CDC6F78}" type="slidenum">
              <a:rPr lang="en-US" smtClean="0"/>
              <a:t>28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478831" y="1500000"/>
            <a:ext cx="5882211" cy="2900000"/>
          </a:xfrm>
        </p:spPr>
        <p:txBody>
          <a:bodyPr>
            <a:normAutofit/>
          </a:bodyPr>
          <a:lstStyle/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600"/>
              <a:t>TST suits are specially designed multi-layer protective suits for high-pressure water jetting.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600"/>
              <a:t>They are engineered to protect against water jet penetration up to the rated pressure.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600"/>
              <a:t>The suit consists of an outer protective layer and inner protective layers that work together to deflect and absorb high-pressure water.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600"/>
              <a:t>TST suits are the most important piece of PPE when working with high-pressure water jetting equipment.</a:t>
            </a:r>
          </a:p>
        </p:txBody>
      </p:sp>
      <p:sp>
        <p:nvSpPr>
          <p:cNvPr id="30" name="Callout"/>
          <p:cNvSpPr/>
          <p:nvPr/>
        </p:nvSpPr>
        <p:spPr>
          <a:xfrm>
            <a:off x="478831" y="4460000"/>
            <a:ext cx="5882211" cy="1150000"/>
          </a:xfrm>
          <a:prstGeom prst="roundRect">
            <a:avLst>
              <a:gd name="adj" fmla="val 6000"/>
            </a:avLst>
          </a:prstGeom>
          <a:solidFill>
            <a:srgbClr val="FFF3CC"/>
          </a:solidFill>
          <a:ln w="19050">
            <a:solidFill>
              <a:srgbClr val="F28523"/>
            </a:solidFill>
          </a:ln>
        </p:spPr>
        <p:txBody>
          <a:bodyPr wrap="square" lIns="182880" tIns="109728" rIns="182880" bIns="109728" rtlCol="0" anchor="ctr">
            <a:normAutofit/>
          </a:bodyPr>
          <a:lstStyle/>
          <a:p>
            <a:r>
              <a:rPr lang="en-US" sz="1700" b="1">
                <a:solidFill>
                  <a:srgbClr val="C05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TST suit is your last line of defence against serious injury.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2400">
                <a:solidFill>
                  <a:srgbClr val="F28523"/>
                </a:solidFill>
              </a:rPr>
              <a:t>WHAT IS A TST SUIT?</a:t>
            </a:r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417285" y="219101"/>
            <a:ext cx="10515600" cy="820017"/>
          </a:xfrm>
        </p:spPr>
        <p:txBody>
          <a:bodyPr>
            <a:normAutofit/>
          </a:bodyPr>
          <a:lstStyle/>
          <a:p>
            <a:r>
              <a:rPr lang="en-US"/>
              <a:t>HPWJ – WATER JETTING</a:t>
            </a:r>
          </a:p>
        </p:txBody>
      </p:sp>
      <p:pic>
        <p:nvPicPr>
          <p:cNvPr id="6" name="Full TST water jetting suit" descr="Full TST high pressure water jetting protective suit displayed, showing multi-layer construction on a clean 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941" y="1400175"/>
            <a:ext cx="4400000" cy="4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9394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7CCFB-8CBF-422D-97B2-3E4D2CDC6F78}" type="slidenum">
              <a:rPr lang="en-US" smtClean="0"/>
              <a:t>29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478831" y="1500000"/>
            <a:ext cx="5882211" cy="2650000"/>
          </a:xfrm>
        </p:spPr>
        <p:txBody>
          <a:bodyPr>
            <a:normAutofit/>
          </a:bodyPr>
          <a:lstStyle/>
          <a:p>
            <a:pPr>
              <a:spcBef>
                <a:spcPts val="200"/>
              </a:spcBef>
            </a:pPr>
            <a:r>
              <a:rPr lang="en-US" sz="1500" b="1"/>
              <a:t>TST suits typically include: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400"/>
              <a:t>Outer protective layer (high-strength fabric)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400"/>
              <a:t>Inner protective layers (designed to deflect water jets)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400"/>
              <a:t>Reinforced areas at high-risk zones (arms, torso, legs)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400"/>
              <a:t>Sealed cuffs and neck protection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400"/>
              <a:t>Different protection ratings (e.g. 500 bar, 1000 bar, 2000 bar)</a:t>
            </a:r>
          </a:p>
          <a:p>
            <a:pPr>
              <a:spcBef>
                <a:spcPts val="1000"/>
              </a:spcBef>
            </a:pPr>
            <a:r>
              <a:rPr lang="en-US" sz="1400" b="1">
                <a:solidFill>
                  <a:srgbClr val="C05600"/>
                </a:solidFill>
              </a:rPr>
              <a:t>Always use a suit with the correct pressure rating for the equipment being used.</a:t>
            </a:r>
          </a:p>
        </p:txBody>
      </p:sp>
      <p:sp>
        <p:nvSpPr>
          <p:cNvPr id="30" name="Callout"/>
          <p:cNvSpPr/>
          <p:nvPr/>
        </p:nvSpPr>
        <p:spPr>
          <a:xfrm>
            <a:off x="478831" y="4460000"/>
            <a:ext cx="5882211" cy="1150000"/>
          </a:xfrm>
          <a:prstGeom prst="roundRect">
            <a:avLst>
              <a:gd name="adj" fmla="val 6000"/>
            </a:avLst>
          </a:prstGeom>
          <a:solidFill>
            <a:srgbClr val="FDE7E7"/>
          </a:solidFill>
          <a:ln w="19050">
            <a:solidFill>
              <a:srgbClr val="C00000"/>
            </a:solidFill>
          </a:ln>
        </p:spPr>
        <p:txBody>
          <a:bodyPr wrap="square" lIns="182880" tIns="109728" rIns="182880" bIns="109728" rtlCol="0" anchor="ctr">
            <a:normAutofit/>
          </a:bodyPr>
          <a:lstStyle/>
          <a:p>
            <a:r>
              <a:rPr lang="en-US" sz="17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Never use a TST suit below the required pressure rating for the job.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2400">
                <a:solidFill>
                  <a:srgbClr val="F28523"/>
                </a:solidFill>
              </a:rPr>
              <a:t>COMPONENTS &amp; PROTECTION LEVELS OF TST SUITS</a:t>
            </a:r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417285" y="219101"/>
            <a:ext cx="10515600" cy="820017"/>
          </a:xfrm>
        </p:spPr>
        <p:txBody>
          <a:bodyPr>
            <a:normAutofit/>
          </a:bodyPr>
          <a:lstStyle/>
          <a:p>
            <a:r>
              <a:rPr lang="en-US"/>
              <a:t>HPWJ – WATER JETTING</a:t>
            </a:r>
          </a:p>
        </p:txBody>
      </p:sp>
      <p:pic>
        <p:nvPicPr>
          <p:cNvPr id="6" name="TST suit protective layers" descr="Close-up of TST water jetting suit fabric layers and protection rating label showing the multi-layer protective materi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941" y="1400175"/>
            <a:ext cx="4400000" cy="4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939402"/>
      </p:ext>
    </p:extLst>
  </p:cSld>
  <p:clrMapOvr>
    <a:masterClrMapping/>
  </p:clrMapOvr>
</p:sld>
</file>

<file path=ppt/theme/theme1.xml><?xml version="1.0" encoding="utf-8"?>
<a:theme xmlns:a="http://schemas.openxmlformats.org/drawingml/2006/main" name="ANABEEB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50538</TotalTime>
  <Words>2113</Words>
  <Application>Microsoft Macintosh PowerPoint</Application>
  <PresentationFormat>Widescreen</PresentationFormat>
  <Paragraphs>270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Times New Roman</vt:lpstr>
      <vt:lpstr>ANABEEB Theme</vt:lpstr>
      <vt:lpstr>PowerPoint Presentation</vt:lpstr>
      <vt:lpstr>HPWJ – WATER JETTING</vt:lpstr>
      <vt:lpstr>HPWJ – WATER JETTING</vt:lpstr>
      <vt:lpstr>HPWJ – WATER JETTING</vt:lpstr>
      <vt:lpstr>HPWJ – WATER JETTING</vt:lpstr>
      <vt:lpstr>HPWJ – WATER JETTING</vt:lpstr>
      <vt:lpstr>HPWJ – WATER JETTING</vt:lpstr>
      <vt:lpstr>HPWJ – WATER JETTING</vt:lpstr>
      <vt:lpstr>HPWJ – WATER JETTING</vt:lpstr>
      <vt:lpstr>HPWJ – WATER JETTING</vt:lpstr>
      <vt:lpstr>HPWJ – WATER JETTING</vt:lpstr>
      <vt:lpstr>HPWJ – WATER JETTING</vt:lpstr>
      <vt:lpstr>HPWJ – WATER JETTING</vt:lpstr>
      <vt:lpstr>HPWJ – WATER JETTING</vt:lpstr>
      <vt:lpstr>HPWJ – WATER JETTING</vt:lpstr>
      <vt:lpstr>HPWJ – WATER JETTING</vt:lpstr>
      <vt:lpstr>HPWJ – WATER JETTING</vt:lpstr>
      <vt:lpstr>HPWJ – WATER JETTING</vt:lpstr>
      <vt:lpstr>HPWJ – WATER JETTING</vt:lpstr>
      <vt:lpstr>PowerPoint Presentation</vt:lpstr>
      <vt:lpstr>HPWJ – WATER JETTING</vt:lpstr>
      <vt:lpstr>HPWJ – WATER JETTING</vt:lpstr>
      <vt:lpstr>HPWJ – WATER JETTING</vt:lpstr>
      <vt:lpstr>HPWJ – WATER JETTING</vt:lpstr>
      <vt:lpstr>HPWJ – WATER JETTING</vt:lpstr>
      <vt:lpstr>HPWJ – WATER JETTING</vt:lpstr>
      <vt:lpstr>HPWJ – WATER JETTING</vt:lpstr>
      <vt:lpstr>HPWJ – WATER JETTING</vt:lpstr>
      <vt:lpstr>HPWJ – WATER JETTING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ANABEEB ICT</dc:creator>
  <cp:keywords/>
  <dc:description/>
  <cp:lastModifiedBy>Jacques Theron</cp:lastModifiedBy>
  <cp:revision>511</cp:revision>
  <cp:lastPrinted>2018-01-08T07:36:03Z</cp:lastPrinted>
  <dcterms:created xsi:type="dcterms:W3CDTF">2017-09-24T10:31:04Z</dcterms:created>
  <dcterms:modified xsi:type="dcterms:W3CDTF">2026-07-15T14:32:56Z</dcterms:modified>
  <cp:category/>
</cp:coreProperties>
</file>